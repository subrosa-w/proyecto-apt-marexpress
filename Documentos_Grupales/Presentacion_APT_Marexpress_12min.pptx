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1" roundtripDataSignature="AMtx7mjBuVJ5fmM2/zFGSrMkaoKUJm0IJ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10" Type="http://schemas.openxmlformats.org/officeDocument/2006/relationships/slide" Target="slides/slide6.xml"/><Relationship Id="rId21" Type="http://customschemas.google.com/relationships/presentationmetadata" Target="metadata"/><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[0:20] Buenos días. Somos Raúl Roa y Benjamín Sandoval, de Ingeniería en Informática, sede Puerto Montt. Presentamos el proyecto APT para Transportes Marexpress. Tenemos doce minutos, así que vamos directo al contenido.</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[1:10] El proyecto es una aplicación web de gestión logística que renueva la solución actual de Marexpress y construye la base de datos desde cero. Su relevancia está en tres problemas concretos: no hay trazabilidad de los cambios sobre una orden de transporte, la información está dispersa y no existen reportes que permitan decidir. A la derecha, los seis bloques que vamos a construir: los cuatro primeros son el núcleo operativo, los dos últimos agregan valor.</a:t>
            </a:r>
            <a:endParaRPr/>
          </a:p>
        </p:txBody>
      </p:sp>
      <p:sp>
        <p:nvSpPr>
          <p:cNvPr id="27" name="Google Shape;27;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[0:50] El objetivo general está arriba, tal como aparece en el informe. Los diez objetivos específicos se ordenan en tres frentes: análisis y diseño, construcción e integración y análisis. No los voy a leer uno por uno; ese es también el orden en que los abordamos en el cronograma.</a:t>
            </a:r>
            <a:endParaRPr/>
          </a:p>
        </p:txBody>
      </p:sp>
      <p:sp>
        <p:nvSpPr>
          <p:cNvPr id="70" name="Google Shape;70;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[0:50] Estos son los requisitos preliminares, separados en funcionales y no funcionales. Recorre las categorías, no los requisitos uno por uno: no alcanza el tiempo y no es lo que se evalúa. Lo importante es cerrar diciendo que son preliminares y que se validan con la empresa en la primera semana del cronograma.</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Para completar la diapositiva: Insertar &gt; Imágenes, ubica cada tabla dentro de su marco punteado y después elimina el marco y su texto.</a:t>
            </a:r>
            <a:endParaRPr/>
          </a:p>
        </p:txBody>
      </p:sp>
      <p:sp>
        <p:nvSpPr>
          <p:cNvPr id="93" name="Google Shape;93;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 name="Google Shape;11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[0:50] Este es el esquema preliminar de la base de datos. No recorras todas las entidades: señala las tres o cuatro centrales y detente en la tabla de auditoría, porque es la que responde al problema de trazabilidad que planteamos en la diapositiva 2. Ese enlace entre el problema y el modelo de datos es lo que hace fuerte esta parte.</a:t>
            </a:r>
            <a:br>
              <a:rPr lang="en-US" sz="1200">
                <a:solidFill>
                  <a:schemeClr val="dk1"/>
                </a:solidFill>
                <a:latin typeface="Arial"/>
                <a:ea typeface="Arial"/>
                <a:cs typeface="Arial"/>
                <a:sym typeface="Arial"/>
              </a:rPr>
            </a:br>
            <a:br>
              <a:rPr lang="en-US" sz="1200">
                <a:solidFill>
                  <a:schemeClr val="dk1"/>
                </a:solidFill>
                <a:latin typeface="Arial"/>
                <a:ea typeface="Arial"/>
                <a:cs typeface="Arial"/>
                <a:sym typeface="Arial"/>
              </a:rPr>
            </a:br>
            <a:r>
              <a:rPr lang="en-US" sz="1200">
                <a:solidFill>
                  <a:schemeClr val="dk1"/>
                </a:solidFill>
                <a:latin typeface="Arial"/>
                <a:ea typeface="Arial"/>
                <a:cs typeface="Arial"/>
                <a:sym typeface="Arial"/>
              </a:rPr>
              <a:t>— Para completar la diapositiva: Insertar &gt; Imágenes, ubica el diagrama dentro del marco punteado y después elimina el marco y su texto.</a:t>
            </a:r>
            <a:endParaRPr/>
          </a:p>
        </p:txBody>
      </p:sp>
      <p:sp>
        <p:nvSpPr>
          <p:cNvPr id="116" name="Google Shape;116;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[0:50] Estos son los mockups del sistema. La ficha de orden de transporte, a la izquierda: fíjense en el panel de la derecha, el historial de la orden, donde cada acción queda registrada con quién la hizo, la fecha y la hora. Esa es la respuesta directa al problema de trazabilidad que planteamos al inicio. En el centro, el manifiesto de carga, que convierte un viaje en un documento verificable con sus totales de bultos y kilos. Y a la derecha, el seguimiento en teléfono: el cliente ingresa su número de orden y ve el estado del envío, sin cuenta y sin llamar a la oficina. Esa pantalla es la que reemplaza a la aplicación móvil que retiramos del alcance. Son mockups tentativos: se validan con los usuarios de Marexpress antes de construir.</a:t>
            </a:r>
            <a:endParaRPr/>
          </a:p>
        </p:txBody>
      </p:sp>
      <p:sp>
        <p:nvSpPr>
          <p:cNvPr id="140" name="Google Shape;140;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0" name="Google Shape;160;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[1:00] Trabajamos con Scrum adaptado a un equipo de dos personas. Adaptado porque mantenemos sprints, planificación, revisión y retrospectiva, pero no hay un Scrum Master dedicado: la facilitación rota entre nosotros. El Product Owner es la contraparte de Marexpress. Son sprints de dos semanas, ocho en total, que calzan exactamente con los bloques del cronograma. La sincronización es dos veces por semana y no diaria, por la carga académica; preferimos declararlo así antes que comprometer una daily que no vamos a sostener.</a:t>
            </a:r>
            <a:endParaRPr/>
          </a:p>
        </p:txBody>
      </p:sp>
      <p:sp>
        <p:nvSpPr>
          <p:cNvPr id="161" name="Google Shape;161;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0" name="Google Shape;200;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[0:50] Estas son las herramientas y para qué usamos cada una. No las voy a leer: lo importante son las dos últimas líneas. La gestión de tareas la hacemos con GitHub Projects e Issues, en el mismo repositorio, porque así cada tarea queda enlazada con los commits que la resuelven. Y el flujo de trabajo es: un issue por tarea, una rama por funcionalidad y un pull request que revisa el otro integrante antes de integrar.</a:t>
            </a:r>
            <a:endParaRPr/>
          </a:p>
        </p:txBody>
      </p:sp>
      <p:sp>
        <p:nvSpPr>
          <p:cNvPr id="201" name="Google Shape;201;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8" name="Google Shape;238;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[1:10] Este es el plan de trabajo completo con el responsable de cada actividad. La Fase 1 cubre requerimientos, arquitectura, prototipos y maestros. La Fase 2 concentra la construcción, desde el módulo de OT hasta reportes y Machine Learning, con dos semanas de pruebas. La Fase 3 es documentación y presentación final. Las cuatro actividades de dos semanas son las más pesadas: OT, manifiestos, reportes con ML y pruebas. El plan cierra en la semana 17 y dejamos la 18 del período académico como holgura.</a:t>
            </a:r>
            <a:endParaRPr/>
          </a:p>
        </p:txBody>
      </p:sp>
      <p:sp>
        <p:nvSpPr>
          <p:cNvPr id="239" name="Google Shape;239;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2" name="Google Shape;332;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[0:50] El reparto es por fortalezas, pero ambos participamos en los módulos críticos. Raúl toma arquitectura, base de datos, backend y el componente de análisis; Benjamín toma interfaz, frontend, seguimiento web, pruebas y documentación. A la derecha está cómo se verifica objetivamente el aporte de cada uno: un issue por tarea, una rama por funcionalidad y revisión cruzada por pull request.</a:t>
            </a:r>
            <a:endParaRPr/>
          </a:p>
        </p:txBody>
      </p:sp>
      <p:sp>
        <p:nvSpPr>
          <p:cNvPr id="333" name="Google Shape;333;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4" name="Google Shape;35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[0:50] La matriz RACI cruza las doce actividades del plan con los cuatro participantes. Hay una sola A y un solo R por actividad, y la carga de ejecución quedó pareja: seis actividades cada uno. El criterio de aprobación es el siguiente: si la actividad toca reglas de negocio, aprueba la contraparte de Marexpress; si es técnica interna, aprueba el integrante que no la ejecuta, mediante la revisión por pull request que declaramos en la metodología; y la presentación final la aprueba el docente guía. Los responsables coinciden exactamente con los de la carta Gantt de la diapositiva anterior.</a:t>
            </a:r>
            <a:endParaRPr/>
          </a:p>
        </p:txBody>
      </p:sp>
      <p:sp>
        <p:nvSpPr>
          <p:cNvPr id="355" name="Google Shape;355;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9" name="Google Shape;499;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[0:50] Estas son las evidencias acordadas con el docente, cada una con su justificación al lado. Las de avance corresponden al informe intermedio; las finales, al cierre. No las leo todas: destaco que la trazabilidad y auditoría de OT es la evidencia central, porque es la que responde al problema que originó el proyecto.</a:t>
            </a:r>
            <a:endParaRPr/>
          </a:p>
        </p:txBody>
      </p:sp>
      <p:sp>
        <p:nvSpPr>
          <p:cNvPr id="500" name="Google Shape;500;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9" name="Google Shape;539;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[0:40] El proyecto pone en práctica cinco competencias del perfil de egreso, cada una con un correlato concreto en el sistema. Si preguntan por la competencia de plataformas móviles: se retiró del alcance por el tiempo disponible, siguiendo la recomendación de los profesores, y el objetivo de uso en terreno se cubre con la interfaz web responsiva.</a:t>
            </a:r>
            <a:endParaRPr/>
          </a:p>
        </p:txBody>
      </p:sp>
      <p:sp>
        <p:nvSpPr>
          <p:cNvPr id="540" name="Google Shape;540;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6" name="Google Shape;576;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[0:30] Brevemente, por qué este proyecto nos interesa a cada uno. A Raúl le permite profundizar en backend, modelamiento de datos y Machine Learning aplicado. A Benjamín, en frontend, experiencia de usuario y calidad. Y lo que compartimos es que se trata de un problema real de una empresa en operación, no de un ejercicio de laboratorio.</a:t>
            </a:r>
            <a:endParaRPr/>
          </a:p>
        </p:txBody>
      </p:sp>
      <p:sp>
        <p:nvSpPr>
          <p:cNvPr id="577" name="Google Shape;577;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5" name="Google Shape;595;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[0:40] Sobre la factibilidad dentro de la asignatura: el alcance está priorizado por módulos, el stack es conocido y sin costo, el plan deja una semana de holgura, y ya demostramos capacidad de ajustar alcance cuando retiramos la aplicación móvil. Abajo, los tres riesgos que declaramos con su mitigación. Preferimos ponerlos nosotros antes de que nos los pregunten.</a:t>
            </a:r>
            <a:endParaRPr/>
          </a:p>
        </p:txBody>
      </p:sp>
      <p:sp>
        <p:nvSpPr>
          <p:cNvPr id="596" name="Google Shape;596;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[0:20] Lo inmediato: cerrar requerimientos con la empresa, dejar el modelo de datos definitivo, cargar el backlog en GitHub Projects y arrancar el primer sprint. Muchas gracias, quedamos atentos a sus preguntas.</a:t>
            </a:r>
            <a:endParaRPr/>
          </a:p>
        </p:txBody>
      </p:sp>
      <p:sp>
        <p:nvSpPr>
          <p:cNvPr id="635" name="Google Shape;635;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11" name="Shape 11"/>
        <p:cNvGrpSpPr/>
        <p:nvPr/>
      </p:nvGrpSpPr>
      <p:grpSpPr>
        <a:xfrm>
          <a:off x="0" y="0"/>
          <a:ext cx="0" cy="0"/>
          <a:chOff x="0" y="0"/>
          <a:chExt cx="0" cy="0"/>
        </a:xfrm>
      </p:grpSpPr>
      <p:sp>
        <p:nvSpPr>
          <p:cNvPr id="12" name="Google Shape;12;p1"/>
          <p:cNvSpPr/>
          <p:nvPr/>
        </p:nvSpPr>
        <p:spPr>
          <a:xfrm>
            <a:off x="9509760" y="3840480"/>
            <a:ext cx="3840480" cy="3840480"/>
          </a:xfrm>
          <a:prstGeom prst="ellipse">
            <a:avLst/>
          </a:prstGeom>
          <a:solidFill>
            <a:srgbClr val="3F6C9E">
              <a:alpha val="27843"/>
            </a:srgbClr>
          </a:solidFill>
          <a:ln cap="flat" cmpd="sng" w="12700">
            <a:solidFill>
              <a:srgbClr val="3F6C9E">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 name="Google Shape;13;p1"/>
          <p:cNvSpPr/>
          <p:nvPr/>
        </p:nvSpPr>
        <p:spPr>
          <a:xfrm>
            <a:off x="10881360" y="-1371600"/>
            <a:ext cx="2926080" cy="2926080"/>
          </a:xfrm>
          <a:prstGeom prst="ellipse">
            <a:avLst/>
          </a:prstGeom>
          <a:solidFill>
            <a:srgbClr val="CADCFC">
              <a:alpha val="12157"/>
            </a:srgbClr>
          </a:solidFill>
          <a:ln cap="flat" cmpd="sng" w="12700">
            <a:solidFill>
              <a:srgbClr val="CADCFC">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 name="Google Shape;14;p1"/>
          <p:cNvSpPr/>
          <p:nvPr/>
        </p:nvSpPr>
        <p:spPr>
          <a:xfrm>
            <a:off x="566928" y="1051560"/>
            <a:ext cx="9601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150"/>
              <a:buFont typeface="Calibri"/>
              <a:buNone/>
            </a:pPr>
            <a:r>
              <a:rPr b="1" lang="en-US" sz="1150">
                <a:solidFill>
                  <a:srgbClr val="CADCFC"/>
                </a:solidFill>
                <a:latin typeface="Calibri"/>
                <a:ea typeface="Calibri"/>
                <a:cs typeface="Calibri"/>
                <a:sym typeface="Calibri"/>
              </a:rPr>
              <a:t>PORTAFOLIO DE TÍTULO · PROYECTO APT — PRESENTACIÓN PRELIMINAR</a:t>
            </a:r>
            <a:endParaRPr sz="1150">
              <a:solidFill>
                <a:schemeClr val="dk1"/>
              </a:solidFill>
              <a:latin typeface="Calibri"/>
              <a:ea typeface="Calibri"/>
              <a:cs typeface="Calibri"/>
              <a:sym typeface="Calibri"/>
            </a:endParaRPr>
          </a:p>
        </p:txBody>
      </p:sp>
      <p:sp>
        <p:nvSpPr>
          <p:cNvPr id="15" name="Google Shape;15;p1"/>
          <p:cNvSpPr/>
          <p:nvPr/>
        </p:nvSpPr>
        <p:spPr>
          <a:xfrm>
            <a:off x="566928" y="1554480"/>
            <a:ext cx="9692640" cy="1691640"/>
          </a:xfrm>
          <a:prstGeom prst="rect">
            <a:avLst/>
          </a:prstGeom>
          <a:noFill/>
          <a:ln>
            <a:noFill/>
          </a:ln>
        </p:spPr>
        <p:txBody>
          <a:bodyPr anchorCtr="0" anchor="t" bIns="0" lIns="0" spcFirstLastPara="1" rIns="0" wrap="square" tIns="0">
            <a:noAutofit/>
          </a:bodyPr>
          <a:lstStyle/>
          <a:p>
            <a:pPr indent="0" lvl="0" marL="0" marR="0" rtl="0" algn="l">
              <a:lnSpc>
                <a:spcPct val="119047"/>
              </a:lnSpc>
              <a:spcBef>
                <a:spcPts val="0"/>
              </a:spcBef>
              <a:spcAft>
                <a:spcPts val="0"/>
              </a:spcAft>
              <a:buClr>
                <a:srgbClr val="FFFFFF"/>
              </a:buClr>
              <a:buSzPts val="4200"/>
              <a:buFont typeface="Cambria"/>
              <a:buNone/>
            </a:pPr>
            <a:r>
              <a:rPr b="1" lang="en-US" sz="4200">
                <a:solidFill>
                  <a:srgbClr val="FFFFFF"/>
                </a:solidFill>
                <a:latin typeface="Cambria"/>
                <a:ea typeface="Cambria"/>
                <a:cs typeface="Cambria"/>
                <a:sym typeface="Cambria"/>
              </a:rPr>
              <a:t>Sistema Integral de Gestión</a:t>
            </a:r>
            <a:endParaRPr sz="4200">
              <a:solidFill>
                <a:schemeClr val="dk1"/>
              </a:solidFill>
              <a:latin typeface="Calibri"/>
              <a:ea typeface="Calibri"/>
              <a:cs typeface="Calibri"/>
              <a:sym typeface="Calibri"/>
            </a:endParaRPr>
          </a:p>
          <a:p>
            <a:pPr indent="0" lvl="0" marL="0" marR="0" rtl="0" algn="l">
              <a:lnSpc>
                <a:spcPct val="119047"/>
              </a:lnSpc>
              <a:spcBef>
                <a:spcPts val="0"/>
              </a:spcBef>
              <a:spcAft>
                <a:spcPts val="0"/>
              </a:spcAft>
              <a:buClr>
                <a:srgbClr val="FFFFFF"/>
              </a:buClr>
              <a:buSzPts val="4200"/>
              <a:buFont typeface="Cambria"/>
              <a:buNone/>
            </a:pPr>
            <a:r>
              <a:rPr b="1" lang="en-US" sz="4200">
                <a:solidFill>
                  <a:srgbClr val="FFFFFF"/>
                </a:solidFill>
                <a:latin typeface="Cambria"/>
                <a:ea typeface="Cambria"/>
                <a:cs typeface="Cambria"/>
                <a:sym typeface="Cambria"/>
              </a:rPr>
              <a:t>y Seguimiento Logístico</a:t>
            </a:r>
            <a:endParaRPr sz="4200">
              <a:solidFill>
                <a:schemeClr val="dk1"/>
              </a:solidFill>
              <a:latin typeface="Calibri"/>
              <a:ea typeface="Calibri"/>
              <a:cs typeface="Calibri"/>
              <a:sym typeface="Calibri"/>
            </a:endParaRPr>
          </a:p>
        </p:txBody>
      </p:sp>
      <p:sp>
        <p:nvSpPr>
          <p:cNvPr id="16" name="Google Shape;16;p1"/>
          <p:cNvSpPr/>
          <p:nvPr/>
        </p:nvSpPr>
        <p:spPr>
          <a:xfrm>
            <a:off x="566928" y="3310128"/>
            <a:ext cx="969264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2100"/>
              <a:buFont typeface="Calibri"/>
              <a:buNone/>
            </a:pPr>
            <a:r>
              <a:rPr lang="en-US" sz="2100">
                <a:solidFill>
                  <a:srgbClr val="CADCFC"/>
                </a:solidFill>
                <a:latin typeface="Calibri"/>
                <a:ea typeface="Calibri"/>
                <a:cs typeface="Calibri"/>
                <a:sym typeface="Calibri"/>
              </a:rPr>
              <a:t>Transportes Marexpress</a:t>
            </a:r>
            <a:endParaRPr sz="2100">
              <a:solidFill>
                <a:schemeClr val="dk1"/>
              </a:solidFill>
              <a:latin typeface="Calibri"/>
              <a:ea typeface="Calibri"/>
              <a:cs typeface="Calibri"/>
              <a:sym typeface="Calibri"/>
            </a:endParaRPr>
          </a:p>
        </p:txBody>
      </p:sp>
      <p:cxnSp>
        <p:nvCxnSpPr>
          <p:cNvPr id="17" name="Google Shape;17;p1"/>
          <p:cNvCxnSpPr/>
          <p:nvPr/>
        </p:nvCxnSpPr>
        <p:spPr>
          <a:xfrm>
            <a:off x="566928" y="4114800"/>
            <a:ext cx="2926080" cy="0"/>
          </a:xfrm>
          <a:prstGeom prst="straightConnector1">
            <a:avLst/>
          </a:prstGeom>
          <a:noFill/>
          <a:ln cap="flat" cmpd="sng" w="25400">
            <a:solidFill>
              <a:srgbClr val="3F6C9E"/>
            </a:solidFill>
            <a:prstDash val="solid"/>
            <a:round/>
            <a:headEnd len="sm" w="sm" type="none"/>
            <a:tailEnd len="sm" w="sm" type="none"/>
          </a:ln>
        </p:spPr>
      </p:cxnSp>
      <p:sp>
        <p:nvSpPr>
          <p:cNvPr id="18" name="Google Shape;18;p1"/>
          <p:cNvSpPr/>
          <p:nvPr/>
        </p:nvSpPr>
        <p:spPr>
          <a:xfrm>
            <a:off x="566928" y="4370832"/>
            <a:ext cx="3200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1" lang="en-US" sz="1000">
                <a:solidFill>
                  <a:srgbClr val="CADCFC"/>
                </a:solidFill>
                <a:latin typeface="Calibri"/>
                <a:ea typeface="Calibri"/>
                <a:cs typeface="Calibri"/>
                <a:sym typeface="Calibri"/>
              </a:rPr>
              <a:t>INTEGRANTES</a:t>
            </a:r>
            <a:endParaRPr sz="1000">
              <a:solidFill>
                <a:schemeClr val="dk1"/>
              </a:solidFill>
              <a:latin typeface="Calibri"/>
              <a:ea typeface="Calibri"/>
              <a:cs typeface="Calibri"/>
              <a:sym typeface="Calibri"/>
            </a:endParaRPr>
          </a:p>
        </p:txBody>
      </p:sp>
      <p:sp>
        <p:nvSpPr>
          <p:cNvPr id="19" name="Google Shape;19;p1"/>
          <p:cNvSpPr/>
          <p:nvPr/>
        </p:nvSpPr>
        <p:spPr>
          <a:xfrm>
            <a:off x="566928" y="4617720"/>
            <a:ext cx="3200400" cy="73152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Raúl José Roa Astudillo</a:t>
            </a:r>
            <a:endParaRPr sz="1250">
              <a:solidFill>
                <a:schemeClr val="dk1"/>
              </a:solidFill>
              <a:latin typeface="Calibri"/>
              <a:ea typeface="Calibri"/>
              <a:cs typeface="Calibri"/>
              <a:sym typeface="Calibri"/>
            </a:endParaRPr>
          </a:p>
          <a:p>
            <a:pPr indent="0" lvl="0" marL="0" marR="0" rtl="0" algn="l">
              <a:lnSpc>
                <a:spcPct val="136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Benjamín Alonso Sandoval Vergara</a:t>
            </a:r>
            <a:endParaRPr sz="1250">
              <a:solidFill>
                <a:schemeClr val="dk1"/>
              </a:solidFill>
              <a:latin typeface="Calibri"/>
              <a:ea typeface="Calibri"/>
              <a:cs typeface="Calibri"/>
              <a:sym typeface="Calibri"/>
            </a:endParaRPr>
          </a:p>
        </p:txBody>
      </p:sp>
      <p:sp>
        <p:nvSpPr>
          <p:cNvPr id="20" name="Google Shape;20;p1"/>
          <p:cNvSpPr/>
          <p:nvPr/>
        </p:nvSpPr>
        <p:spPr>
          <a:xfrm>
            <a:off x="3995928" y="4370832"/>
            <a:ext cx="3200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1" lang="en-US" sz="1000">
                <a:solidFill>
                  <a:srgbClr val="CADCFC"/>
                </a:solidFill>
                <a:latin typeface="Calibri"/>
                <a:ea typeface="Calibri"/>
                <a:cs typeface="Calibri"/>
                <a:sym typeface="Calibri"/>
              </a:rPr>
              <a:t>CARRERA</a:t>
            </a:r>
            <a:endParaRPr sz="1000">
              <a:solidFill>
                <a:schemeClr val="dk1"/>
              </a:solidFill>
              <a:latin typeface="Calibri"/>
              <a:ea typeface="Calibri"/>
              <a:cs typeface="Calibri"/>
              <a:sym typeface="Calibri"/>
            </a:endParaRPr>
          </a:p>
        </p:txBody>
      </p:sp>
      <p:sp>
        <p:nvSpPr>
          <p:cNvPr id="21" name="Google Shape;21;p1"/>
          <p:cNvSpPr/>
          <p:nvPr/>
        </p:nvSpPr>
        <p:spPr>
          <a:xfrm>
            <a:off x="3995928" y="4617720"/>
            <a:ext cx="3200400" cy="73152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Ingeniería en Informática</a:t>
            </a:r>
            <a:endParaRPr sz="1250">
              <a:solidFill>
                <a:schemeClr val="dk1"/>
              </a:solidFill>
              <a:latin typeface="Calibri"/>
              <a:ea typeface="Calibri"/>
              <a:cs typeface="Calibri"/>
              <a:sym typeface="Calibri"/>
            </a:endParaRPr>
          </a:p>
          <a:p>
            <a:pPr indent="0" lvl="0" marL="0" marR="0" rtl="0" algn="l">
              <a:lnSpc>
                <a:spcPct val="136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Sede Puerto Montt</a:t>
            </a:r>
            <a:endParaRPr sz="1250">
              <a:solidFill>
                <a:schemeClr val="dk1"/>
              </a:solidFill>
              <a:latin typeface="Calibri"/>
              <a:ea typeface="Calibri"/>
              <a:cs typeface="Calibri"/>
              <a:sym typeface="Calibri"/>
            </a:endParaRPr>
          </a:p>
        </p:txBody>
      </p:sp>
      <p:sp>
        <p:nvSpPr>
          <p:cNvPr id="22" name="Google Shape;22;p1"/>
          <p:cNvSpPr/>
          <p:nvPr/>
        </p:nvSpPr>
        <p:spPr>
          <a:xfrm>
            <a:off x="7424928" y="4370832"/>
            <a:ext cx="32004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1" lang="en-US" sz="1000">
                <a:solidFill>
                  <a:srgbClr val="CADCFC"/>
                </a:solidFill>
                <a:latin typeface="Calibri"/>
                <a:ea typeface="Calibri"/>
                <a:cs typeface="Calibri"/>
                <a:sym typeface="Calibri"/>
              </a:rPr>
              <a:t>METODOLOGÍA</a:t>
            </a:r>
            <a:endParaRPr sz="1000">
              <a:solidFill>
                <a:schemeClr val="dk1"/>
              </a:solidFill>
              <a:latin typeface="Calibri"/>
              <a:ea typeface="Calibri"/>
              <a:cs typeface="Calibri"/>
              <a:sym typeface="Calibri"/>
            </a:endParaRPr>
          </a:p>
        </p:txBody>
      </p:sp>
      <p:sp>
        <p:nvSpPr>
          <p:cNvPr id="23" name="Google Shape;23;p1"/>
          <p:cNvSpPr/>
          <p:nvPr/>
        </p:nvSpPr>
        <p:spPr>
          <a:xfrm>
            <a:off x="7424928" y="4617720"/>
            <a:ext cx="3200400" cy="73152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Scrum adaptado a un equipo de dos</a:t>
            </a:r>
            <a:endParaRPr sz="1250">
              <a:solidFill>
                <a:schemeClr val="dk1"/>
              </a:solidFill>
              <a:latin typeface="Calibri"/>
              <a:ea typeface="Calibri"/>
              <a:cs typeface="Calibri"/>
              <a:sym typeface="Calibri"/>
            </a:endParaRPr>
          </a:p>
          <a:p>
            <a:pPr indent="0" lvl="0" marL="0" marR="0" rtl="0" algn="l">
              <a:lnSpc>
                <a:spcPct val="136000"/>
              </a:lnSpc>
              <a:spcBef>
                <a:spcPts val="0"/>
              </a:spcBef>
              <a:spcAft>
                <a:spcPts val="0"/>
              </a:spcAft>
              <a:buClr>
                <a:srgbClr val="FFFFFF"/>
              </a:buClr>
              <a:buSzPts val="1250"/>
              <a:buFont typeface="Calibri"/>
              <a:buNone/>
            </a:pPr>
            <a:r>
              <a:rPr lang="en-US" sz="1250">
                <a:solidFill>
                  <a:srgbClr val="FFFFFF"/>
                </a:solidFill>
                <a:latin typeface="Calibri"/>
                <a:ea typeface="Calibri"/>
                <a:cs typeface="Calibri"/>
                <a:sym typeface="Calibri"/>
              </a:rPr>
              <a:t>17 semanas · 8 sprints</a:t>
            </a:r>
            <a:endParaRPr sz="125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 name="Shape 28"/>
        <p:cNvGrpSpPr/>
        <p:nvPr/>
      </p:nvGrpSpPr>
      <p:grpSpPr>
        <a:xfrm>
          <a:off x="0" y="0"/>
          <a:ext cx="0" cy="0"/>
          <a:chOff x="0" y="0"/>
          <a:chExt cx="0" cy="0"/>
        </a:xfrm>
      </p:grpSpPr>
      <p:sp>
        <p:nvSpPr>
          <p:cNvPr id="29" name="Google Shape;29;p2"/>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EL PROYECTO</a:t>
            </a:r>
            <a:endParaRPr sz="1100">
              <a:solidFill>
                <a:schemeClr val="dk1"/>
              </a:solidFill>
              <a:latin typeface="Calibri"/>
              <a:ea typeface="Calibri"/>
              <a:cs typeface="Calibri"/>
              <a:sym typeface="Calibri"/>
            </a:endParaRPr>
          </a:p>
        </p:txBody>
      </p:sp>
      <p:sp>
        <p:nvSpPr>
          <p:cNvPr id="30" name="Google Shape;30;p2"/>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Descripción y relevancia</a:t>
            </a:r>
            <a:endParaRPr sz="2900">
              <a:solidFill>
                <a:schemeClr val="dk1"/>
              </a:solidFill>
              <a:latin typeface="Calibri"/>
              <a:ea typeface="Calibri"/>
              <a:cs typeface="Calibri"/>
              <a:sym typeface="Calibri"/>
            </a:endParaRPr>
          </a:p>
        </p:txBody>
      </p:sp>
      <p:sp>
        <p:nvSpPr>
          <p:cNvPr id="31" name="Google Shape;31;p2"/>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32" name="Google Shape;32;p2"/>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1:10   ·   2</a:t>
            </a:r>
            <a:endParaRPr sz="950">
              <a:solidFill>
                <a:schemeClr val="dk1"/>
              </a:solidFill>
              <a:latin typeface="Calibri"/>
              <a:ea typeface="Calibri"/>
              <a:cs typeface="Calibri"/>
              <a:sym typeface="Calibri"/>
            </a:endParaRPr>
          </a:p>
        </p:txBody>
      </p:sp>
      <p:sp>
        <p:nvSpPr>
          <p:cNvPr id="33" name="Google Shape;33;p2"/>
          <p:cNvSpPr/>
          <p:nvPr/>
        </p:nvSpPr>
        <p:spPr>
          <a:xfrm>
            <a:off x="566928" y="1554480"/>
            <a:ext cx="5212080" cy="2148840"/>
          </a:xfrm>
          <a:prstGeom prst="roundRect">
            <a:avLst>
              <a:gd fmla="val 2553" name="adj"/>
            </a:avLst>
          </a:prstGeom>
          <a:solidFill>
            <a:srgbClr val="1E2761"/>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 name="Google Shape;34;p2"/>
          <p:cNvSpPr/>
          <p:nvPr/>
        </p:nvSpPr>
        <p:spPr>
          <a:xfrm>
            <a:off x="914400" y="1755648"/>
            <a:ext cx="4526280" cy="1737360"/>
          </a:xfrm>
          <a:prstGeom prst="rect">
            <a:avLst/>
          </a:prstGeom>
          <a:noFill/>
          <a:ln>
            <a:noFill/>
          </a:ln>
        </p:spPr>
        <p:txBody>
          <a:bodyPr anchorCtr="0" anchor="ctr" bIns="0" lIns="0" spcFirstLastPara="1" rIns="0" wrap="square" tIns="0">
            <a:noAutofit/>
          </a:bodyPr>
          <a:lstStyle/>
          <a:p>
            <a:pPr indent="0" lvl="0" marL="0" marR="0" rtl="0" algn="l">
              <a:lnSpc>
                <a:spcPct val="148148"/>
              </a:lnSpc>
              <a:spcBef>
                <a:spcPts val="0"/>
              </a:spcBef>
              <a:spcAft>
                <a:spcPts val="0"/>
              </a:spcAft>
              <a:buClr>
                <a:srgbClr val="FFFFFF"/>
              </a:buClr>
              <a:buSzPts val="1350"/>
              <a:buFont typeface="Calibri"/>
              <a:buNone/>
            </a:pPr>
            <a:r>
              <a:rPr lang="en-US" sz="1350">
                <a:solidFill>
                  <a:srgbClr val="FFFFFF"/>
                </a:solidFill>
                <a:latin typeface="Calibri"/>
                <a:ea typeface="Calibri"/>
                <a:cs typeface="Calibri"/>
                <a:sym typeface="Calibri"/>
              </a:rPr>
              <a:t>Aplicación web de gestión logística para Transportes Marexpress. Renueva una solución existente y construye desde cero la base de datos que centraliza órdenes de transporte, clientes, carga, tarifas, pagos, manifiestos y entregas.</a:t>
            </a:r>
            <a:endParaRPr sz="1350">
              <a:solidFill>
                <a:schemeClr val="dk1"/>
              </a:solidFill>
              <a:latin typeface="Calibri"/>
              <a:ea typeface="Calibri"/>
              <a:cs typeface="Calibri"/>
              <a:sym typeface="Calibri"/>
            </a:endParaRPr>
          </a:p>
        </p:txBody>
      </p:sp>
      <p:sp>
        <p:nvSpPr>
          <p:cNvPr id="35" name="Google Shape;35;p2"/>
          <p:cNvSpPr/>
          <p:nvPr/>
        </p:nvSpPr>
        <p:spPr>
          <a:xfrm>
            <a:off x="566928" y="3931920"/>
            <a:ext cx="52120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Por qué es relevante</a:t>
            </a:r>
            <a:endParaRPr sz="1500">
              <a:solidFill>
                <a:schemeClr val="dk1"/>
              </a:solidFill>
              <a:latin typeface="Calibri"/>
              <a:ea typeface="Calibri"/>
              <a:cs typeface="Calibri"/>
              <a:sym typeface="Calibri"/>
            </a:endParaRPr>
          </a:p>
        </p:txBody>
      </p:sp>
      <p:sp>
        <p:nvSpPr>
          <p:cNvPr id="36" name="Google Shape;36;p2"/>
          <p:cNvSpPr/>
          <p:nvPr/>
        </p:nvSpPr>
        <p:spPr>
          <a:xfrm>
            <a:off x="585216" y="4434840"/>
            <a:ext cx="146304" cy="146304"/>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 name="Google Shape;37;p2"/>
          <p:cNvSpPr/>
          <p:nvPr/>
        </p:nvSpPr>
        <p:spPr>
          <a:xfrm>
            <a:off x="877824" y="4315968"/>
            <a:ext cx="4937760"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761"/>
              </a:buClr>
              <a:buSzPts val="1200"/>
              <a:buFont typeface="Calibri"/>
              <a:buNone/>
            </a:pPr>
            <a:r>
              <a:rPr b="1" lang="en-US" sz="1200">
                <a:solidFill>
                  <a:srgbClr val="1E2761"/>
                </a:solidFill>
                <a:latin typeface="Calibri"/>
                <a:ea typeface="Calibri"/>
                <a:cs typeface="Calibri"/>
                <a:sym typeface="Calibri"/>
              </a:rPr>
              <a:t>Sin trazabilidad  </a:t>
            </a:r>
            <a:r>
              <a:rPr lang="en-US" sz="1200">
                <a:solidFill>
                  <a:srgbClr val="5A6478"/>
                </a:solidFill>
                <a:latin typeface="Calibri"/>
                <a:ea typeface="Calibri"/>
                <a:cs typeface="Calibri"/>
                <a:sym typeface="Calibri"/>
              </a:rPr>
              <a:t>· Hoy no se sabe quién modificó una OT, cuándo ni por qué</a:t>
            </a:r>
            <a:endParaRPr sz="1200">
              <a:solidFill>
                <a:schemeClr val="dk1"/>
              </a:solidFill>
              <a:latin typeface="Calibri"/>
              <a:ea typeface="Calibri"/>
              <a:cs typeface="Calibri"/>
              <a:sym typeface="Calibri"/>
            </a:endParaRPr>
          </a:p>
        </p:txBody>
      </p:sp>
      <p:sp>
        <p:nvSpPr>
          <p:cNvPr id="38" name="Google Shape;38;p2"/>
          <p:cNvSpPr/>
          <p:nvPr/>
        </p:nvSpPr>
        <p:spPr>
          <a:xfrm>
            <a:off x="585216" y="5001768"/>
            <a:ext cx="146304" cy="146304"/>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 name="Google Shape;39;p2"/>
          <p:cNvSpPr/>
          <p:nvPr/>
        </p:nvSpPr>
        <p:spPr>
          <a:xfrm>
            <a:off x="877824" y="4882896"/>
            <a:ext cx="4937760"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761"/>
              </a:buClr>
              <a:buSzPts val="1200"/>
              <a:buFont typeface="Calibri"/>
              <a:buNone/>
            </a:pPr>
            <a:r>
              <a:rPr b="1" lang="en-US" sz="1200">
                <a:solidFill>
                  <a:srgbClr val="1E2761"/>
                </a:solidFill>
                <a:latin typeface="Calibri"/>
                <a:ea typeface="Calibri"/>
                <a:cs typeface="Calibri"/>
                <a:sym typeface="Calibri"/>
              </a:rPr>
              <a:t>Información dispersa  </a:t>
            </a:r>
            <a:r>
              <a:rPr lang="en-US" sz="1200">
                <a:solidFill>
                  <a:srgbClr val="5A6478"/>
                </a:solidFill>
                <a:latin typeface="Calibri"/>
                <a:ea typeface="Calibri"/>
                <a:cs typeface="Calibri"/>
                <a:sym typeface="Calibri"/>
              </a:rPr>
              <a:t>· Clientes, tarifas, carga y pagos se administran por separado</a:t>
            </a:r>
            <a:endParaRPr sz="1200">
              <a:solidFill>
                <a:schemeClr val="dk1"/>
              </a:solidFill>
              <a:latin typeface="Calibri"/>
              <a:ea typeface="Calibri"/>
              <a:cs typeface="Calibri"/>
              <a:sym typeface="Calibri"/>
            </a:endParaRPr>
          </a:p>
        </p:txBody>
      </p:sp>
      <p:sp>
        <p:nvSpPr>
          <p:cNvPr id="40" name="Google Shape;40;p2"/>
          <p:cNvSpPr/>
          <p:nvPr/>
        </p:nvSpPr>
        <p:spPr>
          <a:xfrm>
            <a:off x="585216" y="5568696"/>
            <a:ext cx="146304" cy="146304"/>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2"/>
          <p:cNvSpPr/>
          <p:nvPr/>
        </p:nvSpPr>
        <p:spPr>
          <a:xfrm>
            <a:off x="877824" y="5449824"/>
            <a:ext cx="4937760" cy="45720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1E2761"/>
              </a:buClr>
              <a:buSzPts val="1200"/>
              <a:buFont typeface="Calibri"/>
              <a:buNone/>
            </a:pPr>
            <a:r>
              <a:rPr b="1" lang="en-US" sz="1200">
                <a:solidFill>
                  <a:srgbClr val="1E2761"/>
                </a:solidFill>
                <a:latin typeface="Calibri"/>
                <a:ea typeface="Calibri"/>
                <a:cs typeface="Calibri"/>
                <a:sym typeface="Calibri"/>
              </a:rPr>
              <a:t>Decisiones a ciegas  </a:t>
            </a:r>
            <a:r>
              <a:rPr lang="en-US" sz="1200">
                <a:solidFill>
                  <a:srgbClr val="5A6478"/>
                </a:solidFill>
                <a:latin typeface="Calibri"/>
                <a:ea typeface="Calibri"/>
                <a:cs typeface="Calibri"/>
                <a:sym typeface="Calibri"/>
              </a:rPr>
              <a:t>· No existen reportes consolidados de la operación</a:t>
            </a:r>
            <a:endParaRPr sz="1200">
              <a:solidFill>
                <a:schemeClr val="dk1"/>
              </a:solidFill>
              <a:latin typeface="Calibri"/>
              <a:ea typeface="Calibri"/>
              <a:cs typeface="Calibri"/>
              <a:sym typeface="Calibri"/>
            </a:endParaRPr>
          </a:p>
        </p:txBody>
      </p:sp>
      <p:sp>
        <p:nvSpPr>
          <p:cNvPr id="42" name="Google Shape;42;p2"/>
          <p:cNvSpPr/>
          <p:nvPr/>
        </p:nvSpPr>
        <p:spPr>
          <a:xfrm>
            <a:off x="6172200" y="1554480"/>
            <a:ext cx="544982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Qué construimos</a:t>
            </a:r>
            <a:endParaRPr sz="1500">
              <a:solidFill>
                <a:schemeClr val="dk1"/>
              </a:solidFill>
              <a:latin typeface="Calibri"/>
              <a:ea typeface="Calibri"/>
              <a:cs typeface="Calibri"/>
              <a:sym typeface="Calibri"/>
            </a:endParaRPr>
          </a:p>
        </p:txBody>
      </p:sp>
      <p:sp>
        <p:nvSpPr>
          <p:cNvPr id="43" name="Google Shape;43;p2"/>
          <p:cNvSpPr/>
          <p:nvPr/>
        </p:nvSpPr>
        <p:spPr>
          <a:xfrm>
            <a:off x="6172200" y="1993392"/>
            <a:ext cx="5449824" cy="548640"/>
          </a:xfrm>
          <a:prstGeom prst="roundRect">
            <a:avLst>
              <a:gd fmla="val 1000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 name="Google Shape;44;p2"/>
          <p:cNvSpPr/>
          <p:nvPr/>
        </p:nvSpPr>
        <p:spPr>
          <a:xfrm>
            <a:off x="6382512" y="2112264"/>
            <a:ext cx="310896" cy="31089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 name="Google Shape;45;p2"/>
          <p:cNvSpPr/>
          <p:nvPr/>
        </p:nvSpPr>
        <p:spPr>
          <a:xfrm>
            <a:off x="6382512" y="211226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1</a:t>
            </a:r>
            <a:endParaRPr sz="1300">
              <a:solidFill>
                <a:schemeClr val="dk1"/>
              </a:solidFill>
              <a:latin typeface="Calibri"/>
              <a:ea typeface="Calibri"/>
              <a:cs typeface="Calibri"/>
              <a:sym typeface="Calibri"/>
            </a:endParaRPr>
          </a:p>
        </p:txBody>
      </p:sp>
      <p:sp>
        <p:nvSpPr>
          <p:cNvPr id="46" name="Google Shape;46;p2"/>
          <p:cNvSpPr/>
          <p:nvPr/>
        </p:nvSpPr>
        <p:spPr>
          <a:xfrm>
            <a:off x="6803136" y="1993392"/>
            <a:ext cx="4663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lang="en-US" sz="1250">
                <a:solidFill>
                  <a:srgbClr val="1E2761"/>
                </a:solidFill>
                <a:latin typeface="Calibri"/>
                <a:ea typeface="Calibri"/>
                <a:cs typeface="Calibri"/>
                <a:sym typeface="Calibri"/>
              </a:rPr>
              <a:t>Órdenes de transporte con auditoría</a:t>
            </a:r>
            <a:endParaRPr sz="1250">
              <a:solidFill>
                <a:schemeClr val="dk1"/>
              </a:solidFill>
              <a:latin typeface="Calibri"/>
              <a:ea typeface="Calibri"/>
              <a:cs typeface="Calibri"/>
              <a:sym typeface="Calibri"/>
            </a:endParaRPr>
          </a:p>
        </p:txBody>
      </p:sp>
      <p:sp>
        <p:nvSpPr>
          <p:cNvPr id="47" name="Google Shape;47;p2"/>
          <p:cNvSpPr/>
          <p:nvPr/>
        </p:nvSpPr>
        <p:spPr>
          <a:xfrm>
            <a:off x="6172200" y="2651760"/>
            <a:ext cx="5449824" cy="548640"/>
          </a:xfrm>
          <a:prstGeom prst="roundRect">
            <a:avLst>
              <a:gd fmla="val 10000"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 name="Google Shape;48;p2"/>
          <p:cNvSpPr/>
          <p:nvPr/>
        </p:nvSpPr>
        <p:spPr>
          <a:xfrm>
            <a:off x="6382512" y="2770632"/>
            <a:ext cx="310896" cy="31089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 name="Google Shape;49;p2"/>
          <p:cNvSpPr/>
          <p:nvPr/>
        </p:nvSpPr>
        <p:spPr>
          <a:xfrm>
            <a:off x="6382512" y="2770632"/>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2</a:t>
            </a:r>
            <a:endParaRPr sz="1300">
              <a:solidFill>
                <a:schemeClr val="dk1"/>
              </a:solidFill>
              <a:latin typeface="Calibri"/>
              <a:ea typeface="Calibri"/>
              <a:cs typeface="Calibri"/>
              <a:sym typeface="Calibri"/>
            </a:endParaRPr>
          </a:p>
        </p:txBody>
      </p:sp>
      <p:sp>
        <p:nvSpPr>
          <p:cNvPr id="50" name="Google Shape;50;p2"/>
          <p:cNvSpPr/>
          <p:nvPr/>
        </p:nvSpPr>
        <p:spPr>
          <a:xfrm>
            <a:off x="6803136" y="2651760"/>
            <a:ext cx="4663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lang="en-US" sz="1250">
                <a:solidFill>
                  <a:srgbClr val="1E2761"/>
                </a:solidFill>
                <a:latin typeface="Calibri"/>
                <a:ea typeface="Calibri"/>
                <a:cs typeface="Calibri"/>
                <a:sym typeface="Calibri"/>
              </a:rPr>
              <a:t>Clientes, tarifas, conductores y vehículos</a:t>
            </a:r>
            <a:endParaRPr sz="1250">
              <a:solidFill>
                <a:schemeClr val="dk1"/>
              </a:solidFill>
              <a:latin typeface="Calibri"/>
              <a:ea typeface="Calibri"/>
              <a:cs typeface="Calibri"/>
              <a:sym typeface="Calibri"/>
            </a:endParaRPr>
          </a:p>
        </p:txBody>
      </p:sp>
      <p:sp>
        <p:nvSpPr>
          <p:cNvPr id="51" name="Google Shape;51;p2"/>
          <p:cNvSpPr/>
          <p:nvPr/>
        </p:nvSpPr>
        <p:spPr>
          <a:xfrm>
            <a:off x="6172200" y="3310128"/>
            <a:ext cx="5449824" cy="548640"/>
          </a:xfrm>
          <a:prstGeom prst="roundRect">
            <a:avLst>
              <a:gd fmla="val 1000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 name="Google Shape;52;p2"/>
          <p:cNvSpPr/>
          <p:nvPr/>
        </p:nvSpPr>
        <p:spPr>
          <a:xfrm>
            <a:off x="6382512" y="3429000"/>
            <a:ext cx="310896" cy="31089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 name="Google Shape;53;p2"/>
          <p:cNvSpPr/>
          <p:nvPr/>
        </p:nvSpPr>
        <p:spPr>
          <a:xfrm>
            <a:off x="6382512" y="3429000"/>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3</a:t>
            </a:r>
            <a:endParaRPr sz="1300">
              <a:solidFill>
                <a:schemeClr val="dk1"/>
              </a:solidFill>
              <a:latin typeface="Calibri"/>
              <a:ea typeface="Calibri"/>
              <a:cs typeface="Calibri"/>
              <a:sym typeface="Calibri"/>
            </a:endParaRPr>
          </a:p>
        </p:txBody>
      </p:sp>
      <p:sp>
        <p:nvSpPr>
          <p:cNvPr id="54" name="Google Shape;54;p2"/>
          <p:cNvSpPr/>
          <p:nvPr/>
        </p:nvSpPr>
        <p:spPr>
          <a:xfrm>
            <a:off x="6803136" y="3310128"/>
            <a:ext cx="4663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lang="en-US" sz="1250">
                <a:solidFill>
                  <a:srgbClr val="1E2761"/>
                </a:solidFill>
                <a:latin typeface="Calibri"/>
                <a:ea typeface="Calibri"/>
                <a:cs typeface="Calibri"/>
                <a:sym typeface="Calibri"/>
              </a:rPr>
              <a:t>Manifiestos y control de carga</a:t>
            </a:r>
            <a:endParaRPr sz="1250">
              <a:solidFill>
                <a:schemeClr val="dk1"/>
              </a:solidFill>
              <a:latin typeface="Calibri"/>
              <a:ea typeface="Calibri"/>
              <a:cs typeface="Calibri"/>
              <a:sym typeface="Calibri"/>
            </a:endParaRPr>
          </a:p>
        </p:txBody>
      </p:sp>
      <p:sp>
        <p:nvSpPr>
          <p:cNvPr id="55" name="Google Shape;55;p2"/>
          <p:cNvSpPr/>
          <p:nvPr/>
        </p:nvSpPr>
        <p:spPr>
          <a:xfrm>
            <a:off x="6172200" y="3968496"/>
            <a:ext cx="5449824" cy="548640"/>
          </a:xfrm>
          <a:prstGeom prst="roundRect">
            <a:avLst>
              <a:gd fmla="val 10000"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2"/>
          <p:cNvSpPr/>
          <p:nvPr/>
        </p:nvSpPr>
        <p:spPr>
          <a:xfrm>
            <a:off x="6382512" y="4087368"/>
            <a:ext cx="310896" cy="31089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 name="Google Shape;57;p2"/>
          <p:cNvSpPr/>
          <p:nvPr/>
        </p:nvSpPr>
        <p:spPr>
          <a:xfrm>
            <a:off x="6382512" y="4087368"/>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4</a:t>
            </a:r>
            <a:endParaRPr sz="1300">
              <a:solidFill>
                <a:schemeClr val="dk1"/>
              </a:solidFill>
              <a:latin typeface="Calibri"/>
              <a:ea typeface="Calibri"/>
              <a:cs typeface="Calibri"/>
              <a:sym typeface="Calibri"/>
            </a:endParaRPr>
          </a:p>
        </p:txBody>
      </p:sp>
      <p:sp>
        <p:nvSpPr>
          <p:cNvPr id="58" name="Google Shape;58;p2"/>
          <p:cNvSpPr/>
          <p:nvPr/>
        </p:nvSpPr>
        <p:spPr>
          <a:xfrm>
            <a:off x="6803136" y="3968496"/>
            <a:ext cx="4663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lang="en-US" sz="1250">
                <a:solidFill>
                  <a:srgbClr val="1E2761"/>
                </a:solidFill>
                <a:latin typeface="Calibri"/>
                <a:ea typeface="Calibri"/>
                <a:cs typeface="Calibri"/>
                <a:sym typeface="Calibri"/>
              </a:rPr>
              <a:t>Seguimiento de envíos por la web</a:t>
            </a:r>
            <a:endParaRPr sz="1250">
              <a:solidFill>
                <a:schemeClr val="dk1"/>
              </a:solidFill>
              <a:latin typeface="Calibri"/>
              <a:ea typeface="Calibri"/>
              <a:cs typeface="Calibri"/>
              <a:sym typeface="Calibri"/>
            </a:endParaRPr>
          </a:p>
        </p:txBody>
      </p:sp>
      <p:sp>
        <p:nvSpPr>
          <p:cNvPr id="59" name="Google Shape;59;p2"/>
          <p:cNvSpPr/>
          <p:nvPr/>
        </p:nvSpPr>
        <p:spPr>
          <a:xfrm>
            <a:off x="6172200" y="4626864"/>
            <a:ext cx="5449824" cy="548640"/>
          </a:xfrm>
          <a:prstGeom prst="roundRect">
            <a:avLst>
              <a:gd fmla="val 1000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 name="Google Shape;60;p2"/>
          <p:cNvSpPr/>
          <p:nvPr/>
        </p:nvSpPr>
        <p:spPr>
          <a:xfrm>
            <a:off x="6382512" y="4745736"/>
            <a:ext cx="310896" cy="31089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2"/>
          <p:cNvSpPr/>
          <p:nvPr/>
        </p:nvSpPr>
        <p:spPr>
          <a:xfrm>
            <a:off x="6382512" y="4745736"/>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5</a:t>
            </a:r>
            <a:endParaRPr sz="1300">
              <a:solidFill>
                <a:schemeClr val="dk1"/>
              </a:solidFill>
              <a:latin typeface="Calibri"/>
              <a:ea typeface="Calibri"/>
              <a:cs typeface="Calibri"/>
              <a:sym typeface="Calibri"/>
            </a:endParaRPr>
          </a:p>
        </p:txBody>
      </p:sp>
      <p:sp>
        <p:nvSpPr>
          <p:cNvPr id="62" name="Google Shape;62;p2"/>
          <p:cNvSpPr/>
          <p:nvPr/>
        </p:nvSpPr>
        <p:spPr>
          <a:xfrm>
            <a:off x="6803136" y="4626864"/>
            <a:ext cx="4663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lang="en-US" sz="1250">
                <a:solidFill>
                  <a:srgbClr val="1E2761"/>
                </a:solidFill>
                <a:latin typeface="Calibri"/>
                <a:ea typeface="Calibri"/>
                <a:cs typeface="Calibri"/>
                <a:sym typeface="Calibri"/>
              </a:rPr>
              <a:t>Pagos en línea (Webpay) y alertas</a:t>
            </a:r>
            <a:endParaRPr sz="1250">
              <a:solidFill>
                <a:schemeClr val="dk1"/>
              </a:solidFill>
              <a:latin typeface="Calibri"/>
              <a:ea typeface="Calibri"/>
              <a:cs typeface="Calibri"/>
              <a:sym typeface="Calibri"/>
            </a:endParaRPr>
          </a:p>
        </p:txBody>
      </p:sp>
      <p:sp>
        <p:nvSpPr>
          <p:cNvPr id="63" name="Google Shape;63;p2"/>
          <p:cNvSpPr/>
          <p:nvPr/>
        </p:nvSpPr>
        <p:spPr>
          <a:xfrm>
            <a:off x="6172200" y="5285232"/>
            <a:ext cx="5449824" cy="548640"/>
          </a:xfrm>
          <a:prstGeom prst="roundRect">
            <a:avLst>
              <a:gd fmla="val 10000"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 name="Google Shape;64;p2"/>
          <p:cNvSpPr/>
          <p:nvPr/>
        </p:nvSpPr>
        <p:spPr>
          <a:xfrm>
            <a:off x="6382512" y="5404104"/>
            <a:ext cx="310896" cy="31089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 name="Google Shape;65;p2"/>
          <p:cNvSpPr/>
          <p:nvPr/>
        </p:nvSpPr>
        <p:spPr>
          <a:xfrm>
            <a:off x="6382512" y="5404104"/>
            <a:ext cx="310896" cy="31089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6</a:t>
            </a:r>
            <a:endParaRPr sz="1300">
              <a:solidFill>
                <a:schemeClr val="dk1"/>
              </a:solidFill>
              <a:latin typeface="Calibri"/>
              <a:ea typeface="Calibri"/>
              <a:cs typeface="Calibri"/>
              <a:sym typeface="Calibri"/>
            </a:endParaRPr>
          </a:p>
        </p:txBody>
      </p:sp>
      <p:sp>
        <p:nvSpPr>
          <p:cNvPr id="66" name="Google Shape;66;p2"/>
          <p:cNvSpPr/>
          <p:nvPr/>
        </p:nvSpPr>
        <p:spPr>
          <a:xfrm>
            <a:off x="6803136" y="5285232"/>
            <a:ext cx="46634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lang="en-US" sz="1250">
                <a:solidFill>
                  <a:srgbClr val="1E2761"/>
                </a:solidFill>
                <a:latin typeface="Calibri"/>
                <a:ea typeface="Calibri"/>
                <a:cs typeface="Calibri"/>
                <a:sym typeface="Calibri"/>
              </a:rPr>
              <a:t>Reportes y análisis con Machine Learning</a:t>
            </a:r>
            <a:endParaRPr sz="12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sp>
        <p:nvSpPr>
          <p:cNvPr id="72" name="Google Shape;72;p3"/>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OBJETIVOS</a:t>
            </a:r>
            <a:endParaRPr sz="1100">
              <a:solidFill>
                <a:schemeClr val="dk1"/>
              </a:solidFill>
              <a:latin typeface="Calibri"/>
              <a:ea typeface="Calibri"/>
              <a:cs typeface="Calibri"/>
              <a:sym typeface="Calibri"/>
            </a:endParaRPr>
          </a:p>
        </p:txBody>
      </p:sp>
      <p:sp>
        <p:nvSpPr>
          <p:cNvPr id="73" name="Google Shape;73;p3"/>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Objetivo general y específicos</a:t>
            </a:r>
            <a:endParaRPr sz="2900">
              <a:solidFill>
                <a:schemeClr val="dk1"/>
              </a:solidFill>
              <a:latin typeface="Calibri"/>
              <a:ea typeface="Calibri"/>
              <a:cs typeface="Calibri"/>
              <a:sym typeface="Calibri"/>
            </a:endParaRPr>
          </a:p>
        </p:txBody>
      </p:sp>
      <p:sp>
        <p:nvSpPr>
          <p:cNvPr id="74" name="Google Shape;74;p3"/>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75" name="Google Shape;75;p3"/>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0:50   ·   3</a:t>
            </a:r>
            <a:endParaRPr sz="950">
              <a:solidFill>
                <a:schemeClr val="dk1"/>
              </a:solidFill>
              <a:latin typeface="Calibri"/>
              <a:ea typeface="Calibri"/>
              <a:cs typeface="Calibri"/>
              <a:sym typeface="Calibri"/>
            </a:endParaRPr>
          </a:p>
        </p:txBody>
      </p:sp>
      <p:sp>
        <p:nvSpPr>
          <p:cNvPr id="76" name="Google Shape;76;p3"/>
          <p:cNvSpPr/>
          <p:nvPr/>
        </p:nvSpPr>
        <p:spPr>
          <a:xfrm>
            <a:off x="566928" y="1554480"/>
            <a:ext cx="11055096" cy="1234440"/>
          </a:xfrm>
          <a:prstGeom prst="roundRect">
            <a:avLst>
              <a:gd fmla="val 4444" name="adj"/>
            </a:avLst>
          </a:prstGeom>
          <a:solidFill>
            <a:srgbClr val="1E2761"/>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7" name="Google Shape;77;p3"/>
          <p:cNvSpPr/>
          <p:nvPr/>
        </p:nvSpPr>
        <p:spPr>
          <a:xfrm>
            <a:off x="914400" y="1719072"/>
            <a:ext cx="10332720" cy="914400"/>
          </a:xfrm>
          <a:prstGeom prst="rect">
            <a:avLst/>
          </a:prstGeom>
          <a:noFill/>
          <a:ln>
            <a:noFill/>
          </a:ln>
        </p:spPr>
        <p:txBody>
          <a:bodyPr anchorCtr="0" anchor="ctr" bIns="0" lIns="0" spcFirstLastPara="1" rIns="0" wrap="square" tIns="0">
            <a:noAutofit/>
          </a:bodyPr>
          <a:lstStyle/>
          <a:p>
            <a:pPr indent="0" lvl="0" marL="0" marR="0" rtl="0" algn="l">
              <a:lnSpc>
                <a:spcPct val="146153"/>
              </a:lnSpc>
              <a:spcBef>
                <a:spcPts val="0"/>
              </a:spcBef>
              <a:spcAft>
                <a:spcPts val="0"/>
              </a:spcAft>
              <a:buClr>
                <a:srgbClr val="CADCFC"/>
              </a:buClr>
              <a:buSzPts val="1300"/>
              <a:buFont typeface="Calibri"/>
              <a:buNone/>
            </a:pPr>
            <a:r>
              <a:rPr b="1" lang="en-US" sz="1300">
                <a:solidFill>
                  <a:srgbClr val="CADCFC"/>
                </a:solidFill>
                <a:latin typeface="Calibri"/>
                <a:ea typeface="Calibri"/>
                <a:cs typeface="Calibri"/>
                <a:sym typeface="Calibri"/>
              </a:rPr>
              <a:t>Objetivo general:  </a:t>
            </a:r>
            <a:r>
              <a:rPr lang="en-US" sz="1300">
                <a:solidFill>
                  <a:srgbClr val="FFFFFF"/>
                </a:solidFill>
                <a:latin typeface="Calibri"/>
                <a:ea typeface="Calibri"/>
                <a:cs typeface="Calibri"/>
                <a:sym typeface="Calibri"/>
              </a:rPr>
              <a:t>diseñar y desarrollar un sistema integral de gestión logística para Transportes Marexpress que administre órdenes de transporte, carga, clientes, tarifas, pagos, manifiestos y entregas, incorporando trazabilidad, alertas, reportes, integración con servicios externos y análisis mediante Machine Learning para mejorar el control operativo y la toma de decisiones.</a:t>
            </a:r>
            <a:endParaRPr sz="1300">
              <a:solidFill>
                <a:schemeClr val="dk1"/>
              </a:solidFill>
              <a:latin typeface="Calibri"/>
              <a:ea typeface="Calibri"/>
              <a:cs typeface="Calibri"/>
              <a:sym typeface="Calibri"/>
            </a:endParaRPr>
          </a:p>
        </p:txBody>
      </p:sp>
      <p:sp>
        <p:nvSpPr>
          <p:cNvPr id="78" name="Google Shape;78;p3"/>
          <p:cNvSpPr/>
          <p:nvPr/>
        </p:nvSpPr>
        <p:spPr>
          <a:xfrm>
            <a:off x="566928" y="3017520"/>
            <a:ext cx="3502152" cy="2743200"/>
          </a:xfrm>
          <a:prstGeom prst="roundRect">
            <a:avLst>
              <a:gd fmla="val 200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9" name="Google Shape;79;p3"/>
          <p:cNvSpPr/>
          <p:nvPr/>
        </p:nvSpPr>
        <p:spPr>
          <a:xfrm>
            <a:off x="841248" y="3246120"/>
            <a:ext cx="2651760" cy="347472"/>
          </a:xfrm>
          <a:prstGeom prst="roundRect">
            <a:avLst>
              <a:gd fmla="val 50000"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0" name="Google Shape;80;p3"/>
          <p:cNvSpPr/>
          <p:nvPr/>
        </p:nvSpPr>
        <p:spPr>
          <a:xfrm>
            <a:off x="841248" y="32461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ANÁLISIS Y DISEÑO</a:t>
            </a:r>
            <a:endParaRPr sz="1050">
              <a:solidFill>
                <a:schemeClr val="dk1"/>
              </a:solidFill>
              <a:latin typeface="Calibri"/>
              <a:ea typeface="Calibri"/>
              <a:cs typeface="Calibri"/>
              <a:sym typeface="Calibri"/>
            </a:endParaRPr>
          </a:p>
        </p:txBody>
      </p:sp>
      <p:sp>
        <p:nvSpPr>
          <p:cNvPr id="81" name="Google Shape;81;p3"/>
          <p:cNvSpPr/>
          <p:nvPr/>
        </p:nvSpPr>
        <p:spPr>
          <a:xfrm>
            <a:off x="859536" y="3749040"/>
            <a:ext cx="2971800" cy="1920240"/>
          </a:xfrm>
          <a:prstGeom prst="rect">
            <a:avLst/>
          </a:prstGeom>
          <a:noFill/>
          <a:ln>
            <a:noFill/>
          </a:ln>
        </p:spPr>
        <p:txBody>
          <a:bodyPr anchorCtr="0" anchor="t" bIns="0" lIns="0" spcFirstLastPara="1" rIns="0" wrap="square" tIns="0">
            <a:noAutofit/>
          </a:bodyPr>
          <a:lstStyle/>
          <a:p>
            <a:pPr indent="-342900" lvl="0" marL="342900" marR="0" rtl="0" algn="l">
              <a:lnSpc>
                <a:spcPct val="126086"/>
              </a:lnSpc>
              <a:spcBef>
                <a:spcPts val="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Levantar y documentar requerimientos funcionales y no funcionales</a:t>
            </a:r>
            <a:endParaRPr sz="1150">
              <a:solidFill>
                <a:schemeClr val="dk1"/>
              </a:solidFill>
              <a:latin typeface="Calibri"/>
              <a:ea typeface="Calibri"/>
              <a:cs typeface="Calibri"/>
              <a:sym typeface="Calibri"/>
            </a:endParaRPr>
          </a:p>
          <a:p>
            <a:pPr indent="-342900" lvl="0" marL="342900" marR="0" rtl="0" algn="l">
              <a:lnSpc>
                <a:spcPct val="126086"/>
              </a:lnSpc>
              <a:spcBef>
                <a:spcPts val="70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Diseñar desde cero el modelo de datos y la auditoría del sistema</a:t>
            </a:r>
            <a:endParaRPr sz="1150">
              <a:solidFill>
                <a:schemeClr val="dk1"/>
              </a:solidFill>
              <a:latin typeface="Calibri"/>
              <a:ea typeface="Calibri"/>
              <a:cs typeface="Calibri"/>
              <a:sym typeface="Calibri"/>
            </a:endParaRPr>
          </a:p>
        </p:txBody>
      </p:sp>
      <p:sp>
        <p:nvSpPr>
          <p:cNvPr id="82" name="Google Shape;82;p3"/>
          <p:cNvSpPr/>
          <p:nvPr/>
        </p:nvSpPr>
        <p:spPr>
          <a:xfrm>
            <a:off x="4343400" y="3017520"/>
            <a:ext cx="3502152" cy="2743200"/>
          </a:xfrm>
          <a:prstGeom prst="roundRect">
            <a:avLst>
              <a:gd fmla="val 200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3"/>
          <p:cNvSpPr/>
          <p:nvPr/>
        </p:nvSpPr>
        <p:spPr>
          <a:xfrm>
            <a:off x="4617720" y="3246120"/>
            <a:ext cx="2651760" cy="347472"/>
          </a:xfrm>
          <a:prstGeom prst="roundRect">
            <a:avLst>
              <a:gd fmla="val 50000"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4" name="Google Shape;84;p3"/>
          <p:cNvSpPr/>
          <p:nvPr/>
        </p:nvSpPr>
        <p:spPr>
          <a:xfrm>
            <a:off x="4617720" y="32461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CONSTRUCCIÓN</a:t>
            </a:r>
            <a:endParaRPr sz="1050">
              <a:solidFill>
                <a:schemeClr val="dk1"/>
              </a:solidFill>
              <a:latin typeface="Calibri"/>
              <a:ea typeface="Calibri"/>
              <a:cs typeface="Calibri"/>
              <a:sym typeface="Calibri"/>
            </a:endParaRPr>
          </a:p>
        </p:txBody>
      </p:sp>
      <p:sp>
        <p:nvSpPr>
          <p:cNvPr id="85" name="Google Shape;85;p3"/>
          <p:cNvSpPr/>
          <p:nvPr/>
        </p:nvSpPr>
        <p:spPr>
          <a:xfrm>
            <a:off x="4636008" y="3749040"/>
            <a:ext cx="2971800" cy="1920240"/>
          </a:xfrm>
          <a:prstGeom prst="rect">
            <a:avLst/>
          </a:prstGeom>
          <a:noFill/>
          <a:ln>
            <a:noFill/>
          </a:ln>
        </p:spPr>
        <p:txBody>
          <a:bodyPr anchorCtr="0" anchor="t" bIns="0" lIns="0" spcFirstLastPara="1" rIns="0" wrap="square" tIns="0">
            <a:noAutofit/>
          </a:bodyPr>
          <a:lstStyle/>
          <a:p>
            <a:pPr indent="-342900" lvl="0" marL="342900" marR="0" rtl="0" algn="l">
              <a:lnSpc>
                <a:spcPct val="126086"/>
              </a:lnSpc>
              <a:spcBef>
                <a:spcPts val="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Módulo de OT con trazabilidad de todas las acciones</a:t>
            </a:r>
            <a:endParaRPr sz="1150">
              <a:solidFill>
                <a:schemeClr val="dk1"/>
              </a:solidFill>
              <a:latin typeface="Calibri"/>
              <a:ea typeface="Calibri"/>
              <a:cs typeface="Calibri"/>
              <a:sym typeface="Calibri"/>
            </a:endParaRPr>
          </a:p>
          <a:p>
            <a:pPr indent="-342900" lvl="0" marL="342900" marR="0" rtl="0" algn="l">
              <a:lnSpc>
                <a:spcPct val="126086"/>
              </a:lnSpc>
              <a:spcBef>
                <a:spcPts val="70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Tarifas, recargos, clientes, conductores y vehículos</a:t>
            </a:r>
            <a:endParaRPr sz="1150">
              <a:solidFill>
                <a:schemeClr val="dk1"/>
              </a:solidFill>
              <a:latin typeface="Calibri"/>
              <a:ea typeface="Calibri"/>
              <a:cs typeface="Calibri"/>
              <a:sym typeface="Calibri"/>
            </a:endParaRPr>
          </a:p>
          <a:p>
            <a:pPr indent="-342900" lvl="0" marL="342900" marR="0" rtl="0" algn="l">
              <a:lnSpc>
                <a:spcPct val="126086"/>
              </a:lnSpc>
              <a:spcBef>
                <a:spcPts val="70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Manifiestos de carga con asignación de conductor y vehículo</a:t>
            </a:r>
            <a:endParaRPr sz="1150">
              <a:solidFill>
                <a:schemeClr val="dk1"/>
              </a:solidFill>
              <a:latin typeface="Calibri"/>
              <a:ea typeface="Calibri"/>
              <a:cs typeface="Calibri"/>
              <a:sym typeface="Calibri"/>
            </a:endParaRPr>
          </a:p>
          <a:p>
            <a:pPr indent="-342900" lvl="0" marL="342900" marR="0" rtl="0" algn="l">
              <a:lnSpc>
                <a:spcPct val="126086"/>
              </a:lnSpc>
              <a:spcBef>
                <a:spcPts val="70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Seguimiento de envíos consultable por número de orden</a:t>
            </a:r>
            <a:endParaRPr sz="1150">
              <a:solidFill>
                <a:schemeClr val="dk1"/>
              </a:solidFill>
              <a:latin typeface="Calibri"/>
              <a:ea typeface="Calibri"/>
              <a:cs typeface="Calibri"/>
              <a:sym typeface="Calibri"/>
            </a:endParaRPr>
          </a:p>
        </p:txBody>
      </p:sp>
      <p:sp>
        <p:nvSpPr>
          <p:cNvPr id="86" name="Google Shape;86;p3"/>
          <p:cNvSpPr/>
          <p:nvPr/>
        </p:nvSpPr>
        <p:spPr>
          <a:xfrm>
            <a:off x="8119872" y="3017520"/>
            <a:ext cx="3502152" cy="2743200"/>
          </a:xfrm>
          <a:prstGeom prst="roundRect">
            <a:avLst>
              <a:gd fmla="val 200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3"/>
          <p:cNvSpPr/>
          <p:nvPr/>
        </p:nvSpPr>
        <p:spPr>
          <a:xfrm>
            <a:off x="8394192" y="3246120"/>
            <a:ext cx="2651760" cy="347472"/>
          </a:xfrm>
          <a:prstGeom prst="roundRect">
            <a:avLst>
              <a:gd fmla="val 50000" name="adj"/>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8" name="Google Shape;88;p3"/>
          <p:cNvSpPr/>
          <p:nvPr/>
        </p:nvSpPr>
        <p:spPr>
          <a:xfrm>
            <a:off x="8394192" y="3246120"/>
            <a:ext cx="26517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INTEGRACIÓN Y ANÁLISIS</a:t>
            </a:r>
            <a:endParaRPr sz="1050">
              <a:solidFill>
                <a:schemeClr val="dk1"/>
              </a:solidFill>
              <a:latin typeface="Calibri"/>
              <a:ea typeface="Calibri"/>
              <a:cs typeface="Calibri"/>
              <a:sym typeface="Calibri"/>
            </a:endParaRPr>
          </a:p>
        </p:txBody>
      </p:sp>
      <p:sp>
        <p:nvSpPr>
          <p:cNvPr id="89" name="Google Shape;89;p3"/>
          <p:cNvSpPr/>
          <p:nvPr/>
        </p:nvSpPr>
        <p:spPr>
          <a:xfrm>
            <a:off x="8412480" y="3749040"/>
            <a:ext cx="2971800" cy="1920240"/>
          </a:xfrm>
          <a:prstGeom prst="rect">
            <a:avLst/>
          </a:prstGeom>
          <a:noFill/>
          <a:ln>
            <a:noFill/>
          </a:ln>
        </p:spPr>
        <p:txBody>
          <a:bodyPr anchorCtr="0" anchor="t" bIns="0" lIns="0" spcFirstLastPara="1" rIns="0" wrap="square" tIns="0">
            <a:noAutofit/>
          </a:bodyPr>
          <a:lstStyle/>
          <a:p>
            <a:pPr indent="-342900" lvl="0" marL="342900" marR="0" rtl="0" algn="l">
              <a:lnSpc>
                <a:spcPct val="126086"/>
              </a:lnSpc>
              <a:spcBef>
                <a:spcPts val="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Alertas de OT impagas y entregas atrasadas</a:t>
            </a:r>
            <a:endParaRPr sz="1150">
              <a:solidFill>
                <a:schemeClr val="dk1"/>
              </a:solidFill>
              <a:latin typeface="Calibri"/>
              <a:ea typeface="Calibri"/>
              <a:cs typeface="Calibri"/>
              <a:sym typeface="Calibri"/>
            </a:endParaRPr>
          </a:p>
          <a:p>
            <a:pPr indent="-342900" lvl="0" marL="342900" marR="0" rtl="0" algn="l">
              <a:lnSpc>
                <a:spcPct val="126086"/>
              </a:lnSpc>
              <a:spcBef>
                <a:spcPts val="70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Pago en línea con Webpay en ambiente de pruebas</a:t>
            </a:r>
            <a:endParaRPr sz="1150">
              <a:solidFill>
                <a:schemeClr val="dk1"/>
              </a:solidFill>
              <a:latin typeface="Calibri"/>
              <a:ea typeface="Calibri"/>
              <a:cs typeface="Calibri"/>
              <a:sym typeface="Calibri"/>
            </a:endParaRPr>
          </a:p>
          <a:p>
            <a:pPr indent="-342900" lvl="0" marL="342900" marR="0" rtl="0" algn="l">
              <a:lnSpc>
                <a:spcPct val="126086"/>
              </a:lnSpc>
              <a:spcBef>
                <a:spcPts val="70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Reportes operacionales y comerciales</a:t>
            </a:r>
            <a:endParaRPr sz="1150">
              <a:solidFill>
                <a:schemeClr val="dk1"/>
              </a:solidFill>
              <a:latin typeface="Calibri"/>
              <a:ea typeface="Calibri"/>
              <a:cs typeface="Calibri"/>
              <a:sym typeface="Calibri"/>
            </a:endParaRPr>
          </a:p>
          <a:p>
            <a:pPr indent="-342900" lvl="0" marL="342900" marR="0" rtl="0" algn="l">
              <a:lnSpc>
                <a:spcPct val="126086"/>
              </a:lnSpc>
              <a:spcBef>
                <a:spcPts val="700"/>
              </a:spcBef>
              <a:spcAft>
                <a:spcPts val="0"/>
              </a:spcAft>
              <a:buClr>
                <a:srgbClr val="5A6478"/>
              </a:buClr>
              <a:buSzPts val="1150"/>
              <a:buFont typeface="Calibri"/>
              <a:buChar char="•"/>
            </a:pPr>
            <a:r>
              <a:rPr lang="en-US" sz="1150">
                <a:solidFill>
                  <a:srgbClr val="5A6478"/>
                </a:solidFill>
                <a:latin typeface="Calibri"/>
                <a:ea typeface="Calibri"/>
                <a:cs typeface="Calibri"/>
                <a:sym typeface="Calibri"/>
              </a:rPr>
              <a:t>Modelo de Machine Learning para análisis de clientes y carga</a:t>
            </a:r>
            <a:endParaRPr sz="11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4" name="Shape 94"/>
        <p:cNvGrpSpPr/>
        <p:nvPr/>
      </p:nvGrpSpPr>
      <p:grpSpPr>
        <a:xfrm>
          <a:off x="0" y="0"/>
          <a:ext cx="0" cy="0"/>
          <a:chOff x="0" y="0"/>
          <a:chExt cx="0" cy="0"/>
        </a:xfrm>
      </p:grpSpPr>
      <p:sp>
        <p:nvSpPr>
          <p:cNvPr id="95" name="Google Shape;95;p4"/>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INGENIERÍA DE REQUISITOS</a:t>
            </a:r>
            <a:endParaRPr sz="1100">
              <a:solidFill>
                <a:schemeClr val="dk1"/>
              </a:solidFill>
              <a:latin typeface="Calibri"/>
              <a:ea typeface="Calibri"/>
              <a:cs typeface="Calibri"/>
              <a:sym typeface="Calibri"/>
            </a:endParaRPr>
          </a:p>
        </p:txBody>
      </p:sp>
      <p:sp>
        <p:nvSpPr>
          <p:cNvPr id="96" name="Google Shape;96;p4"/>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Requisitos funcionales y no funcionales preliminares</a:t>
            </a:r>
            <a:endParaRPr sz="2900">
              <a:solidFill>
                <a:schemeClr val="dk1"/>
              </a:solidFill>
              <a:latin typeface="Calibri"/>
              <a:ea typeface="Calibri"/>
              <a:cs typeface="Calibri"/>
              <a:sym typeface="Calibri"/>
            </a:endParaRPr>
          </a:p>
        </p:txBody>
      </p:sp>
      <p:sp>
        <p:nvSpPr>
          <p:cNvPr id="97" name="Google Shape;97;p4"/>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98" name="Google Shape;98;p4"/>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0:50   ·   4</a:t>
            </a:r>
            <a:endParaRPr sz="950">
              <a:solidFill>
                <a:schemeClr val="dk1"/>
              </a:solidFill>
              <a:latin typeface="Calibri"/>
              <a:ea typeface="Calibri"/>
              <a:cs typeface="Calibri"/>
              <a:sym typeface="Calibri"/>
            </a:endParaRPr>
          </a:p>
        </p:txBody>
      </p:sp>
      <p:sp>
        <p:nvSpPr>
          <p:cNvPr id="99" name="Google Shape;99;p4"/>
          <p:cNvSpPr/>
          <p:nvPr/>
        </p:nvSpPr>
        <p:spPr>
          <a:xfrm>
            <a:off x="566928" y="1645920"/>
            <a:ext cx="2377440" cy="347472"/>
          </a:xfrm>
          <a:prstGeom prst="roundRect">
            <a:avLst>
              <a:gd fmla="val 50000"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0" name="Google Shape;100;p4"/>
          <p:cNvSpPr/>
          <p:nvPr/>
        </p:nvSpPr>
        <p:spPr>
          <a:xfrm>
            <a:off x="566928" y="1645920"/>
            <a:ext cx="23774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FUNCIONALES</a:t>
            </a:r>
            <a:endParaRPr sz="1050">
              <a:solidFill>
                <a:schemeClr val="dk1"/>
              </a:solidFill>
              <a:latin typeface="Calibri"/>
              <a:ea typeface="Calibri"/>
              <a:cs typeface="Calibri"/>
              <a:sym typeface="Calibri"/>
            </a:endParaRPr>
          </a:p>
        </p:txBody>
      </p:sp>
      <p:sp>
        <p:nvSpPr>
          <p:cNvPr id="101" name="Google Shape;101;p4"/>
          <p:cNvSpPr/>
          <p:nvPr/>
        </p:nvSpPr>
        <p:spPr>
          <a:xfrm>
            <a:off x="6263640" y="1645920"/>
            <a:ext cx="2377440" cy="347472"/>
          </a:xfrm>
          <a:prstGeom prst="roundRect">
            <a:avLst>
              <a:gd fmla="val 50000"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2" name="Google Shape;102;p4"/>
          <p:cNvSpPr/>
          <p:nvPr/>
        </p:nvSpPr>
        <p:spPr>
          <a:xfrm>
            <a:off x="6263640" y="1645920"/>
            <a:ext cx="237744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NO FUNCIONALES</a:t>
            </a:r>
            <a:endParaRPr sz="1050">
              <a:solidFill>
                <a:schemeClr val="dk1"/>
              </a:solidFill>
              <a:latin typeface="Calibri"/>
              <a:ea typeface="Calibri"/>
              <a:cs typeface="Calibri"/>
              <a:sym typeface="Calibri"/>
            </a:endParaRPr>
          </a:p>
        </p:txBody>
      </p:sp>
      <p:sp>
        <p:nvSpPr>
          <p:cNvPr id="103" name="Google Shape;103;p4"/>
          <p:cNvSpPr/>
          <p:nvPr/>
        </p:nvSpPr>
        <p:spPr>
          <a:xfrm>
            <a:off x="566928" y="2121408"/>
            <a:ext cx="5394960" cy="3383280"/>
          </a:xfrm>
          <a:prstGeom prst="roundRect">
            <a:avLst>
              <a:gd fmla="val 2162" name="adj"/>
            </a:avLst>
          </a:prstGeom>
          <a:solidFill>
            <a:srgbClr val="FBFCFE"/>
          </a:solidFill>
          <a:ln cap="flat" cmpd="sng" w="19050">
            <a:solidFill>
              <a:srgbClr val="3F6C9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4" name="Google Shape;104;p4"/>
          <p:cNvSpPr/>
          <p:nvPr/>
        </p:nvSpPr>
        <p:spPr>
          <a:xfrm>
            <a:off x="3063240" y="324612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t/>
            </a:r>
            <a:endParaRPr sz="2200">
              <a:solidFill>
                <a:schemeClr val="dk1"/>
              </a:solidFill>
              <a:latin typeface="Calibri"/>
              <a:ea typeface="Calibri"/>
              <a:cs typeface="Calibri"/>
              <a:sym typeface="Calibri"/>
            </a:endParaRPr>
          </a:p>
        </p:txBody>
      </p:sp>
      <p:sp>
        <p:nvSpPr>
          <p:cNvPr id="105" name="Google Shape;105;p4"/>
          <p:cNvSpPr/>
          <p:nvPr/>
        </p:nvSpPr>
        <p:spPr>
          <a:xfrm>
            <a:off x="841248" y="3739896"/>
            <a:ext cx="484632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p:txBody>
      </p:sp>
      <p:sp>
        <p:nvSpPr>
          <p:cNvPr id="106" name="Google Shape;106;p4"/>
          <p:cNvSpPr/>
          <p:nvPr/>
        </p:nvSpPr>
        <p:spPr>
          <a:xfrm>
            <a:off x="841248" y="4069080"/>
            <a:ext cx="4846320" cy="548640"/>
          </a:xfrm>
          <a:prstGeom prst="rect">
            <a:avLst/>
          </a:prstGeom>
          <a:noFill/>
          <a:ln>
            <a:noFill/>
          </a:ln>
        </p:spPr>
        <p:txBody>
          <a:bodyPr anchorCtr="0" anchor="ctr" bIns="0" lIns="0" spcFirstLastPara="1" rIns="0" wrap="square" tIns="0">
            <a:noAutofit/>
          </a:bodyPr>
          <a:lstStyle/>
          <a:p>
            <a:pPr indent="0" lvl="0" marL="0" marR="0" rtl="0" algn="ctr">
              <a:lnSpc>
                <a:spcPct val="130434"/>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p:txBody>
      </p:sp>
      <p:sp>
        <p:nvSpPr>
          <p:cNvPr id="107" name="Google Shape;107;p4"/>
          <p:cNvSpPr/>
          <p:nvPr/>
        </p:nvSpPr>
        <p:spPr>
          <a:xfrm>
            <a:off x="6263640" y="2121408"/>
            <a:ext cx="5358384" cy="3383280"/>
          </a:xfrm>
          <a:prstGeom prst="roundRect">
            <a:avLst>
              <a:gd fmla="val 2162" name="adj"/>
            </a:avLst>
          </a:prstGeom>
          <a:solidFill>
            <a:srgbClr val="FBFCFE"/>
          </a:solidFill>
          <a:ln cap="flat" cmpd="sng" w="19050">
            <a:solidFill>
              <a:srgbClr val="3F6C9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8" name="Google Shape;108;p4"/>
          <p:cNvSpPr/>
          <p:nvPr/>
        </p:nvSpPr>
        <p:spPr>
          <a:xfrm>
            <a:off x="8741664" y="324612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t/>
            </a:r>
            <a:endParaRPr sz="2200">
              <a:solidFill>
                <a:schemeClr val="dk1"/>
              </a:solidFill>
              <a:latin typeface="Calibri"/>
              <a:ea typeface="Calibri"/>
              <a:cs typeface="Calibri"/>
              <a:sym typeface="Calibri"/>
            </a:endParaRPr>
          </a:p>
        </p:txBody>
      </p:sp>
      <p:sp>
        <p:nvSpPr>
          <p:cNvPr id="109" name="Google Shape;109;p4"/>
          <p:cNvSpPr/>
          <p:nvPr/>
        </p:nvSpPr>
        <p:spPr>
          <a:xfrm>
            <a:off x="6537960" y="3739896"/>
            <a:ext cx="4809744"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p:txBody>
      </p:sp>
      <p:sp>
        <p:nvSpPr>
          <p:cNvPr id="110" name="Google Shape;110;p4"/>
          <p:cNvSpPr/>
          <p:nvPr/>
        </p:nvSpPr>
        <p:spPr>
          <a:xfrm>
            <a:off x="6537960" y="4069080"/>
            <a:ext cx="4809744" cy="548640"/>
          </a:xfrm>
          <a:prstGeom prst="rect">
            <a:avLst/>
          </a:prstGeom>
          <a:noFill/>
          <a:ln>
            <a:noFill/>
          </a:ln>
        </p:spPr>
        <p:txBody>
          <a:bodyPr anchorCtr="0" anchor="ctr" bIns="0" lIns="0" spcFirstLastPara="1" rIns="0" wrap="square" tIns="0">
            <a:noAutofit/>
          </a:bodyPr>
          <a:lstStyle/>
          <a:p>
            <a:pPr indent="0" lvl="0" marL="0" marR="0" rtl="0" algn="ctr">
              <a:lnSpc>
                <a:spcPct val="130434"/>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p:txBody>
      </p:sp>
      <p:sp>
        <p:nvSpPr>
          <p:cNvPr id="111" name="Google Shape;111;p4"/>
          <p:cNvSpPr/>
          <p:nvPr/>
        </p:nvSpPr>
        <p:spPr>
          <a:xfrm>
            <a:off x="566928" y="5687568"/>
            <a:ext cx="11055096" cy="457200"/>
          </a:xfrm>
          <a:prstGeom prst="rect">
            <a:avLst/>
          </a:prstGeom>
          <a:noFill/>
          <a:ln>
            <a:noFill/>
          </a:ln>
        </p:spPr>
        <p:txBody>
          <a:bodyPr anchorCtr="0" anchor="ctr" bIns="0" lIns="0" spcFirstLastPara="1" rIns="0" wrap="square" tIns="0">
            <a:noAutofit/>
          </a:bodyPr>
          <a:lstStyle/>
          <a:p>
            <a:pPr indent="0" lvl="0" marL="0" marR="0" rtl="0" algn="l">
              <a:lnSpc>
                <a:spcPct val="130434"/>
              </a:lnSpc>
              <a:spcBef>
                <a:spcPts val="0"/>
              </a:spcBef>
              <a:spcAft>
                <a:spcPts val="0"/>
              </a:spcAft>
              <a:buClr>
                <a:srgbClr val="8A93A3"/>
              </a:buClr>
              <a:buSzPts val="1150"/>
              <a:buFont typeface="Calibri"/>
              <a:buNone/>
            </a:pPr>
            <a:r>
              <a:rPr i="1" lang="en-US" sz="1150">
                <a:solidFill>
                  <a:srgbClr val="8A93A3"/>
                </a:solidFill>
                <a:latin typeface="Calibri"/>
                <a:ea typeface="Calibri"/>
                <a:cs typeface="Calibri"/>
                <a:sym typeface="Calibri"/>
              </a:rPr>
              <a:t>Requisitos preliminares: se validan con Transportes Marexpress en la semana 1 del cronograma. El origen de cada uno es el levantamiento con la empresa o el análisis de la aplicación existente.</a:t>
            </a:r>
            <a:endParaRPr sz="1150">
              <a:solidFill>
                <a:schemeClr val="dk1"/>
              </a:solidFill>
              <a:latin typeface="Calibri"/>
              <a:ea typeface="Calibri"/>
              <a:cs typeface="Calibri"/>
              <a:sym typeface="Calibri"/>
            </a:endParaRPr>
          </a:p>
        </p:txBody>
      </p:sp>
      <p:pic>
        <p:nvPicPr>
          <p:cNvPr id="112" name="Google Shape;112;p4" title="Requisitos_Funcionales_Y_No_Funcionales.png"/>
          <p:cNvPicPr preferRelativeResize="0"/>
          <p:nvPr/>
        </p:nvPicPr>
        <p:blipFill>
          <a:blip r:embed="rId3">
            <a:alphaModFix/>
          </a:blip>
          <a:stretch>
            <a:fillRect/>
          </a:stretch>
        </p:blipFill>
        <p:spPr>
          <a:xfrm>
            <a:off x="390625" y="1307275"/>
            <a:ext cx="11403726" cy="4325776"/>
          </a:xfrm>
          <a:prstGeom prst="rect">
            <a:avLst/>
          </a:prstGeom>
          <a:solidFill>
            <a:srgbClr val="FBFCFE"/>
          </a:solidFill>
          <a:ln cap="flat" cmpd="sng" w="19050">
            <a:solidFill>
              <a:srgbClr val="3F6C9E"/>
            </a:solidFill>
            <a:prstDash val="dash"/>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7" name="Shape 117"/>
        <p:cNvGrpSpPr/>
        <p:nvPr/>
      </p:nvGrpSpPr>
      <p:grpSpPr>
        <a:xfrm>
          <a:off x="0" y="0"/>
          <a:ext cx="0" cy="0"/>
          <a:chOff x="0" y="0"/>
          <a:chExt cx="0" cy="0"/>
        </a:xfrm>
      </p:grpSpPr>
      <p:sp>
        <p:nvSpPr>
          <p:cNvPr id="118" name="Google Shape;118;p5"/>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MODELO DE DATOS</a:t>
            </a:r>
            <a:endParaRPr sz="1100">
              <a:solidFill>
                <a:schemeClr val="dk1"/>
              </a:solidFill>
              <a:latin typeface="Calibri"/>
              <a:ea typeface="Calibri"/>
              <a:cs typeface="Calibri"/>
              <a:sym typeface="Calibri"/>
            </a:endParaRPr>
          </a:p>
        </p:txBody>
      </p:sp>
      <p:sp>
        <p:nvSpPr>
          <p:cNvPr id="119" name="Google Shape;119;p5"/>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Esquema preliminar de la base de datos</a:t>
            </a:r>
            <a:endParaRPr sz="2900">
              <a:solidFill>
                <a:schemeClr val="dk1"/>
              </a:solidFill>
              <a:latin typeface="Calibri"/>
              <a:ea typeface="Calibri"/>
              <a:cs typeface="Calibri"/>
              <a:sym typeface="Calibri"/>
            </a:endParaRPr>
          </a:p>
        </p:txBody>
      </p:sp>
      <p:sp>
        <p:nvSpPr>
          <p:cNvPr id="120" name="Google Shape;120;p5"/>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121" name="Google Shape;121;p5"/>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0:50   ·   5</a:t>
            </a:r>
            <a:endParaRPr sz="950">
              <a:solidFill>
                <a:schemeClr val="dk1"/>
              </a:solidFill>
              <a:latin typeface="Calibri"/>
              <a:ea typeface="Calibri"/>
              <a:cs typeface="Calibri"/>
              <a:sym typeface="Calibri"/>
            </a:endParaRPr>
          </a:p>
        </p:txBody>
      </p:sp>
      <p:sp>
        <p:nvSpPr>
          <p:cNvPr id="122" name="Google Shape;122;p5"/>
          <p:cNvSpPr/>
          <p:nvPr/>
        </p:nvSpPr>
        <p:spPr>
          <a:xfrm>
            <a:off x="566928" y="1645920"/>
            <a:ext cx="8275320" cy="4114800"/>
          </a:xfrm>
          <a:prstGeom prst="roundRect">
            <a:avLst>
              <a:gd fmla="val 1778" name="adj"/>
            </a:avLst>
          </a:prstGeom>
          <a:solidFill>
            <a:srgbClr val="FBFCFE"/>
          </a:solidFill>
          <a:ln cap="flat" cmpd="sng" w="19050">
            <a:solidFill>
              <a:srgbClr val="3F6C9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5"/>
          <p:cNvSpPr/>
          <p:nvPr/>
        </p:nvSpPr>
        <p:spPr>
          <a:xfrm>
            <a:off x="4503420" y="313639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2200"/>
              <a:buFont typeface="Calibri"/>
              <a:buNone/>
            </a:pPr>
            <a:r>
              <a:t/>
            </a:r>
            <a:endParaRPr sz="2200">
              <a:solidFill>
                <a:schemeClr val="dk1"/>
              </a:solidFill>
              <a:latin typeface="Calibri"/>
              <a:ea typeface="Calibri"/>
              <a:cs typeface="Calibri"/>
              <a:sym typeface="Calibri"/>
            </a:endParaRPr>
          </a:p>
        </p:txBody>
      </p:sp>
      <p:sp>
        <p:nvSpPr>
          <p:cNvPr id="124" name="Google Shape;124;p5"/>
          <p:cNvSpPr/>
          <p:nvPr/>
        </p:nvSpPr>
        <p:spPr>
          <a:xfrm>
            <a:off x="841248" y="3630168"/>
            <a:ext cx="7726680" cy="29260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chemeClr val="dk1"/>
              </a:buClr>
              <a:buSzPts val="1400"/>
              <a:buFont typeface="Calibri"/>
              <a:buNone/>
            </a:pPr>
            <a:r>
              <a:t/>
            </a:r>
            <a:endParaRPr sz="1400">
              <a:solidFill>
                <a:schemeClr val="dk1"/>
              </a:solidFill>
              <a:latin typeface="Calibri"/>
              <a:ea typeface="Calibri"/>
              <a:cs typeface="Calibri"/>
              <a:sym typeface="Calibri"/>
            </a:endParaRPr>
          </a:p>
        </p:txBody>
      </p:sp>
      <p:sp>
        <p:nvSpPr>
          <p:cNvPr id="125" name="Google Shape;125;p5"/>
          <p:cNvSpPr/>
          <p:nvPr/>
        </p:nvSpPr>
        <p:spPr>
          <a:xfrm>
            <a:off x="841248" y="3959352"/>
            <a:ext cx="7726680" cy="548640"/>
          </a:xfrm>
          <a:prstGeom prst="rect">
            <a:avLst/>
          </a:prstGeom>
          <a:noFill/>
          <a:ln>
            <a:noFill/>
          </a:ln>
        </p:spPr>
        <p:txBody>
          <a:bodyPr anchorCtr="0" anchor="ctr" bIns="0" lIns="0" spcFirstLastPara="1" rIns="0" wrap="square" tIns="0">
            <a:noAutofit/>
          </a:bodyPr>
          <a:lstStyle/>
          <a:p>
            <a:pPr indent="0" lvl="0" marL="0" marR="0" rtl="0" algn="ctr">
              <a:lnSpc>
                <a:spcPct val="130434"/>
              </a:lnSpc>
              <a:spcBef>
                <a:spcPts val="0"/>
              </a:spcBef>
              <a:spcAft>
                <a:spcPts val="0"/>
              </a:spcAft>
              <a:buClr>
                <a:schemeClr val="dk1"/>
              </a:buClr>
              <a:buSzPts val="1150"/>
              <a:buFont typeface="Calibri"/>
              <a:buNone/>
            </a:pPr>
            <a:r>
              <a:t/>
            </a:r>
            <a:endParaRPr sz="1150">
              <a:solidFill>
                <a:schemeClr val="dk1"/>
              </a:solidFill>
              <a:latin typeface="Calibri"/>
              <a:ea typeface="Calibri"/>
              <a:cs typeface="Calibri"/>
              <a:sym typeface="Calibri"/>
            </a:endParaRPr>
          </a:p>
        </p:txBody>
      </p:sp>
      <p:sp>
        <p:nvSpPr>
          <p:cNvPr id="126" name="Google Shape;126;p5"/>
          <p:cNvSpPr/>
          <p:nvPr/>
        </p:nvSpPr>
        <p:spPr>
          <a:xfrm>
            <a:off x="9144000" y="1645920"/>
            <a:ext cx="2478024" cy="1280160"/>
          </a:xfrm>
          <a:prstGeom prst="roundRect">
            <a:avLst>
              <a:gd fmla="val 4286"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7" name="Google Shape;127;p5"/>
          <p:cNvSpPr/>
          <p:nvPr/>
        </p:nvSpPr>
        <p:spPr>
          <a:xfrm>
            <a:off x="9372600" y="1792224"/>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Entidades principales</a:t>
            </a:r>
            <a:endParaRPr sz="1250">
              <a:solidFill>
                <a:schemeClr val="dk1"/>
              </a:solidFill>
              <a:latin typeface="Calibri"/>
              <a:ea typeface="Calibri"/>
              <a:cs typeface="Calibri"/>
              <a:sym typeface="Calibri"/>
            </a:endParaRPr>
          </a:p>
        </p:txBody>
      </p:sp>
      <p:sp>
        <p:nvSpPr>
          <p:cNvPr id="128" name="Google Shape;128;p5"/>
          <p:cNvSpPr/>
          <p:nvPr/>
        </p:nvSpPr>
        <p:spPr>
          <a:xfrm>
            <a:off x="9372600" y="2103120"/>
            <a:ext cx="2057400" cy="713232"/>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5A6478"/>
              </a:buClr>
              <a:buSzPts val="950"/>
              <a:buFont typeface="Calibri"/>
              <a:buNone/>
            </a:pPr>
            <a:r>
              <a:rPr lang="en-US" sz="950">
                <a:solidFill>
                  <a:srgbClr val="5A6478"/>
                </a:solidFill>
                <a:latin typeface="Calibri"/>
                <a:ea typeface="Calibri"/>
                <a:cs typeface="Calibri"/>
                <a:sym typeface="Calibri"/>
              </a:rPr>
              <a:t>Cliente · Orden de Transporte · Encomienda · Tarifa · Recargo · Pago · Manifiesto · Vehículo · Conductor · Ciudad · Usuario</a:t>
            </a:r>
            <a:endParaRPr sz="950">
              <a:solidFill>
                <a:schemeClr val="dk1"/>
              </a:solidFill>
              <a:latin typeface="Calibri"/>
              <a:ea typeface="Calibri"/>
              <a:cs typeface="Calibri"/>
              <a:sym typeface="Calibri"/>
            </a:endParaRPr>
          </a:p>
        </p:txBody>
      </p:sp>
      <p:sp>
        <p:nvSpPr>
          <p:cNvPr id="129" name="Google Shape;129;p5"/>
          <p:cNvSpPr/>
          <p:nvPr/>
        </p:nvSpPr>
        <p:spPr>
          <a:xfrm>
            <a:off x="9144000" y="3063240"/>
            <a:ext cx="2478024" cy="1280160"/>
          </a:xfrm>
          <a:prstGeom prst="roundRect">
            <a:avLst>
              <a:gd fmla="val 4286" name="adj"/>
            </a:avLst>
          </a:prstGeom>
          <a:solidFill>
            <a:srgbClr val="1E2761"/>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0" name="Google Shape;130;p5"/>
          <p:cNvSpPr/>
          <p:nvPr/>
        </p:nvSpPr>
        <p:spPr>
          <a:xfrm>
            <a:off x="9372600" y="3209544"/>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250"/>
              <a:buFont typeface="Calibri"/>
              <a:buNone/>
            </a:pPr>
            <a:r>
              <a:rPr b="1" lang="en-US" sz="1250">
                <a:solidFill>
                  <a:srgbClr val="FFFFFF"/>
                </a:solidFill>
                <a:latin typeface="Calibri"/>
                <a:ea typeface="Calibri"/>
                <a:cs typeface="Calibri"/>
                <a:sym typeface="Calibri"/>
              </a:rPr>
              <a:t>Tabla de auditoría</a:t>
            </a:r>
            <a:endParaRPr sz="1250">
              <a:solidFill>
                <a:schemeClr val="dk1"/>
              </a:solidFill>
              <a:latin typeface="Calibri"/>
              <a:ea typeface="Calibri"/>
              <a:cs typeface="Calibri"/>
              <a:sym typeface="Calibri"/>
            </a:endParaRPr>
          </a:p>
        </p:txBody>
      </p:sp>
      <p:sp>
        <p:nvSpPr>
          <p:cNvPr id="131" name="Google Shape;131;p5"/>
          <p:cNvSpPr/>
          <p:nvPr/>
        </p:nvSpPr>
        <p:spPr>
          <a:xfrm>
            <a:off x="9372600" y="3520440"/>
            <a:ext cx="2057400" cy="713232"/>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CADCFC"/>
              </a:buClr>
              <a:buSzPts val="950"/>
              <a:buFont typeface="Calibri"/>
              <a:buNone/>
            </a:pPr>
            <a:r>
              <a:rPr lang="en-US" sz="950">
                <a:solidFill>
                  <a:srgbClr val="CADCFC"/>
                </a:solidFill>
                <a:latin typeface="Calibri"/>
                <a:ea typeface="Calibri"/>
                <a:cs typeface="Calibri"/>
                <a:sym typeface="Calibri"/>
              </a:rPr>
              <a:t>Registra usuario, fecha, hora e identificador en cada acción sobre la información crítica</a:t>
            </a:r>
            <a:endParaRPr sz="950">
              <a:solidFill>
                <a:schemeClr val="dk1"/>
              </a:solidFill>
              <a:latin typeface="Calibri"/>
              <a:ea typeface="Calibri"/>
              <a:cs typeface="Calibri"/>
              <a:sym typeface="Calibri"/>
            </a:endParaRPr>
          </a:p>
        </p:txBody>
      </p:sp>
      <p:sp>
        <p:nvSpPr>
          <p:cNvPr id="132" name="Google Shape;132;p5"/>
          <p:cNvSpPr/>
          <p:nvPr/>
        </p:nvSpPr>
        <p:spPr>
          <a:xfrm>
            <a:off x="9144000" y="4480560"/>
            <a:ext cx="2478024" cy="1280160"/>
          </a:xfrm>
          <a:prstGeom prst="roundRect">
            <a:avLst>
              <a:gd fmla="val 4286"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3" name="Google Shape;133;p5"/>
          <p:cNvSpPr/>
          <p:nvPr/>
        </p:nvSpPr>
        <p:spPr>
          <a:xfrm>
            <a:off x="9372600" y="4626864"/>
            <a:ext cx="2057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Estado</a:t>
            </a:r>
            <a:endParaRPr sz="1250">
              <a:solidFill>
                <a:schemeClr val="dk1"/>
              </a:solidFill>
              <a:latin typeface="Calibri"/>
              <a:ea typeface="Calibri"/>
              <a:cs typeface="Calibri"/>
              <a:sym typeface="Calibri"/>
            </a:endParaRPr>
          </a:p>
        </p:txBody>
      </p:sp>
      <p:sp>
        <p:nvSpPr>
          <p:cNvPr id="134" name="Google Shape;134;p5"/>
          <p:cNvSpPr/>
          <p:nvPr/>
        </p:nvSpPr>
        <p:spPr>
          <a:xfrm>
            <a:off x="9372600" y="4937760"/>
            <a:ext cx="2057400" cy="713232"/>
          </a:xfrm>
          <a:prstGeom prst="rect">
            <a:avLst/>
          </a:prstGeom>
          <a:noFill/>
          <a:ln>
            <a:noFill/>
          </a:ln>
        </p:spPr>
        <p:txBody>
          <a:bodyPr anchorCtr="0" anchor="t" bIns="0" lIns="0" spcFirstLastPara="1" rIns="0" wrap="square" tIns="0">
            <a:noAutofit/>
          </a:bodyPr>
          <a:lstStyle/>
          <a:p>
            <a:pPr indent="0" lvl="0" marL="0" marR="0" rtl="0" algn="l">
              <a:lnSpc>
                <a:spcPct val="126315"/>
              </a:lnSpc>
              <a:spcBef>
                <a:spcPts val="0"/>
              </a:spcBef>
              <a:spcAft>
                <a:spcPts val="0"/>
              </a:spcAft>
              <a:buClr>
                <a:srgbClr val="5A6478"/>
              </a:buClr>
              <a:buSzPts val="950"/>
              <a:buFont typeface="Calibri"/>
              <a:buNone/>
            </a:pPr>
            <a:r>
              <a:rPr lang="en-US" sz="950">
                <a:solidFill>
                  <a:srgbClr val="5A6478"/>
                </a:solidFill>
                <a:latin typeface="Calibri"/>
                <a:ea typeface="Calibri"/>
                <a:cs typeface="Calibri"/>
                <a:sym typeface="Calibri"/>
              </a:rPr>
              <a:t>Modelo preliminar. Se refina en la semana 2 del cronograma, junto con la arquitectura</a:t>
            </a:r>
            <a:endParaRPr sz="950">
              <a:solidFill>
                <a:schemeClr val="dk1"/>
              </a:solidFill>
              <a:latin typeface="Calibri"/>
              <a:ea typeface="Calibri"/>
              <a:cs typeface="Calibri"/>
              <a:sym typeface="Calibri"/>
            </a:endParaRPr>
          </a:p>
        </p:txBody>
      </p:sp>
      <p:sp>
        <p:nvSpPr>
          <p:cNvPr id="135" name="Google Shape;135;p5"/>
          <p:cNvSpPr/>
          <p:nvPr/>
        </p:nvSpPr>
        <p:spPr>
          <a:xfrm>
            <a:off x="566928" y="5870448"/>
            <a:ext cx="1105509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1150"/>
              <a:buFont typeface="Calibri"/>
              <a:buNone/>
            </a:pPr>
            <a:r>
              <a:rPr i="1" lang="en-US" sz="1150">
                <a:solidFill>
                  <a:srgbClr val="8A93A3"/>
                </a:solidFill>
                <a:latin typeface="Calibri"/>
                <a:ea typeface="Calibri"/>
                <a:cs typeface="Calibri"/>
                <a:sym typeface="Calibri"/>
              </a:rPr>
              <a:t>El diagrama es preliminar y se valida junto con los requisitos antes de crear la base de datos definitiva.</a:t>
            </a:r>
            <a:endParaRPr sz="1150">
              <a:solidFill>
                <a:schemeClr val="dk1"/>
              </a:solidFill>
              <a:latin typeface="Calibri"/>
              <a:ea typeface="Calibri"/>
              <a:cs typeface="Calibri"/>
              <a:sym typeface="Calibri"/>
            </a:endParaRPr>
          </a:p>
        </p:txBody>
      </p:sp>
      <p:pic>
        <p:nvPicPr>
          <p:cNvPr id="136" name="Google Shape;136;p5"/>
          <p:cNvPicPr preferRelativeResize="0"/>
          <p:nvPr/>
        </p:nvPicPr>
        <p:blipFill>
          <a:blip r:embed="rId3">
            <a:alphaModFix/>
          </a:blip>
          <a:stretch>
            <a:fillRect/>
          </a:stretch>
        </p:blipFill>
        <p:spPr>
          <a:xfrm>
            <a:off x="566925" y="1645925"/>
            <a:ext cx="8275325" cy="4114799"/>
          </a:xfrm>
          <a:prstGeom prst="rect">
            <a:avLst/>
          </a:prstGeom>
          <a:solidFill>
            <a:srgbClr val="FBFCFE"/>
          </a:solidFill>
          <a:ln cap="flat" cmpd="sng" w="19050">
            <a:solidFill>
              <a:srgbClr val="3F6C9E"/>
            </a:solidFill>
            <a:prstDash val="dash"/>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6"/>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DISEÑO DE INTERFAZ</a:t>
            </a:r>
            <a:endParaRPr sz="1100">
              <a:solidFill>
                <a:schemeClr val="dk1"/>
              </a:solidFill>
              <a:latin typeface="Calibri"/>
              <a:ea typeface="Calibri"/>
              <a:cs typeface="Calibri"/>
              <a:sym typeface="Calibri"/>
            </a:endParaRPr>
          </a:p>
        </p:txBody>
      </p:sp>
      <p:sp>
        <p:nvSpPr>
          <p:cNvPr id="143" name="Google Shape;143;p6"/>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Mockups tentativos</a:t>
            </a:r>
            <a:endParaRPr sz="2900">
              <a:solidFill>
                <a:schemeClr val="dk1"/>
              </a:solidFill>
              <a:latin typeface="Calibri"/>
              <a:ea typeface="Calibri"/>
              <a:cs typeface="Calibri"/>
              <a:sym typeface="Calibri"/>
            </a:endParaRPr>
          </a:p>
        </p:txBody>
      </p:sp>
      <p:sp>
        <p:nvSpPr>
          <p:cNvPr id="144" name="Google Shape;144;p6"/>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145" name="Google Shape;145;p6"/>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0:50   ·   6</a:t>
            </a:r>
            <a:endParaRPr sz="950">
              <a:solidFill>
                <a:schemeClr val="dk1"/>
              </a:solidFill>
              <a:latin typeface="Calibri"/>
              <a:ea typeface="Calibri"/>
              <a:cs typeface="Calibri"/>
              <a:sym typeface="Calibri"/>
            </a:endParaRPr>
          </a:p>
        </p:txBody>
      </p:sp>
      <p:pic>
        <p:nvPicPr>
          <p:cNvPr descr="img/ot.png" id="146" name="Google Shape;146;p6"/>
          <p:cNvPicPr preferRelativeResize="0"/>
          <p:nvPr/>
        </p:nvPicPr>
        <p:blipFill rotWithShape="1">
          <a:blip r:embed="rId3">
            <a:alphaModFix/>
          </a:blip>
          <a:srcRect b="0" l="0" r="0" t="0"/>
          <a:stretch/>
        </p:blipFill>
        <p:spPr>
          <a:xfrm>
            <a:off x="1289304" y="1618488"/>
            <a:ext cx="3349374" cy="3703320"/>
          </a:xfrm>
          <a:prstGeom prst="rect">
            <a:avLst/>
          </a:prstGeom>
          <a:noFill/>
          <a:ln>
            <a:noFill/>
          </a:ln>
        </p:spPr>
      </p:pic>
      <p:sp>
        <p:nvSpPr>
          <p:cNvPr id="147" name="Google Shape;147;p6"/>
          <p:cNvSpPr/>
          <p:nvPr/>
        </p:nvSpPr>
        <p:spPr>
          <a:xfrm>
            <a:off x="1289304" y="1618488"/>
            <a:ext cx="3349374" cy="3703320"/>
          </a:xfrm>
          <a:prstGeom prst="rect">
            <a:avLst/>
          </a:prstGeom>
          <a:solidFill>
            <a:srgbClr val="FFFFFF">
              <a:alpha val="0"/>
            </a:srgbClr>
          </a:solidFill>
          <a:ln cap="flat" cmpd="sng" w="12700">
            <a:solidFill>
              <a:srgbClr val="DC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g/manifiesto.png" id="148" name="Google Shape;148;p6"/>
          <p:cNvPicPr preferRelativeResize="0"/>
          <p:nvPr/>
        </p:nvPicPr>
        <p:blipFill rotWithShape="1">
          <a:blip r:embed="rId4">
            <a:alphaModFix/>
          </a:blip>
          <a:srcRect b="0" l="0" r="0" t="0"/>
          <a:stretch/>
        </p:blipFill>
        <p:spPr>
          <a:xfrm>
            <a:off x="5141598" y="2715589"/>
            <a:ext cx="4206240" cy="2606219"/>
          </a:xfrm>
          <a:prstGeom prst="rect">
            <a:avLst/>
          </a:prstGeom>
          <a:noFill/>
          <a:ln>
            <a:noFill/>
          </a:ln>
        </p:spPr>
      </p:pic>
      <p:sp>
        <p:nvSpPr>
          <p:cNvPr id="149" name="Google Shape;149;p6"/>
          <p:cNvSpPr/>
          <p:nvPr/>
        </p:nvSpPr>
        <p:spPr>
          <a:xfrm>
            <a:off x="5141598" y="2715589"/>
            <a:ext cx="4206240" cy="2606219"/>
          </a:xfrm>
          <a:prstGeom prst="rect">
            <a:avLst/>
          </a:prstGeom>
          <a:solidFill>
            <a:srgbClr val="FFFFFF">
              <a:alpha val="0"/>
            </a:srgbClr>
          </a:solidFill>
          <a:ln cap="flat" cmpd="sng" w="12700">
            <a:solidFill>
              <a:srgbClr val="DCE3E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0" name="Google Shape;150;p6"/>
          <p:cNvSpPr/>
          <p:nvPr/>
        </p:nvSpPr>
        <p:spPr>
          <a:xfrm>
            <a:off x="9768462" y="1536192"/>
            <a:ext cx="1231279" cy="3867912"/>
          </a:xfrm>
          <a:prstGeom prst="roundRect">
            <a:avLst>
              <a:gd fmla="val 8912" name="adj"/>
            </a:avLst>
          </a:prstGeom>
          <a:solidFill>
            <a:srgbClr val="1E2761"/>
          </a:solidFill>
          <a:ln cap="flat" cmpd="sng" w="12700">
            <a:solidFill>
              <a:srgbClr val="1E2761"/>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img/movil.png" id="151" name="Google Shape;151;p6"/>
          <p:cNvPicPr preferRelativeResize="0"/>
          <p:nvPr/>
        </p:nvPicPr>
        <p:blipFill rotWithShape="1">
          <a:blip r:embed="rId5">
            <a:alphaModFix/>
          </a:blip>
          <a:srcRect b="0" l="0" r="0" t="0"/>
          <a:stretch/>
        </p:blipFill>
        <p:spPr>
          <a:xfrm>
            <a:off x="9850758" y="1618488"/>
            <a:ext cx="1066687" cy="3703320"/>
          </a:xfrm>
          <a:prstGeom prst="rect">
            <a:avLst/>
          </a:prstGeom>
          <a:noFill/>
          <a:ln>
            <a:noFill/>
          </a:ln>
        </p:spPr>
      </p:pic>
      <p:sp>
        <p:nvSpPr>
          <p:cNvPr id="152" name="Google Shape;152;p6"/>
          <p:cNvSpPr/>
          <p:nvPr/>
        </p:nvSpPr>
        <p:spPr>
          <a:xfrm>
            <a:off x="1289304" y="5440680"/>
            <a:ext cx="3349374"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Ficha de orden de transporte</a:t>
            </a:r>
            <a:endParaRPr sz="1250">
              <a:solidFill>
                <a:schemeClr val="dk1"/>
              </a:solidFill>
              <a:latin typeface="Calibri"/>
              <a:ea typeface="Calibri"/>
              <a:cs typeface="Calibri"/>
              <a:sym typeface="Calibri"/>
            </a:endParaRPr>
          </a:p>
        </p:txBody>
      </p:sp>
      <p:sp>
        <p:nvSpPr>
          <p:cNvPr id="153" name="Google Shape;153;p6"/>
          <p:cNvSpPr/>
          <p:nvPr/>
        </p:nvSpPr>
        <p:spPr>
          <a:xfrm>
            <a:off x="1289304" y="5687568"/>
            <a:ext cx="3349374" cy="384048"/>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5A6478"/>
              </a:buClr>
              <a:buSzPts val="1050"/>
              <a:buFont typeface="Calibri"/>
              <a:buNone/>
            </a:pPr>
            <a:r>
              <a:rPr lang="en-US" sz="1050">
                <a:solidFill>
                  <a:srgbClr val="5A6478"/>
                </a:solidFill>
                <a:latin typeface="Calibri"/>
                <a:ea typeface="Calibri"/>
                <a:cs typeface="Calibri"/>
                <a:sym typeface="Calibri"/>
              </a:rPr>
              <a:t>El historial registra usuario, fecha y hora de cada acción</a:t>
            </a:r>
            <a:endParaRPr sz="1050">
              <a:solidFill>
                <a:schemeClr val="dk1"/>
              </a:solidFill>
              <a:latin typeface="Calibri"/>
              <a:ea typeface="Calibri"/>
              <a:cs typeface="Calibri"/>
              <a:sym typeface="Calibri"/>
            </a:endParaRPr>
          </a:p>
        </p:txBody>
      </p:sp>
      <p:sp>
        <p:nvSpPr>
          <p:cNvPr id="154" name="Google Shape;154;p6"/>
          <p:cNvSpPr/>
          <p:nvPr/>
        </p:nvSpPr>
        <p:spPr>
          <a:xfrm>
            <a:off x="5141598" y="5440680"/>
            <a:ext cx="420624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Manifiesto de carga</a:t>
            </a:r>
            <a:endParaRPr sz="1250">
              <a:solidFill>
                <a:schemeClr val="dk1"/>
              </a:solidFill>
              <a:latin typeface="Calibri"/>
              <a:ea typeface="Calibri"/>
              <a:cs typeface="Calibri"/>
              <a:sym typeface="Calibri"/>
            </a:endParaRPr>
          </a:p>
        </p:txBody>
      </p:sp>
      <p:sp>
        <p:nvSpPr>
          <p:cNvPr id="155" name="Google Shape;155;p6"/>
          <p:cNvSpPr/>
          <p:nvPr/>
        </p:nvSpPr>
        <p:spPr>
          <a:xfrm>
            <a:off x="5141598" y="5687568"/>
            <a:ext cx="4206240" cy="384048"/>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5A6478"/>
              </a:buClr>
              <a:buSzPts val="1050"/>
              <a:buFont typeface="Calibri"/>
              <a:buNone/>
            </a:pPr>
            <a:r>
              <a:rPr lang="en-US" sz="1050">
                <a:solidFill>
                  <a:srgbClr val="5A6478"/>
                </a:solidFill>
                <a:latin typeface="Calibri"/>
                <a:ea typeface="Calibri"/>
                <a:cs typeface="Calibri"/>
                <a:sym typeface="Calibri"/>
              </a:rPr>
              <a:t>Conductor, vehículo, ruta y verificación de bultos y kilos</a:t>
            </a:r>
            <a:endParaRPr sz="1050">
              <a:solidFill>
                <a:schemeClr val="dk1"/>
              </a:solidFill>
              <a:latin typeface="Calibri"/>
              <a:ea typeface="Calibri"/>
              <a:cs typeface="Calibri"/>
              <a:sym typeface="Calibri"/>
            </a:endParaRPr>
          </a:p>
        </p:txBody>
      </p:sp>
      <p:sp>
        <p:nvSpPr>
          <p:cNvPr id="156" name="Google Shape;156;p6"/>
          <p:cNvSpPr/>
          <p:nvPr/>
        </p:nvSpPr>
        <p:spPr>
          <a:xfrm>
            <a:off x="8921062" y="5440680"/>
            <a:ext cx="2926080" cy="25603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Seguimiento en teléfono</a:t>
            </a:r>
            <a:endParaRPr sz="1250">
              <a:solidFill>
                <a:schemeClr val="dk1"/>
              </a:solidFill>
              <a:latin typeface="Calibri"/>
              <a:ea typeface="Calibri"/>
              <a:cs typeface="Calibri"/>
              <a:sym typeface="Calibri"/>
            </a:endParaRPr>
          </a:p>
        </p:txBody>
      </p:sp>
      <p:sp>
        <p:nvSpPr>
          <p:cNvPr id="157" name="Google Shape;157;p6"/>
          <p:cNvSpPr/>
          <p:nvPr/>
        </p:nvSpPr>
        <p:spPr>
          <a:xfrm>
            <a:off x="8921062" y="5687568"/>
            <a:ext cx="2926080" cy="384048"/>
          </a:xfrm>
          <a:prstGeom prst="rect">
            <a:avLst/>
          </a:prstGeom>
          <a:noFill/>
          <a:ln>
            <a:noFill/>
          </a:ln>
        </p:spPr>
        <p:txBody>
          <a:bodyPr anchorCtr="0" anchor="ctr" bIns="0" lIns="0" spcFirstLastPara="1" rIns="0" wrap="square" tIns="0">
            <a:noAutofit/>
          </a:bodyPr>
          <a:lstStyle/>
          <a:p>
            <a:pPr indent="0" lvl="0" marL="0" marR="0" rtl="0" algn="ctr">
              <a:lnSpc>
                <a:spcPct val="123809"/>
              </a:lnSpc>
              <a:spcBef>
                <a:spcPts val="0"/>
              </a:spcBef>
              <a:spcAft>
                <a:spcPts val="0"/>
              </a:spcAft>
              <a:buClr>
                <a:srgbClr val="5A6478"/>
              </a:buClr>
              <a:buSzPts val="1050"/>
              <a:buFont typeface="Calibri"/>
              <a:buNone/>
            </a:pPr>
            <a:r>
              <a:rPr lang="en-US" sz="1050">
                <a:solidFill>
                  <a:srgbClr val="5A6478"/>
                </a:solidFill>
                <a:latin typeface="Calibri"/>
                <a:ea typeface="Calibri"/>
                <a:cs typeface="Calibri"/>
                <a:sym typeface="Calibri"/>
              </a:rPr>
              <a:t>Consulta pública por número de orden, sin cuenta</a:t>
            </a:r>
            <a:endParaRPr sz="10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7"/>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METODOLOGÍA DE TRABAJO</a:t>
            </a:r>
            <a:endParaRPr sz="1100">
              <a:solidFill>
                <a:schemeClr val="dk1"/>
              </a:solidFill>
              <a:latin typeface="Calibri"/>
              <a:ea typeface="Calibri"/>
              <a:cs typeface="Calibri"/>
              <a:sym typeface="Calibri"/>
            </a:endParaRPr>
          </a:p>
        </p:txBody>
      </p:sp>
      <p:sp>
        <p:nvSpPr>
          <p:cNvPr id="164" name="Google Shape;164;p7"/>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Scrum adaptado a un equipo de dos</a:t>
            </a:r>
            <a:endParaRPr sz="2900">
              <a:solidFill>
                <a:schemeClr val="dk1"/>
              </a:solidFill>
              <a:latin typeface="Calibri"/>
              <a:ea typeface="Calibri"/>
              <a:cs typeface="Calibri"/>
              <a:sym typeface="Calibri"/>
            </a:endParaRPr>
          </a:p>
        </p:txBody>
      </p:sp>
      <p:sp>
        <p:nvSpPr>
          <p:cNvPr id="165" name="Google Shape;165;p7"/>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166" name="Google Shape;166;p7"/>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1:00   ·   7</a:t>
            </a:r>
            <a:endParaRPr sz="950">
              <a:solidFill>
                <a:schemeClr val="dk1"/>
              </a:solidFill>
              <a:latin typeface="Calibri"/>
              <a:ea typeface="Calibri"/>
              <a:cs typeface="Calibri"/>
              <a:sym typeface="Calibri"/>
            </a:endParaRPr>
          </a:p>
        </p:txBody>
      </p:sp>
      <p:sp>
        <p:nvSpPr>
          <p:cNvPr id="167" name="Google Shape;167;p7"/>
          <p:cNvSpPr/>
          <p:nvPr/>
        </p:nvSpPr>
        <p:spPr>
          <a:xfrm>
            <a:off x="566928" y="1554480"/>
            <a:ext cx="5394960" cy="1874520"/>
          </a:xfrm>
          <a:prstGeom prst="roundRect">
            <a:avLst>
              <a:gd fmla="val 2927"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8" name="Google Shape;168;p7"/>
          <p:cNvSpPr/>
          <p:nvPr/>
        </p:nvSpPr>
        <p:spPr>
          <a:xfrm>
            <a:off x="886968" y="1783080"/>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Por qué Scrum</a:t>
            </a:r>
            <a:endParaRPr sz="1500">
              <a:solidFill>
                <a:schemeClr val="dk1"/>
              </a:solidFill>
              <a:latin typeface="Calibri"/>
              <a:ea typeface="Calibri"/>
              <a:cs typeface="Calibri"/>
              <a:sym typeface="Calibri"/>
            </a:endParaRPr>
          </a:p>
        </p:txBody>
      </p:sp>
      <p:sp>
        <p:nvSpPr>
          <p:cNvPr id="169" name="Google Shape;169;p7"/>
          <p:cNvSpPr/>
          <p:nvPr/>
        </p:nvSpPr>
        <p:spPr>
          <a:xfrm>
            <a:off x="886968" y="2148840"/>
            <a:ext cx="4754880" cy="11430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5A6478"/>
              </a:buClr>
              <a:buSzPts val="1250"/>
              <a:buFont typeface="Calibri"/>
              <a:buNone/>
            </a:pPr>
            <a:r>
              <a:rPr lang="en-US" sz="1250">
                <a:solidFill>
                  <a:srgbClr val="5A6478"/>
                </a:solidFill>
                <a:latin typeface="Calibri"/>
                <a:ea typeface="Calibri"/>
                <a:cs typeface="Calibri"/>
                <a:sym typeface="Calibri"/>
              </a:rPr>
              <a:t>Marco ágil de desarrollo iterativo e incremental. Cada sprint entrega un módulo funcional que se prueba y valida antes de integrarse, lo que permite ajustar el alcance sin comprometer el núcleo del sistema.</a:t>
            </a:r>
            <a:endParaRPr sz="1250">
              <a:solidFill>
                <a:schemeClr val="dk1"/>
              </a:solidFill>
              <a:latin typeface="Calibri"/>
              <a:ea typeface="Calibri"/>
              <a:cs typeface="Calibri"/>
              <a:sym typeface="Calibri"/>
            </a:endParaRPr>
          </a:p>
        </p:txBody>
      </p:sp>
      <p:sp>
        <p:nvSpPr>
          <p:cNvPr id="170" name="Google Shape;170;p7"/>
          <p:cNvSpPr/>
          <p:nvPr/>
        </p:nvSpPr>
        <p:spPr>
          <a:xfrm>
            <a:off x="566928" y="3657600"/>
            <a:ext cx="5394960" cy="2103120"/>
          </a:xfrm>
          <a:prstGeom prst="roundRect">
            <a:avLst>
              <a:gd fmla="val 2609"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1" name="Google Shape;171;p7"/>
          <p:cNvSpPr/>
          <p:nvPr/>
        </p:nvSpPr>
        <p:spPr>
          <a:xfrm>
            <a:off x="886968" y="3886200"/>
            <a:ext cx="47548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Roles adaptados</a:t>
            </a:r>
            <a:endParaRPr sz="1500">
              <a:solidFill>
                <a:schemeClr val="dk1"/>
              </a:solidFill>
              <a:latin typeface="Calibri"/>
              <a:ea typeface="Calibri"/>
              <a:cs typeface="Calibri"/>
              <a:sym typeface="Calibri"/>
            </a:endParaRPr>
          </a:p>
        </p:txBody>
      </p:sp>
      <p:sp>
        <p:nvSpPr>
          <p:cNvPr id="172" name="Google Shape;172;p7"/>
          <p:cNvSpPr/>
          <p:nvPr/>
        </p:nvSpPr>
        <p:spPr>
          <a:xfrm>
            <a:off x="886968" y="4279392"/>
            <a:ext cx="4754880" cy="384048"/>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Product Owner: </a:t>
            </a:r>
            <a:r>
              <a:rPr lang="en-US" sz="1150">
                <a:solidFill>
                  <a:srgbClr val="5A6478"/>
                </a:solidFill>
                <a:latin typeface="Calibri"/>
                <a:ea typeface="Calibri"/>
                <a:cs typeface="Calibri"/>
                <a:sym typeface="Calibri"/>
              </a:rPr>
              <a:t>Contraparte de Transportes Marexpress</a:t>
            </a:r>
            <a:endParaRPr sz="1150">
              <a:solidFill>
                <a:schemeClr val="dk1"/>
              </a:solidFill>
              <a:latin typeface="Calibri"/>
              <a:ea typeface="Calibri"/>
              <a:cs typeface="Calibri"/>
              <a:sym typeface="Calibri"/>
            </a:endParaRPr>
          </a:p>
        </p:txBody>
      </p:sp>
      <p:sp>
        <p:nvSpPr>
          <p:cNvPr id="173" name="Google Shape;173;p7"/>
          <p:cNvSpPr/>
          <p:nvPr/>
        </p:nvSpPr>
        <p:spPr>
          <a:xfrm>
            <a:off x="886968" y="4736592"/>
            <a:ext cx="4754880" cy="384048"/>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Equipo de desarrollo: </a:t>
            </a:r>
            <a:r>
              <a:rPr lang="en-US" sz="1150">
                <a:solidFill>
                  <a:srgbClr val="5A6478"/>
                </a:solidFill>
                <a:latin typeface="Calibri"/>
                <a:ea typeface="Calibri"/>
                <a:cs typeface="Calibri"/>
                <a:sym typeface="Calibri"/>
              </a:rPr>
              <a:t>Raúl Roa y Benjamín Sandoval</a:t>
            </a:r>
            <a:endParaRPr sz="1150">
              <a:solidFill>
                <a:schemeClr val="dk1"/>
              </a:solidFill>
              <a:latin typeface="Calibri"/>
              <a:ea typeface="Calibri"/>
              <a:cs typeface="Calibri"/>
              <a:sym typeface="Calibri"/>
            </a:endParaRPr>
          </a:p>
        </p:txBody>
      </p:sp>
      <p:sp>
        <p:nvSpPr>
          <p:cNvPr id="174" name="Google Shape;174;p7"/>
          <p:cNvSpPr/>
          <p:nvPr/>
        </p:nvSpPr>
        <p:spPr>
          <a:xfrm>
            <a:off x="886968" y="5193792"/>
            <a:ext cx="4754880" cy="384048"/>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Facilitación: </a:t>
            </a:r>
            <a:r>
              <a:rPr lang="en-US" sz="1150">
                <a:solidFill>
                  <a:srgbClr val="5A6478"/>
                </a:solidFill>
                <a:latin typeface="Calibri"/>
                <a:ea typeface="Calibri"/>
                <a:cs typeface="Calibri"/>
                <a:sym typeface="Calibri"/>
              </a:rPr>
              <a:t>Rotativa entre ambos; no hay Scrum Master dedicado</a:t>
            </a:r>
            <a:endParaRPr sz="1150">
              <a:solidFill>
                <a:schemeClr val="dk1"/>
              </a:solidFill>
              <a:latin typeface="Calibri"/>
              <a:ea typeface="Calibri"/>
              <a:cs typeface="Calibri"/>
              <a:sym typeface="Calibri"/>
            </a:endParaRPr>
          </a:p>
        </p:txBody>
      </p:sp>
      <p:sp>
        <p:nvSpPr>
          <p:cNvPr id="175" name="Google Shape;175;p7"/>
          <p:cNvSpPr/>
          <p:nvPr/>
        </p:nvSpPr>
        <p:spPr>
          <a:xfrm>
            <a:off x="6263640" y="1554480"/>
            <a:ext cx="5358384" cy="4206240"/>
          </a:xfrm>
          <a:prstGeom prst="roundRect">
            <a:avLst>
              <a:gd fmla="val 1304"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7"/>
          <p:cNvSpPr/>
          <p:nvPr/>
        </p:nvSpPr>
        <p:spPr>
          <a:xfrm>
            <a:off x="6583680" y="1783080"/>
            <a:ext cx="471830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Cómo se ejecuta</a:t>
            </a:r>
            <a:endParaRPr sz="1500">
              <a:solidFill>
                <a:schemeClr val="dk1"/>
              </a:solidFill>
              <a:latin typeface="Calibri"/>
              <a:ea typeface="Calibri"/>
              <a:cs typeface="Calibri"/>
              <a:sym typeface="Calibri"/>
            </a:endParaRPr>
          </a:p>
        </p:txBody>
      </p:sp>
      <p:sp>
        <p:nvSpPr>
          <p:cNvPr id="177" name="Google Shape;177;p7"/>
          <p:cNvSpPr/>
          <p:nvPr/>
        </p:nvSpPr>
        <p:spPr>
          <a:xfrm>
            <a:off x="6583680" y="2240280"/>
            <a:ext cx="329184" cy="329184"/>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8" name="Google Shape;178;p7"/>
          <p:cNvSpPr/>
          <p:nvPr/>
        </p:nvSpPr>
        <p:spPr>
          <a:xfrm>
            <a:off x="6583680" y="224028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1</a:t>
            </a:r>
            <a:endParaRPr sz="1300">
              <a:solidFill>
                <a:schemeClr val="dk1"/>
              </a:solidFill>
              <a:latin typeface="Calibri"/>
              <a:ea typeface="Calibri"/>
              <a:cs typeface="Calibri"/>
              <a:sym typeface="Calibri"/>
            </a:endParaRPr>
          </a:p>
        </p:txBody>
      </p:sp>
      <p:sp>
        <p:nvSpPr>
          <p:cNvPr id="179" name="Google Shape;179;p7"/>
          <p:cNvSpPr/>
          <p:nvPr/>
        </p:nvSpPr>
        <p:spPr>
          <a:xfrm>
            <a:off x="7040880" y="2194560"/>
            <a:ext cx="4297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Sprints de 2 semanas</a:t>
            </a:r>
            <a:endParaRPr sz="1300">
              <a:solidFill>
                <a:schemeClr val="dk1"/>
              </a:solidFill>
              <a:latin typeface="Calibri"/>
              <a:ea typeface="Calibri"/>
              <a:cs typeface="Calibri"/>
              <a:sym typeface="Calibri"/>
            </a:endParaRPr>
          </a:p>
        </p:txBody>
      </p:sp>
      <p:sp>
        <p:nvSpPr>
          <p:cNvPr id="180" name="Google Shape;180;p7"/>
          <p:cNvSpPr/>
          <p:nvPr/>
        </p:nvSpPr>
        <p:spPr>
          <a:xfrm>
            <a:off x="7040880" y="2450592"/>
            <a:ext cx="4297680" cy="329184"/>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8 sprints en las 17 semanas del proyecto</a:t>
            </a:r>
            <a:endParaRPr sz="1150">
              <a:solidFill>
                <a:schemeClr val="dk1"/>
              </a:solidFill>
              <a:latin typeface="Calibri"/>
              <a:ea typeface="Calibri"/>
              <a:cs typeface="Calibri"/>
              <a:sym typeface="Calibri"/>
            </a:endParaRPr>
          </a:p>
        </p:txBody>
      </p:sp>
      <p:sp>
        <p:nvSpPr>
          <p:cNvPr id="181" name="Google Shape;181;p7"/>
          <p:cNvSpPr/>
          <p:nvPr/>
        </p:nvSpPr>
        <p:spPr>
          <a:xfrm>
            <a:off x="6583680" y="2862072"/>
            <a:ext cx="329184" cy="329184"/>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2" name="Google Shape;182;p7"/>
          <p:cNvSpPr/>
          <p:nvPr/>
        </p:nvSpPr>
        <p:spPr>
          <a:xfrm>
            <a:off x="6583680" y="2862072"/>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2</a:t>
            </a:r>
            <a:endParaRPr sz="1300">
              <a:solidFill>
                <a:schemeClr val="dk1"/>
              </a:solidFill>
              <a:latin typeface="Calibri"/>
              <a:ea typeface="Calibri"/>
              <a:cs typeface="Calibri"/>
              <a:sym typeface="Calibri"/>
            </a:endParaRPr>
          </a:p>
        </p:txBody>
      </p:sp>
      <p:sp>
        <p:nvSpPr>
          <p:cNvPr id="183" name="Google Shape;183;p7"/>
          <p:cNvSpPr/>
          <p:nvPr/>
        </p:nvSpPr>
        <p:spPr>
          <a:xfrm>
            <a:off x="7040880" y="2816352"/>
            <a:ext cx="4297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Planificación de sprint</a:t>
            </a:r>
            <a:endParaRPr sz="1300">
              <a:solidFill>
                <a:schemeClr val="dk1"/>
              </a:solidFill>
              <a:latin typeface="Calibri"/>
              <a:ea typeface="Calibri"/>
              <a:cs typeface="Calibri"/>
              <a:sym typeface="Calibri"/>
            </a:endParaRPr>
          </a:p>
        </p:txBody>
      </p:sp>
      <p:sp>
        <p:nvSpPr>
          <p:cNvPr id="184" name="Google Shape;184;p7"/>
          <p:cNvSpPr/>
          <p:nvPr/>
        </p:nvSpPr>
        <p:spPr>
          <a:xfrm>
            <a:off x="7040880" y="3072384"/>
            <a:ext cx="4297680" cy="329184"/>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Se selecciona el módulo y se descompone en tareas</a:t>
            </a:r>
            <a:endParaRPr sz="1150">
              <a:solidFill>
                <a:schemeClr val="dk1"/>
              </a:solidFill>
              <a:latin typeface="Calibri"/>
              <a:ea typeface="Calibri"/>
              <a:cs typeface="Calibri"/>
              <a:sym typeface="Calibri"/>
            </a:endParaRPr>
          </a:p>
        </p:txBody>
      </p:sp>
      <p:sp>
        <p:nvSpPr>
          <p:cNvPr id="185" name="Google Shape;185;p7"/>
          <p:cNvSpPr/>
          <p:nvPr/>
        </p:nvSpPr>
        <p:spPr>
          <a:xfrm>
            <a:off x="6583680" y="3483864"/>
            <a:ext cx="329184" cy="329184"/>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7"/>
          <p:cNvSpPr/>
          <p:nvPr/>
        </p:nvSpPr>
        <p:spPr>
          <a:xfrm>
            <a:off x="6583680" y="3483864"/>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3</a:t>
            </a:r>
            <a:endParaRPr sz="1300">
              <a:solidFill>
                <a:schemeClr val="dk1"/>
              </a:solidFill>
              <a:latin typeface="Calibri"/>
              <a:ea typeface="Calibri"/>
              <a:cs typeface="Calibri"/>
              <a:sym typeface="Calibri"/>
            </a:endParaRPr>
          </a:p>
        </p:txBody>
      </p:sp>
      <p:sp>
        <p:nvSpPr>
          <p:cNvPr id="187" name="Google Shape;187;p7"/>
          <p:cNvSpPr/>
          <p:nvPr/>
        </p:nvSpPr>
        <p:spPr>
          <a:xfrm>
            <a:off x="7040880" y="3438144"/>
            <a:ext cx="4297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Sincronización breve</a:t>
            </a:r>
            <a:endParaRPr sz="1300">
              <a:solidFill>
                <a:schemeClr val="dk1"/>
              </a:solidFill>
              <a:latin typeface="Calibri"/>
              <a:ea typeface="Calibri"/>
              <a:cs typeface="Calibri"/>
              <a:sym typeface="Calibri"/>
            </a:endParaRPr>
          </a:p>
        </p:txBody>
      </p:sp>
      <p:sp>
        <p:nvSpPr>
          <p:cNvPr id="188" name="Google Shape;188;p7"/>
          <p:cNvSpPr/>
          <p:nvPr/>
        </p:nvSpPr>
        <p:spPr>
          <a:xfrm>
            <a:off x="7040880" y="3694176"/>
            <a:ext cx="4297680" cy="329184"/>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Dos veces por semana, por la carga académica</a:t>
            </a:r>
            <a:endParaRPr sz="1150">
              <a:solidFill>
                <a:schemeClr val="dk1"/>
              </a:solidFill>
              <a:latin typeface="Calibri"/>
              <a:ea typeface="Calibri"/>
              <a:cs typeface="Calibri"/>
              <a:sym typeface="Calibri"/>
            </a:endParaRPr>
          </a:p>
        </p:txBody>
      </p:sp>
      <p:sp>
        <p:nvSpPr>
          <p:cNvPr id="189" name="Google Shape;189;p7"/>
          <p:cNvSpPr/>
          <p:nvPr/>
        </p:nvSpPr>
        <p:spPr>
          <a:xfrm>
            <a:off x="6583680" y="4105656"/>
            <a:ext cx="329184" cy="329184"/>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0" name="Google Shape;190;p7"/>
          <p:cNvSpPr/>
          <p:nvPr/>
        </p:nvSpPr>
        <p:spPr>
          <a:xfrm>
            <a:off x="6583680" y="4105656"/>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4</a:t>
            </a:r>
            <a:endParaRPr sz="1300">
              <a:solidFill>
                <a:schemeClr val="dk1"/>
              </a:solidFill>
              <a:latin typeface="Calibri"/>
              <a:ea typeface="Calibri"/>
              <a:cs typeface="Calibri"/>
              <a:sym typeface="Calibri"/>
            </a:endParaRPr>
          </a:p>
        </p:txBody>
      </p:sp>
      <p:sp>
        <p:nvSpPr>
          <p:cNvPr id="191" name="Google Shape;191;p7"/>
          <p:cNvSpPr/>
          <p:nvPr/>
        </p:nvSpPr>
        <p:spPr>
          <a:xfrm>
            <a:off x="7040880" y="4059936"/>
            <a:ext cx="4297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Revisión de sprint</a:t>
            </a:r>
            <a:endParaRPr sz="1300">
              <a:solidFill>
                <a:schemeClr val="dk1"/>
              </a:solidFill>
              <a:latin typeface="Calibri"/>
              <a:ea typeface="Calibri"/>
              <a:cs typeface="Calibri"/>
              <a:sym typeface="Calibri"/>
            </a:endParaRPr>
          </a:p>
        </p:txBody>
      </p:sp>
      <p:sp>
        <p:nvSpPr>
          <p:cNvPr id="192" name="Google Shape;192;p7"/>
          <p:cNvSpPr/>
          <p:nvPr/>
        </p:nvSpPr>
        <p:spPr>
          <a:xfrm>
            <a:off x="7040880" y="4315968"/>
            <a:ext cx="4297680" cy="329184"/>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Se demuestra el incremento funcionando</a:t>
            </a:r>
            <a:endParaRPr sz="1150">
              <a:solidFill>
                <a:schemeClr val="dk1"/>
              </a:solidFill>
              <a:latin typeface="Calibri"/>
              <a:ea typeface="Calibri"/>
              <a:cs typeface="Calibri"/>
              <a:sym typeface="Calibri"/>
            </a:endParaRPr>
          </a:p>
        </p:txBody>
      </p:sp>
      <p:sp>
        <p:nvSpPr>
          <p:cNvPr id="193" name="Google Shape;193;p7"/>
          <p:cNvSpPr/>
          <p:nvPr/>
        </p:nvSpPr>
        <p:spPr>
          <a:xfrm>
            <a:off x="6583680" y="4727448"/>
            <a:ext cx="329184" cy="329184"/>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94" name="Google Shape;194;p7"/>
          <p:cNvSpPr/>
          <p:nvPr/>
        </p:nvSpPr>
        <p:spPr>
          <a:xfrm>
            <a:off x="6583680" y="4727448"/>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5</a:t>
            </a:r>
            <a:endParaRPr sz="1300">
              <a:solidFill>
                <a:schemeClr val="dk1"/>
              </a:solidFill>
              <a:latin typeface="Calibri"/>
              <a:ea typeface="Calibri"/>
              <a:cs typeface="Calibri"/>
              <a:sym typeface="Calibri"/>
            </a:endParaRPr>
          </a:p>
        </p:txBody>
      </p:sp>
      <p:sp>
        <p:nvSpPr>
          <p:cNvPr id="195" name="Google Shape;195;p7"/>
          <p:cNvSpPr/>
          <p:nvPr/>
        </p:nvSpPr>
        <p:spPr>
          <a:xfrm>
            <a:off x="7040880" y="4681728"/>
            <a:ext cx="429768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Retrospectiva</a:t>
            </a:r>
            <a:endParaRPr sz="1300">
              <a:solidFill>
                <a:schemeClr val="dk1"/>
              </a:solidFill>
              <a:latin typeface="Calibri"/>
              <a:ea typeface="Calibri"/>
              <a:cs typeface="Calibri"/>
              <a:sym typeface="Calibri"/>
            </a:endParaRPr>
          </a:p>
        </p:txBody>
      </p:sp>
      <p:sp>
        <p:nvSpPr>
          <p:cNvPr id="196" name="Google Shape;196;p7"/>
          <p:cNvSpPr/>
          <p:nvPr/>
        </p:nvSpPr>
        <p:spPr>
          <a:xfrm>
            <a:off x="7040880" y="4937760"/>
            <a:ext cx="4297680" cy="329184"/>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Ajustes de alcance y de forma de trabajo</a:t>
            </a:r>
            <a:endParaRPr sz="1150">
              <a:solidFill>
                <a:schemeClr val="dk1"/>
              </a:solidFill>
              <a:latin typeface="Calibri"/>
              <a:ea typeface="Calibri"/>
              <a:cs typeface="Calibri"/>
              <a:sym typeface="Calibri"/>
            </a:endParaRPr>
          </a:p>
        </p:txBody>
      </p:sp>
      <p:sp>
        <p:nvSpPr>
          <p:cNvPr id="197" name="Google Shape;197;p7"/>
          <p:cNvSpPr/>
          <p:nvPr/>
        </p:nvSpPr>
        <p:spPr>
          <a:xfrm>
            <a:off x="6583680" y="5358384"/>
            <a:ext cx="4718304"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1100"/>
              <a:buFont typeface="Calibri"/>
              <a:buNone/>
            </a:pPr>
            <a:r>
              <a:rPr i="1" lang="en-US" sz="1100">
                <a:solidFill>
                  <a:srgbClr val="8A93A3"/>
                </a:solidFill>
                <a:latin typeface="Calibri"/>
                <a:ea typeface="Calibri"/>
                <a:cs typeface="Calibri"/>
                <a:sym typeface="Calibri"/>
              </a:rPr>
              <a:t>Artefactos: product backlog · sprint backlog · incremento funcional por sprint</a:t>
            </a:r>
            <a:endParaRPr sz="110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2" name="Shape 202"/>
        <p:cNvGrpSpPr/>
        <p:nvPr/>
      </p:nvGrpSpPr>
      <p:grpSpPr>
        <a:xfrm>
          <a:off x="0" y="0"/>
          <a:ext cx="0" cy="0"/>
          <a:chOff x="0" y="0"/>
          <a:chExt cx="0" cy="0"/>
        </a:xfrm>
      </p:grpSpPr>
      <p:sp>
        <p:nvSpPr>
          <p:cNvPr id="203" name="Google Shape;203;p8"/>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HERRAMIENTAS DE TRABAJO</a:t>
            </a:r>
            <a:endParaRPr sz="1100">
              <a:solidFill>
                <a:schemeClr val="dk1"/>
              </a:solidFill>
              <a:latin typeface="Calibri"/>
              <a:ea typeface="Calibri"/>
              <a:cs typeface="Calibri"/>
              <a:sym typeface="Calibri"/>
            </a:endParaRPr>
          </a:p>
        </p:txBody>
      </p:sp>
      <p:sp>
        <p:nvSpPr>
          <p:cNvPr id="204" name="Google Shape;204;p8"/>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Tecnologías, repositorio y gestión</a:t>
            </a:r>
            <a:endParaRPr sz="2900">
              <a:solidFill>
                <a:schemeClr val="dk1"/>
              </a:solidFill>
              <a:latin typeface="Calibri"/>
              <a:ea typeface="Calibri"/>
              <a:cs typeface="Calibri"/>
              <a:sym typeface="Calibri"/>
            </a:endParaRPr>
          </a:p>
        </p:txBody>
      </p:sp>
      <p:sp>
        <p:nvSpPr>
          <p:cNvPr id="205" name="Google Shape;205;p8"/>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206" name="Google Shape;206;p8"/>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0:50   ·   8</a:t>
            </a:r>
            <a:endParaRPr sz="950">
              <a:solidFill>
                <a:schemeClr val="dk1"/>
              </a:solidFill>
              <a:latin typeface="Calibri"/>
              <a:ea typeface="Calibri"/>
              <a:cs typeface="Calibri"/>
              <a:sym typeface="Calibri"/>
            </a:endParaRPr>
          </a:p>
        </p:txBody>
      </p:sp>
      <p:sp>
        <p:nvSpPr>
          <p:cNvPr id="207" name="Google Shape;207;p8"/>
          <p:cNvSpPr/>
          <p:nvPr/>
        </p:nvSpPr>
        <p:spPr>
          <a:xfrm>
            <a:off x="566928" y="1600200"/>
            <a:ext cx="3502152" cy="3246120"/>
          </a:xfrm>
          <a:prstGeom prst="roundRect">
            <a:avLst>
              <a:gd fmla="val 169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8"/>
          <p:cNvSpPr/>
          <p:nvPr/>
        </p:nvSpPr>
        <p:spPr>
          <a:xfrm>
            <a:off x="841248" y="1828800"/>
            <a:ext cx="2953512" cy="347472"/>
          </a:xfrm>
          <a:prstGeom prst="roundRect">
            <a:avLst>
              <a:gd fmla="val 50000"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9" name="Google Shape;209;p8"/>
          <p:cNvSpPr/>
          <p:nvPr/>
        </p:nvSpPr>
        <p:spPr>
          <a:xfrm>
            <a:off x="841248" y="1828800"/>
            <a:ext cx="295351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LENGUAJES Y FRAMEWORKS</a:t>
            </a:r>
            <a:endParaRPr sz="1050">
              <a:solidFill>
                <a:schemeClr val="dk1"/>
              </a:solidFill>
              <a:latin typeface="Calibri"/>
              <a:ea typeface="Calibri"/>
              <a:cs typeface="Calibri"/>
              <a:sym typeface="Calibri"/>
            </a:endParaRPr>
          </a:p>
        </p:txBody>
      </p:sp>
      <p:sp>
        <p:nvSpPr>
          <p:cNvPr id="210" name="Google Shape;210;p8"/>
          <p:cNvSpPr/>
          <p:nvPr/>
        </p:nvSpPr>
        <p:spPr>
          <a:xfrm>
            <a:off x="841248" y="237744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JavaScript / TypeScript</a:t>
            </a:r>
            <a:endParaRPr sz="1250">
              <a:solidFill>
                <a:schemeClr val="dk1"/>
              </a:solidFill>
              <a:latin typeface="Calibri"/>
              <a:ea typeface="Calibri"/>
              <a:cs typeface="Calibri"/>
              <a:sym typeface="Calibri"/>
            </a:endParaRPr>
          </a:p>
        </p:txBody>
      </p:sp>
      <p:sp>
        <p:nvSpPr>
          <p:cNvPr id="211" name="Google Shape;211;p8"/>
          <p:cNvSpPr/>
          <p:nvPr/>
        </p:nvSpPr>
        <p:spPr>
          <a:xfrm>
            <a:off x="841248" y="2642616"/>
            <a:ext cx="2971800" cy="41148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Lenguaje base del proyecto</a:t>
            </a:r>
            <a:endParaRPr sz="1150">
              <a:solidFill>
                <a:schemeClr val="dk1"/>
              </a:solidFill>
              <a:latin typeface="Calibri"/>
              <a:ea typeface="Calibri"/>
              <a:cs typeface="Calibri"/>
              <a:sym typeface="Calibri"/>
            </a:endParaRPr>
          </a:p>
        </p:txBody>
      </p:sp>
      <p:sp>
        <p:nvSpPr>
          <p:cNvPr id="212" name="Google Shape;212;p8"/>
          <p:cNvSpPr/>
          <p:nvPr/>
        </p:nvSpPr>
        <p:spPr>
          <a:xfrm>
            <a:off x="841248" y="315468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Node.js</a:t>
            </a:r>
            <a:endParaRPr sz="1250">
              <a:solidFill>
                <a:schemeClr val="dk1"/>
              </a:solidFill>
              <a:latin typeface="Calibri"/>
              <a:ea typeface="Calibri"/>
              <a:cs typeface="Calibri"/>
              <a:sym typeface="Calibri"/>
            </a:endParaRPr>
          </a:p>
        </p:txBody>
      </p:sp>
      <p:sp>
        <p:nvSpPr>
          <p:cNvPr id="213" name="Google Shape;213;p8"/>
          <p:cNvSpPr/>
          <p:nvPr/>
        </p:nvSpPr>
        <p:spPr>
          <a:xfrm>
            <a:off x="841248" y="3419856"/>
            <a:ext cx="2971800" cy="41148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Backend: lógica de negocio, roles y servicios</a:t>
            </a:r>
            <a:endParaRPr sz="1150">
              <a:solidFill>
                <a:schemeClr val="dk1"/>
              </a:solidFill>
              <a:latin typeface="Calibri"/>
              <a:ea typeface="Calibri"/>
              <a:cs typeface="Calibri"/>
              <a:sym typeface="Calibri"/>
            </a:endParaRPr>
          </a:p>
        </p:txBody>
      </p:sp>
      <p:sp>
        <p:nvSpPr>
          <p:cNvPr id="214" name="Google Shape;214;p8"/>
          <p:cNvSpPr/>
          <p:nvPr/>
        </p:nvSpPr>
        <p:spPr>
          <a:xfrm>
            <a:off x="841248" y="393192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React</a:t>
            </a:r>
            <a:endParaRPr sz="1250">
              <a:solidFill>
                <a:schemeClr val="dk1"/>
              </a:solidFill>
              <a:latin typeface="Calibri"/>
              <a:ea typeface="Calibri"/>
              <a:cs typeface="Calibri"/>
              <a:sym typeface="Calibri"/>
            </a:endParaRPr>
          </a:p>
        </p:txBody>
      </p:sp>
      <p:sp>
        <p:nvSpPr>
          <p:cNvPr id="215" name="Google Shape;215;p8"/>
          <p:cNvSpPr/>
          <p:nvPr/>
        </p:nvSpPr>
        <p:spPr>
          <a:xfrm>
            <a:off x="841248" y="4197096"/>
            <a:ext cx="2971800" cy="41148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Interfaz web responsiva</a:t>
            </a:r>
            <a:endParaRPr sz="1150">
              <a:solidFill>
                <a:schemeClr val="dk1"/>
              </a:solidFill>
              <a:latin typeface="Calibri"/>
              <a:ea typeface="Calibri"/>
              <a:cs typeface="Calibri"/>
              <a:sym typeface="Calibri"/>
            </a:endParaRPr>
          </a:p>
        </p:txBody>
      </p:sp>
      <p:sp>
        <p:nvSpPr>
          <p:cNvPr id="216" name="Google Shape;216;p8"/>
          <p:cNvSpPr/>
          <p:nvPr/>
        </p:nvSpPr>
        <p:spPr>
          <a:xfrm>
            <a:off x="4343400" y="1600200"/>
            <a:ext cx="3502152" cy="3246120"/>
          </a:xfrm>
          <a:prstGeom prst="roundRect">
            <a:avLst>
              <a:gd fmla="val 1690"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7" name="Google Shape;217;p8"/>
          <p:cNvSpPr/>
          <p:nvPr/>
        </p:nvSpPr>
        <p:spPr>
          <a:xfrm>
            <a:off x="4617720" y="1828800"/>
            <a:ext cx="2953512" cy="347472"/>
          </a:xfrm>
          <a:prstGeom prst="roundRect">
            <a:avLst>
              <a:gd fmla="val 50000"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8" name="Google Shape;218;p8"/>
          <p:cNvSpPr/>
          <p:nvPr/>
        </p:nvSpPr>
        <p:spPr>
          <a:xfrm>
            <a:off x="4617720" y="1828800"/>
            <a:ext cx="295351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DATOS E INTEGRACIÓN</a:t>
            </a:r>
            <a:endParaRPr sz="1050">
              <a:solidFill>
                <a:schemeClr val="dk1"/>
              </a:solidFill>
              <a:latin typeface="Calibri"/>
              <a:ea typeface="Calibri"/>
              <a:cs typeface="Calibri"/>
              <a:sym typeface="Calibri"/>
            </a:endParaRPr>
          </a:p>
        </p:txBody>
      </p:sp>
      <p:sp>
        <p:nvSpPr>
          <p:cNvPr id="219" name="Google Shape;219;p8"/>
          <p:cNvSpPr/>
          <p:nvPr/>
        </p:nvSpPr>
        <p:spPr>
          <a:xfrm>
            <a:off x="4617720" y="237744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MySQL + Workbench</a:t>
            </a:r>
            <a:endParaRPr sz="1250">
              <a:solidFill>
                <a:schemeClr val="dk1"/>
              </a:solidFill>
              <a:latin typeface="Calibri"/>
              <a:ea typeface="Calibri"/>
              <a:cs typeface="Calibri"/>
              <a:sym typeface="Calibri"/>
            </a:endParaRPr>
          </a:p>
        </p:txBody>
      </p:sp>
      <p:sp>
        <p:nvSpPr>
          <p:cNvPr id="220" name="Google Shape;220;p8"/>
          <p:cNvSpPr/>
          <p:nvPr/>
        </p:nvSpPr>
        <p:spPr>
          <a:xfrm>
            <a:off x="4617720" y="2642616"/>
            <a:ext cx="2971800" cy="41148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Motor de datos y modelamiento</a:t>
            </a:r>
            <a:endParaRPr sz="1150">
              <a:solidFill>
                <a:schemeClr val="dk1"/>
              </a:solidFill>
              <a:latin typeface="Calibri"/>
              <a:ea typeface="Calibri"/>
              <a:cs typeface="Calibri"/>
              <a:sym typeface="Calibri"/>
            </a:endParaRPr>
          </a:p>
        </p:txBody>
      </p:sp>
      <p:sp>
        <p:nvSpPr>
          <p:cNvPr id="221" name="Google Shape;221;p8"/>
          <p:cNvSpPr/>
          <p:nvPr/>
        </p:nvSpPr>
        <p:spPr>
          <a:xfrm>
            <a:off x="4617720" y="315468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Prisma</a:t>
            </a:r>
            <a:endParaRPr sz="1250">
              <a:solidFill>
                <a:schemeClr val="dk1"/>
              </a:solidFill>
              <a:latin typeface="Calibri"/>
              <a:ea typeface="Calibri"/>
              <a:cs typeface="Calibri"/>
              <a:sym typeface="Calibri"/>
            </a:endParaRPr>
          </a:p>
        </p:txBody>
      </p:sp>
      <p:sp>
        <p:nvSpPr>
          <p:cNvPr id="222" name="Google Shape;222;p8"/>
          <p:cNvSpPr/>
          <p:nvPr/>
        </p:nvSpPr>
        <p:spPr>
          <a:xfrm>
            <a:off x="4617720" y="3419856"/>
            <a:ext cx="2971800" cy="41148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ORM entre el código y la base de datos</a:t>
            </a:r>
            <a:endParaRPr sz="1150">
              <a:solidFill>
                <a:schemeClr val="dk1"/>
              </a:solidFill>
              <a:latin typeface="Calibri"/>
              <a:ea typeface="Calibri"/>
              <a:cs typeface="Calibri"/>
              <a:sym typeface="Calibri"/>
            </a:endParaRPr>
          </a:p>
        </p:txBody>
      </p:sp>
      <p:sp>
        <p:nvSpPr>
          <p:cNvPr id="223" name="Google Shape;223;p8"/>
          <p:cNvSpPr/>
          <p:nvPr/>
        </p:nvSpPr>
        <p:spPr>
          <a:xfrm>
            <a:off x="4617720" y="393192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APIs REST + Webpay</a:t>
            </a:r>
            <a:endParaRPr sz="1250">
              <a:solidFill>
                <a:schemeClr val="dk1"/>
              </a:solidFill>
              <a:latin typeface="Calibri"/>
              <a:ea typeface="Calibri"/>
              <a:cs typeface="Calibri"/>
              <a:sym typeface="Calibri"/>
            </a:endParaRPr>
          </a:p>
        </p:txBody>
      </p:sp>
      <p:sp>
        <p:nvSpPr>
          <p:cNvPr id="224" name="Google Shape;224;p8"/>
          <p:cNvSpPr/>
          <p:nvPr/>
        </p:nvSpPr>
        <p:spPr>
          <a:xfrm>
            <a:off x="4617720" y="4197096"/>
            <a:ext cx="2971800" cy="41148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Comunicación interna y pago en línea</a:t>
            </a:r>
            <a:endParaRPr sz="1150">
              <a:solidFill>
                <a:schemeClr val="dk1"/>
              </a:solidFill>
              <a:latin typeface="Calibri"/>
              <a:ea typeface="Calibri"/>
              <a:cs typeface="Calibri"/>
              <a:sym typeface="Calibri"/>
            </a:endParaRPr>
          </a:p>
        </p:txBody>
      </p:sp>
      <p:sp>
        <p:nvSpPr>
          <p:cNvPr id="225" name="Google Shape;225;p8"/>
          <p:cNvSpPr/>
          <p:nvPr/>
        </p:nvSpPr>
        <p:spPr>
          <a:xfrm>
            <a:off x="8119872" y="1600200"/>
            <a:ext cx="3502152" cy="3246120"/>
          </a:xfrm>
          <a:prstGeom prst="roundRect">
            <a:avLst>
              <a:gd fmla="val 169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8"/>
          <p:cNvSpPr/>
          <p:nvPr/>
        </p:nvSpPr>
        <p:spPr>
          <a:xfrm>
            <a:off x="8394192" y="1828800"/>
            <a:ext cx="2953512" cy="347472"/>
          </a:xfrm>
          <a:prstGeom prst="roundRect">
            <a:avLst>
              <a:gd fmla="val 50000" name="adj"/>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7" name="Google Shape;227;p8"/>
          <p:cNvSpPr/>
          <p:nvPr/>
        </p:nvSpPr>
        <p:spPr>
          <a:xfrm>
            <a:off x="8394192" y="1828800"/>
            <a:ext cx="2953512"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GESTIÓN Y ANÁLISIS</a:t>
            </a:r>
            <a:endParaRPr sz="1050">
              <a:solidFill>
                <a:schemeClr val="dk1"/>
              </a:solidFill>
              <a:latin typeface="Calibri"/>
              <a:ea typeface="Calibri"/>
              <a:cs typeface="Calibri"/>
              <a:sym typeface="Calibri"/>
            </a:endParaRPr>
          </a:p>
        </p:txBody>
      </p:sp>
      <p:sp>
        <p:nvSpPr>
          <p:cNvPr id="228" name="Google Shape;228;p8"/>
          <p:cNvSpPr/>
          <p:nvPr/>
        </p:nvSpPr>
        <p:spPr>
          <a:xfrm>
            <a:off x="8394192" y="237744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GitHub</a:t>
            </a:r>
            <a:endParaRPr sz="1250">
              <a:solidFill>
                <a:schemeClr val="dk1"/>
              </a:solidFill>
              <a:latin typeface="Calibri"/>
              <a:ea typeface="Calibri"/>
              <a:cs typeface="Calibri"/>
              <a:sym typeface="Calibri"/>
            </a:endParaRPr>
          </a:p>
        </p:txBody>
      </p:sp>
      <p:sp>
        <p:nvSpPr>
          <p:cNvPr id="229" name="Google Shape;229;p8"/>
          <p:cNvSpPr/>
          <p:nvPr/>
        </p:nvSpPr>
        <p:spPr>
          <a:xfrm>
            <a:off x="8394192" y="2642616"/>
            <a:ext cx="2971800" cy="41148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Repositorio Proyecto-APT-Marexpress</a:t>
            </a:r>
            <a:endParaRPr sz="1150">
              <a:solidFill>
                <a:schemeClr val="dk1"/>
              </a:solidFill>
              <a:latin typeface="Calibri"/>
              <a:ea typeface="Calibri"/>
              <a:cs typeface="Calibri"/>
              <a:sym typeface="Calibri"/>
            </a:endParaRPr>
          </a:p>
        </p:txBody>
      </p:sp>
      <p:sp>
        <p:nvSpPr>
          <p:cNvPr id="230" name="Google Shape;230;p8"/>
          <p:cNvSpPr/>
          <p:nvPr/>
        </p:nvSpPr>
        <p:spPr>
          <a:xfrm>
            <a:off x="8394192" y="315468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GitHub Projects + Issues</a:t>
            </a:r>
            <a:endParaRPr sz="1250">
              <a:solidFill>
                <a:schemeClr val="dk1"/>
              </a:solidFill>
              <a:latin typeface="Calibri"/>
              <a:ea typeface="Calibri"/>
              <a:cs typeface="Calibri"/>
              <a:sym typeface="Calibri"/>
            </a:endParaRPr>
          </a:p>
        </p:txBody>
      </p:sp>
      <p:sp>
        <p:nvSpPr>
          <p:cNvPr id="231" name="Google Shape;231;p8"/>
          <p:cNvSpPr/>
          <p:nvPr/>
        </p:nvSpPr>
        <p:spPr>
          <a:xfrm>
            <a:off x="8394192" y="3419856"/>
            <a:ext cx="2971800" cy="41148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Backlog, sprints y asignación de tareas</a:t>
            </a:r>
            <a:endParaRPr sz="1150">
              <a:solidFill>
                <a:schemeClr val="dk1"/>
              </a:solidFill>
              <a:latin typeface="Calibri"/>
              <a:ea typeface="Calibri"/>
              <a:cs typeface="Calibri"/>
              <a:sym typeface="Calibri"/>
            </a:endParaRPr>
          </a:p>
        </p:txBody>
      </p:sp>
      <p:sp>
        <p:nvSpPr>
          <p:cNvPr id="232" name="Google Shape;232;p8"/>
          <p:cNvSpPr/>
          <p:nvPr/>
        </p:nvSpPr>
        <p:spPr>
          <a:xfrm>
            <a:off x="8394192" y="3931920"/>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pandas + scikit-learn</a:t>
            </a:r>
            <a:endParaRPr sz="1250">
              <a:solidFill>
                <a:schemeClr val="dk1"/>
              </a:solidFill>
              <a:latin typeface="Calibri"/>
              <a:ea typeface="Calibri"/>
              <a:cs typeface="Calibri"/>
              <a:sym typeface="Calibri"/>
            </a:endParaRPr>
          </a:p>
        </p:txBody>
      </p:sp>
      <p:sp>
        <p:nvSpPr>
          <p:cNvPr id="233" name="Google Shape;233;p8"/>
          <p:cNvSpPr/>
          <p:nvPr/>
        </p:nvSpPr>
        <p:spPr>
          <a:xfrm>
            <a:off x="8394192" y="4197096"/>
            <a:ext cx="2971800" cy="411480"/>
          </a:xfrm>
          <a:prstGeom prst="rect">
            <a:avLst/>
          </a:prstGeom>
          <a:noFill/>
          <a:ln>
            <a:noFill/>
          </a:ln>
        </p:spPr>
        <p:txBody>
          <a:bodyPr anchorCtr="0" anchor="t" bIns="0" lIns="0" spcFirstLastPara="1" rIns="0" wrap="square" tIns="0">
            <a:noAutofit/>
          </a:bodyPr>
          <a:lstStyle/>
          <a:p>
            <a:pPr indent="0" lvl="0" marL="0" marR="0" rtl="0" algn="l">
              <a:lnSpc>
                <a:spcPct val="121739"/>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Preparación de datos y modelo de ML</a:t>
            </a:r>
            <a:endParaRPr sz="1150">
              <a:solidFill>
                <a:schemeClr val="dk1"/>
              </a:solidFill>
              <a:latin typeface="Calibri"/>
              <a:ea typeface="Calibri"/>
              <a:cs typeface="Calibri"/>
              <a:sym typeface="Calibri"/>
            </a:endParaRPr>
          </a:p>
        </p:txBody>
      </p:sp>
      <p:sp>
        <p:nvSpPr>
          <p:cNvPr id="234" name="Google Shape;234;p8"/>
          <p:cNvSpPr/>
          <p:nvPr/>
        </p:nvSpPr>
        <p:spPr>
          <a:xfrm>
            <a:off x="566928" y="5029200"/>
            <a:ext cx="11055096" cy="960120"/>
          </a:xfrm>
          <a:prstGeom prst="roundRect">
            <a:avLst>
              <a:gd fmla="val 5714"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5" name="Google Shape;235;p8"/>
          <p:cNvSpPr/>
          <p:nvPr/>
        </p:nvSpPr>
        <p:spPr>
          <a:xfrm>
            <a:off x="886968" y="5193792"/>
            <a:ext cx="10424160" cy="685800"/>
          </a:xfrm>
          <a:prstGeom prst="rect">
            <a:avLst/>
          </a:prstGeom>
          <a:noFill/>
          <a:ln>
            <a:noFill/>
          </a:ln>
        </p:spPr>
        <p:txBody>
          <a:bodyPr anchorCtr="0" anchor="ctr" bIns="0" lIns="0" spcFirstLastPara="1" rIns="0" wrap="square" tIns="0">
            <a:noAutofit/>
          </a:bodyPr>
          <a:lstStyle/>
          <a:p>
            <a:pPr indent="0" lvl="0" marL="0" marR="0" rtl="0" algn="l">
              <a:lnSpc>
                <a:spcPct val="136000"/>
              </a:lnSpc>
              <a:spcBef>
                <a:spcPts val="0"/>
              </a:spcBef>
              <a:spcAft>
                <a:spcPts val="0"/>
              </a:spcAft>
              <a:buClr>
                <a:srgbClr val="1E2761"/>
              </a:buClr>
              <a:buSzPts val="1250"/>
              <a:buFont typeface="Calibri"/>
              <a:buNone/>
            </a:pPr>
            <a:r>
              <a:rPr b="1" lang="en-US" sz="1250">
                <a:solidFill>
                  <a:srgbClr val="1E2761"/>
                </a:solidFill>
                <a:latin typeface="Calibri"/>
                <a:ea typeface="Calibri"/>
                <a:cs typeface="Calibri"/>
                <a:sym typeface="Calibri"/>
              </a:rPr>
              <a:t>Uso del repositorio:  </a:t>
            </a:r>
            <a:r>
              <a:rPr lang="en-US" sz="1250">
                <a:solidFill>
                  <a:srgbClr val="5A6478"/>
                </a:solidFill>
                <a:latin typeface="Calibri"/>
                <a:ea typeface="Calibri"/>
                <a:cs typeface="Calibri"/>
                <a:sym typeface="Calibri"/>
              </a:rPr>
              <a:t>ramas main, develop y feature/&lt;funcionalidad&gt; · un issue por tarea de sprint, asignado a un integrante · pull request revisado por el otro antes de integrar a develop. Los commits, pull requests e issues son la evidencia objetiva del aporte individual.</a:t>
            </a:r>
            <a:endParaRPr sz="12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sp>
        <p:nvSpPr>
          <p:cNvPr id="241" name="Google Shape;241;p9"/>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PLAN DE TRABAJO</a:t>
            </a:r>
            <a:endParaRPr sz="1100">
              <a:solidFill>
                <a:schemeClr val="dk1"/>
              </a:solidFill>
              <a:latin typeface="Calibri"/>
              <a:ea typeface="Calibri"/>
              <a:cs typeface="Calibri"/>
              <a:sym typeface="Calibri"/>
            </a:endParaRPr>
          </a:p>
        </p:txBody>
      </p:sp>
      <p:sp>
        <p:nvSpPr>
          <p:cNvPr id="242" name="Google Shape;242;p9"/>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Carta Gantt · 17 semanas · 8 sprints</a:t>
            </a:r>
            <a:endParaRPr sz="2900">
              <a:solidFill>
                <a:schemeClr val="dk1"/>
              </a:solidFill>
              <a:latin typeface="Calibri"/>
              <a:ea typeface="Calibri"/>
              <a:cs typeface="Calibri"/>
              <a:sym typeface="Calibri"/>
            </a:endParaRPr>
          </a:p>
        </p:txBody>
      </p:sp>
      <p:sp>
        <p:nvSpPr>
          <p:cNvPr id="243" name="Google Shape;243;p9"/>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244" name="Google Shape;244;p9"/>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1:10   ·   9</a:t>
            </a:r>
            <a:endParaRPr sz="950">
              <a:solidFill>
                <a:schemeClr val="dk1"/>
              </a:solidFill>
              <a:latin typeface="Calibri"/>
              <a:ea typeface="Calibri"/>
              <a:cs typeface="Calibri"/>
              <a:sym typeface="Calibri"/>
            </a:endParaRPr>
          </a:p>
        </p:txBody>
      </p:sp>
      <p:sp>
        <p:nvSpPr>
          <p:cNvPr id="245" name="Google Shape;245;p9"/>
          <p:cNvSpPr/>
          <p:nvPr/>
        </p:nvSpPr>
        <p:spPr>
          <a:xfrm>
            <a:off x="4727448" y="1572768"/>
            <a:ext cx="1589980" cy="274320"/>
          </a:xfrm>
          <a:prstGeom prst="roundRect">
            <a:avLst>
              <a:gd fmla="val 16667"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6" name="Google Shape;246;p9"/>
          <p:cNvSpPr/>
          <p:nvPr/>
        </p:nvSpPr>
        <p:spPr>
          <a:xfrm>
            <a:off x="4727448" y="1572768"/>
            <a:ext cx="158998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F1 · S1-4</a:t>
            </a:r>
            <a:endParaRPr sz="850">
              <a:solidFill>
                <a:schemeClr val="dk1"/>
              </a:solidFill>
              <a:latin typeface="Calibri"/>
              <a:ea typeface="Calibri"/>
              <a:cs typeface="Calibri"/>
              <a:sym typeface="Calibri"/>
            </a:endParaRPr>
          </a:p>
        </p:txBody>
      </p:sp>
      <p:sp>
        <p:nvSpPr>
          <p:cNvPr id="247" name="Google Shape;247;p9"/>
          <p:cNvSpPr/>
          <p:nvPr/>
        </p:nvSpPr>
        <p:spPr>
          <a:xfrm>
            <a:off x="6354004" y="1572768"/>
            <a:ext cx="4436454" cy="274320"/>
          </a:xfrm>
          <a:prstGeom prst="roundRect">
            <a:avLst>
              <a:gd fmla="val 16667"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8" name="Google Shape;248;p9"/>
          <p:cNvSpPr/>
          <p:nvPr/>
        </p:nvSpPr>
        <p:spPr>
          <a:xfrm>
            <a:off x="6354004" y="1572768"/>
            <a:ext cx="4436454"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F2 · S5-15</a:t>
            </a:r>
            <a:endParaRPr sz="850">
              <a:solidFill>
                <a:schemeClr val="dk1"/>
              </a:solidFill>
              <a:latin typeface="Calibri"/>
              <a:ea typeface="Calibri"/>
              <a:cs typeface="Calibri"/>
              <a:sym typeface="Calibri"/>
            </a:endParaRPr>
          </a:p>
        </p:txBody>
      </p:sp>
      <p:sp>
        <p:nvSpPr>
          <p:cNvPr id="249" name="Google Shape;249;p9"/>
          <p:cNvSpPr/>
          <p:nvPr/>
        </p:nvSpPr>
        <p:spPr>
          <a:xfrm>
            <a:off x="10827034" y="1572768"/>
            <a:ext cx="776702" cy="274320"/>
          </a:xfrm>
          <a:prstGeom prst="roundRect">
            <a:avLst>
              <a:gd fmla="val 16667" name="adj"/>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0" name="Google Shape;250;p9"/>
          <p:cNvSpPr/>
          <p:nvPr/>
        </p:nvSpPr>
        <p:spPr>
          <a:xfrm>
            <a:off x="10827034" y="1572768"/>
            <a:ext cx="776702"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850"/>
              <a:buFont typeface="Calibri"/>
              <a:buNone/>
            </a:pPr>
            <a:r>
              <a:rPr b="1" lang="en-US" sz="850">
                <a:solidFill>
                  <a:srgbClr val="FFFFFF"/>
                </a:solidFill>
                <a:latin typeface="Calibri"/>
                <a:ea typeface="Calibri"/>
                <a:cs typeface="Calibri"/>
                <a:sym typeface="Calibri"/>
              </a:rPr>
              <a:t>F3 · S16-17</a:t>
            </a:r>
            <a:endParaRPr sz="850">
              <a:solidFill>
                <a:schemeClr val="dk1"/>
              </a:solidFill>
              <a:latin typeface="Calibri"/>
              <a:ea typeface="Calibri"/>
              <a:cs typeface="Calibri"/>
              <a:sym typeface="Calibri"/>
            </a:endParaRPr>
          </a:p>
        </p:txBody>
      </p:sp>
      <p:sp>
        <p:nvSpPr>
          <p:cNvPr id="251" name="Google Shape;251;p9"/>
          <p:cNvSpPr/>
          <p:nvPr/>
        </p:nvSpPr>
        <p:spPr>
          <a:xfrm>
            <a:off x="3611880" y="1883664"/>
            <a:ext cx="1051560"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b="1" lang="en-US" sz="750">
                <a:solidFill>
                  <a:srgbClr val="8A93A3"/>
                </a:solidFill>
                <a:latin typeface="Calibri"/>
                <a:ea typeface="Calibri"/>
                <a:cs typeface="Calibri"/>
                <a:sym typeface="Calibri"/>
              </a:rPr>
              <a:t>RESPONSABLE</a:t>
            </a:r>
            <a:endParaRPr sz="750">
              <a:solidFill>
                <a:schemeClr val="dk1"/>
              </a:solidFill>
              <a:latin typeface="Calibri"/>
              <a:ea typeface="Calibri"/>
              <a:cs typeface="Calibri"/>
              <a:sym typeface="Calibri"/>
            </a:endParaRPr>
          </a:p>
        </p:txBody>
      </p:sp>
      <p:sp>
        <p:nvSpPr>
          <p:cNvPr id="252" name="Google Shape;252;p9"/>
          <p:cNvSpPr/>
          <p:nvPr/>
        </p:nvSpPr>
        <p:spPr>
          <a:xfrm>
            <a:off x="4709160"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S1</a:t>
            </a:r>
            <a:endParaRPr sz="750">
              <a:solidFill>
                <a:schemeClr val="dk1"/>
              </a:solidFill>
              <a:latin typeface="Calibri"/>
              <a:ea typeface="Calibri"/>
              <a:cs typeface="Calibri"/>
              <a:sym typeface="Calibri"/>
            </a:endParaRPr>
          </a:p>
        </p:txBody>
      </p:sp>
      <p:cxnSp>
        <p:nvCxnSpPr>
          <p:cNvPr id="253" name="Google Shape;253;p9"/>
          <p:cNvCxnSpPr/>
          <p:nvPr/>
        </p:nvCxnSpPr>
        <p:spPr>
          <a:xfrm>
            <a:off x="4709160"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54" name="Google Shape;254;p9"/>
          <p:cNvSpPr/>
          <p:nvPr/>
        </p:nvSpPr>
        <p:spPr>
          <a:xfrm>
            <a:off x="5115799"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S2</a:t>
            </a:r>
            <a:endParaRPr sz="750">
              <a:solidFill>
                <a:schemeClr val="dk1"/>
              </a:solidFill>
              <a:latin typeface="Calibri"/>
              <a:ea typeface="Calibri"/>
              <a:cs typeface="Calibri"/>
              <a:sym typeface="Calibri"/>
            </a:endParaRPr>
          </a:p>
        </p:txBody>
      </p:sp>
      <p:cxnSp>
        <p:nvCxnSpPr>
          <p:cNvPr id="255" name="Google Shape;255;p9"/>
          <p:cNvCxnSpPr/>
          <p:nvPr/>
        </p:nvCxnSpPr>
        <p:spPr>
          <a:xfrm>
            <a:off x="5115799"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56" name="Google Shape;256;p9"/>
          <p:cNvSpPr/>
          <p:nvPr/>
        </p:nvSpPr>
        <p:spPr>
          <a:xfrm>
            <a:off x="5522438"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S3</a:t>
            </a:r>
            <a:endParaRPr sz="750">
              <a:solidFill>
                <a:schemeClr val="dk1"/>
              </a:solidFill>
              <a:latin typeface="Calibri"/>
              <a:ea typeface="Calibri"/>
              <a:cs typeface="Calibri"/>
              <a:sym typeface="Calibri"/>
            </a:endParaRPr>
          </a:p>
        </p:txBody>
      </p:sp>
      <p:cxnSp>
        <p:nvCxnSpPr>
          <p:cNvPr id="257" name="Google Shape;257;p9"/>
          <p:cNvCxnSpPr/>
          <p:nvPr/>
        </p:nvCxnSpPr>
        <p:spPr>
          <a:xfrm>
            <a:off x="5522438"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58" name="Google Shape;258;p9"/>
          <p:cNvSpPr/>
          <p:nvPr/>
        </p:nvSpPr>
        <p:spPr>
          <a:xfrm>
            <a:off x="5929077"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S4</a:t>
            </a:r>
            <a:endParaRPr sz="750">
              <a:solidFill>
                <a:schemeClr val="dk1"/>
              </a:solidFill>
              <a:latin typeface="Calibri"/>
              <a:ea typeface="Calibri"/>
              <a:cs typeface="Calibri"/>
              <a:sym typeface="Calibri"/>
            </a:endParaRPr>
          </a:p>
        </p:txBody>
      </p:sp>
      <p:cxnSp>
        <p:nvCxnSpPr>
          <p:cNvPr id="259" name="Google Shape;259;p9"/>
          <p:cNvCxnSpPr/>
          <p:nvPr/>
        </p:nvCxnSpPr>
        <p:spPr>
          <a:xfrm>
            <a:off x="5929077"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60" name="Google Shape;260;p9"/>
          <p:cNvSpPr/>
          <p:nvPr/>
        </p:nvSpPr>
        <p:spPr>
          <a:xfrm>
            <a:off x="6335716"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S5</a:t>
            </a:r>
            <a:endParaRPr sz="750">
              <a:solidFill>
                <a:schemeClr val="dk1"/>
              </a:solidFill>
              <a:latin typeface="Calibri"/>
              <a:ea typeface="Calibri"/>
              <a:cs typeface="Calibri"/>
              <a:sym typeface="Calibri"/>
            </a:endParaRPr>
          </a:p>
        </p:txBody>
      </p:sp>
      <p:cxnSp>
        <p:nvCxnSpPr>
          <p:cNvPr id="261" name="Google Shape;261;p9"/>
          <p:cNvCxnSpPr/>
          <p:nvPr/>
        </p:nvCxnSpPr>
        <p:spPr>
          <a:xfrm>
            <a:off x="6335716"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62" name="Google Shape;262;p9"/>
          <p:cNvSpPr/>
          <p:nvPr/>
        </p:nvSpPr>
        <p:spPr>
          <a:xfrm>
            <a:off x="6742355"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S6</a:t>
            </a:r>
            <a:endParaRPr sz="750">
              <a:solidFill>
                <a:schemeClr val="dk1"/>
              </a:solidFill>
              <a:latin typeface="Calibri"/>
              <a:ea typeface="Calibri"/>
              <a:cs typeface="Calibri"/>
              <a:sym typeface="Calibri"/>
            </a:endParaRPr>
          </a:p>
        </p:txBody>
      </p:sp>
      <p:cxnSp>
        <p:nvCxnSpPr>
          <p:cNvPr id="263" name="Google Shape;263;p9"/>
          <p:cNvCxnSpPr/>
          <p:nvPr/>
        </p:nvCxnSpPr>
        <p:spPr>
          <a:xfrm>
            <a:off x="6742355"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64" name="Google Shape;264;p9"/>
          <p:cNvSpPr/>
          <p:nvPr/>
        </p:nvSpPr>
        <p:spPr>
          <a:xfrm>
            <a:off x="7148994"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S7</a:t>
            </a:r>
            <a:endParaRPr sz="750">
              <a:solidFill>
                <a:schemeClr val="dk1"/>
              </a:solidFill>
              <a:latin typeface="Calibri"/>
              <a:ea typeface="Calibri"/>
              <a:cs typeface="Calibri"/>
              <a:sym typeface="Calibri"/>
            </a:endParaRPr>
          </a:p>
        </p:txBody>
      </p:sp>
      <p:cxnSp>
        <p:nvCxnSpPr>
          <p:cNvPr id="265" name="Google Shape;265;p9"/>
          <p:cNvCxnSpPr/>
          <p:nvPr/>
        </p:nvCxnSpPr>
        <p:spPr>
          <a:xfrm>
            <a:off x="7148994"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66" name="Google Shape;266;p9"/>
          <p:cNvSpPr/>
          <p:nvPr/>
        </p:nvSpPr>
        <p:spPr>
          <a:xfrm>
            <a:off x="7555633"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S8</a:t>
            </a:r>
            <a:endParaRPr sz="750">
              <a:solidFill>
                <a:schemeClr val="dk1"/>
              </a:solidFill>
              <a:latin typeface="Calibri"/>
              <a:ea typeface="Calibri"/>
              <a:cs typeface="Calibri"/>
              <a:sym typeface="Calibri"/>
            </a:endParaRPr>
          </a:p>
        </p:txBody>
      </p:sp>
      <p:cxnSp>
        <p:nvCxnSpPr>
          <p:cNvPr id="267" name="Google Shape;267;p9"/>
          <p:cNvCxnSpPr/>
          <p:nvPr/>
        </p:nvCxnSpPr>
        <p:spPr>
          <a:xfrm>
            <a:off x="7555633"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68" name="Google Shape;268;p9"/>
          <p:cNvSpPr/>
          <p:nvPr/>
        </p:nvSpPr>
        <p:spPr>
          <a:xfrm>
            <a:off x="7962272"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S9</a:t>
            </a:r>
            <a:endParaRPr sz="750">
              <a:solidFill>
                <a:schemeClr val="dk1"/>
              </a:solidFill>
              <a:latin typeface="Calibri"/>
              <a:ea typeface="Calibri"/>
              <a:cs typeface="Calibri"/>
              <a:sym typeface="Calibri"/>
            </a:endParaRPr>
          </a:p>
        </p:txBody>
      </p:sp>
      <p:cxnSp>
        <p:nvCxnSpPr>
          <p:cNvPr id="269" name="Google Shape;269;p9"/>
          <p:cNvCxnSpPr/>
          <p:nvPr/>
        </p:nvCxnSpPr>
        <p:spPr>
          <a:xfrm>
            <a:off x="7962272"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70" name="Google Shape;270;p9"/>
          <p:cNvSpPr/>
          <p:nvPr/>
        </p:nvSpPr>
        <p:spPr>
          <a:xfrm>
            <a:off x="8368912"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S10</a:t>
            </a:r>
            <a:endParaRPr sz="750">
              <a:solidFill>
                <a:schemeClr val="dk1"/>
              </a:solidFill>
              <a:latin typeface="Calibri"/>
              <a:ea typeface="Calibri"/>
              <a:cs typeface="Calibri"/>
              <a:sym typeface="Calibri"/>
            </a:endParaRPr>
          </a:p>
        </p:txBody>
      </p:sp>
      <p:cxnSp>
        <p:nvCxnSpPr>
          <p:cNvPr id="271" name="Google Shape;271;p9"/>
          <p:cNvCxnSpPr/>
          <p:nvPr/>
        </p:nvCxnSpPr>
        <p:spPr>
          <a:xfrm>
            <a:off x="8368912"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72" name="Google Shape;272;p9"/>
          <p:cNvSpPr/>
          <p:nvPr/>
        </p:nvSpPr>
        <p:spPr>
          <a:xfrm>
            <a:off x="8775551"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S11</a:t>
            </a:r>
            <a:endParaRPr sz="750">
              <a:solidFill>
                <a:schemeClr val="dk1"/>
              </a:solidFill>
              <a:latin typeface="Calibri"/>
              <a:ea typeface="Calibri"/>
              <a:cs typeface="Calibri"/>
              <a:sym typeface="Calibri"/>
            </a:endParaRPr>
          </a:p>
        </p:txBody>
      </p:sp>
      <p:cxnSp>
        <p:nvCxnSpPr>
          <p:cNvPr id="273" name="Google Shape;273;p9"/>
          <p:cNvCxnSpPr/>
          <p:nvPr/>
        </p:nvCxnSpPr>
        <p:spPr>
          <a:xfrm>
            <a:off x="8775551"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74" name="Google Shape;274;p9"/>
          <p:cNvSpPr/>
          <p:nvPr/>
        </p:nvSpPr>
        <p:spPr>
          <a:xfrm>
            <a:off x="9182190"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S12</a:t>
            </a:r>
            <a:endParaRPr sz="750">
              <a:solidFill>
                <a:schemeClr val="dk1"/>
              </a:solidFill>
              <a:latin typeface="Calibri"/>
              <a:ea typeface="Calibri"/>
              <a:cs typeface="Calibri"/>
              <a:sym typeface="Calibri"/>
            </a:endParaRPr>
          </a:p>
        </p:txBody>
      </p:sp>
      <p:cxnSp>
        <p:nvCxnSpPr>
          <p:cNvPr id="275" name="Google Shape;275;p9"/>
          <p:cNvCxnSpPr/>
          <p:nvPr/>
        </p:nvCxnSpPr>
        <p:spPr>
          <a:xfrm>
            <a:off x="9182190"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76" name="Google Shape;276;p9"/>
          <p:cNvSpPr/>
          <p:nvPr/>
        </p:nvSpPr>
        <p:spPr>
          <a:xfrm>
            <a:off x="9588829"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S13</a:t>
            </a:r>
            <a:endParaRPr sz="750">
              <a:solidFill>
                <a:schemeClr val="dk1"/>
              </a:solidFill>
              <a:latin typeface="Calibri"/>
              <a:ea typeface="Calibri"/>
              <a:cs typeface="Calibri"/>
              <a:sym typeface="Calibri"/>
            </a:endParaRPr>
          </a:p>
        </p:txBody>
      </p:sp>
      <p:cxnSp>
        <p:nvCxnSpPr>
          <p:cNvPr id="277" name="Google Shape;277;p9"/>
          <p:cNvCxnSpPr/>
          <p:nvPr/>
        </p:nvCxnSpPr>
        <p:spPr>
          <a:xfrm>
            <a:off x="9588829"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78" name="Google Shape;278;p9"/>
          <p:cNvSpPr/>
          <p:nvPr/>
        </p:nvSpPr>
        <p:spPr>
          <a:xfrm>
            <a:off x="9995468"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S14</a:t>
            </a:r>
            <a:endParaRPr sz="750">
              <a:solidFill>
                <a:schemeClr val="dk1"/>
              </a:solidFill>
              <a:latin typeface="Calibri"/>
              <a:ea typeface="Calibri"/>
              <a:cs typeface="Calibri"/>
              <a:sym typeface="Calibri"/>
            </a:endParaRPr>
          </a:p>
        </p:txBody>
      </p:sp>
      <p:cxnSp>
        <p:nvCxnSpPr>
          <p:cNvPr id="279" name="Google Shape;279;p9"/>
          <p:cNvCxnSpPr/>
          <p:nvPr/>
        </p:nvCxnSpPr>
        <p:spPr>
          <a:xfrm>
            <a:off x="9995468"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80" name="Google Shape;280;p9"/>
          <p:cNvSpPr/>
          <p:nvPr/>
        </p:nvSpPr>
        <p:spPr>
          <a:xfrm>
            <a:off x="10402107"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S15</a:t>
            </a:r>
            <a:endParaRPr sz="750">
              <a:solidFill>
                <a:schemeClr val="dk1"/>
              </a:solidFill>
              <a:latin typeface="Calibri"/>
              <a:ea typeface="Calibri"/>
              <a:cs typeface="Calibri"/>
              <a:sym typeface="Calibri"/>
            </a:endParaRPr>
          </a:p>
        </p:txBody>
      </p:sp>
      <p:cxnSp>
        <p:nvCxnSpPr>
          <p:cNvPr id="281" name="Google Shape;281;p9"/>
          <p:cNvCxnSpPr/>
          <p:nvPr/>
        </p:nvCxnSpPr>
        <p:spPr>
          <a:xfrm>
            <a:off x="10402107"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82" name="Google Shape;282;p9"/>
          <p:cNvSpPr/>
          <p:nvPr/>
        </p:nvSpPr>
        <p:spPr>
          <a:xfrm>
            <a:off x="10808746"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S16</a:t>
            </a:r>
            <a:endParaRPr sz="750">
              <a:solidFill>
                <a:schemeClr val="dk1"/>
              </a:solidFill>
              <a:latin typeface="Calibri"/>
              <a:ea typeface="Calibri"/>
              <a:cs typeface="Calibri"/>
              <a:sym typeface="Calibri"/>
            </a:endParaRPr>
          </a:p>
        </p:txBody>
      </p:sp>
      <p:cxnSp>
        <p:nvCxnSpPr>
          <p:cNvPr id="283" name="Google Shape;283;p9"/>
          <p:cNvCxnSpPr/>
          <p:nvPr/>
        </p:nvCxnSpPr>
        <p:spPr>
          <a:xfrm>
            <a:off x="10808746"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84" name="Google Shape;284;p9"/>
          <p:cNvSpPr/>
          <p:nvPr/>
        </p:nvSpPr>
        <p:spPr>
          <a:xfrm>
            <a:off x="11215385" y="1883664"/>
            <a:ext cx="406639"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750"/>
              <a:buFont typeface="Calibri"/>
              <a:buNone/>
            </a:pPr>
            <a:r>
              <a:rPr lang="en-US" sz="750">
                <a:solidFill>
                  <a:srgbClr val="8A93A3"/>
                </a:solidFill>
                <a:latin typeface="Calibri"/>
                <a:ea typeface="Calibri"/>
                <a:cs typeface="Calibri"/>
                <a:sym typeface="Calibri"/>
              </a:rPr>
              <a:t>S17</a:t>
            </a:r>
            <a:endParaRPr sz="750">
              <a:solidFill>
                <a:schemeClr val="dk1"/>
              </a:solidFill>
              <a:latin typeface="Calibri"/>
              <a:ea typeface="Calibri"/>
              <a:cs typeface="Calibri"/>
              <a:sym typeface="Calibri"/>
            </a:endParaRPr>
          </a:p>
        </p:txBody>
      </p:sp>
      <p:cxnSp>
        <p:nvCxnSpPr>
          <p:cNvPr id="285" name="Google Shape;285;p9"/>
          <p:cNvCxnSpPr/>
          <p:nvPr/>
        </p:nvCxnSpPr>
        <p:spPr>
          <a:xfrm>
            <a:off x="11215385" y="2103120"/>
            <a:ext cx="0" cy="3895344"/>
          </a:xfrm>
          <a:prstGeom prst="straightConnector1">
            <a:avLst/>
          </a:prstGeom>
          <a:noFill/>
          <a:ln cap="flat" cmpd="sng" w="12700">
            <a:solidFill>
              <a:srgbClr val="EDF1F7"/>
            </a:solidFill>
            <a:prstDash val="solid"/>
            <a:round/>
            <a:headEnd len="sm" w="sm" type="none"/>
            <a:tailEnd len="sm" w="sm" type="none"/>
          </a:ln>
        </p:spPr>
      </p:cxnSp>
      <p:cxnSp>
        <p:nvCxnSpPr>
          <p:cNvPr id="286" name="Google Shape;286;p9"/>
          <p:cNvCxnSpPr/>
          <p:nvPr/>
        </p:nvCxnSpPr>
        <p:spPr>
          <a:xfrm>
            <a:off x="11622024" y="2103120"/>
            <a:ext cx="0" cy="3895344"/>
          </a:xfrm>
          <a:prstGeom prst="straightConnector1">
            <a:avLst/>
          </a:prstGeom>
          <a:noFill/>
          <a:ln cap="flat" cmpd="sng" w="12700">
            <a:solidFill>
              <a:srgbClr val="EDF1F7"/>
            </a:solidFill>
            <a:prstDash val="solid"/>
            <a:round/>
            <a:headEnd len="sm" w="sm" type="none"/>
            <a:tailEnd len="sm" w="sm" type="none"/>
          </a:ln>
        </p:spPr>
      </p:cxnSp>
      <p:sp>
        <p:nvSpPr>
          <p:cNvPr id="287" name="Google Shape;287;p9"/>
          <p:cNvSpPr/>
          <p:nvPr/>
        </p:nvSpPr>
        <p:spPr>
          <a:xfrm>
            <a:off x="566928" y="2103120"/>
            <a:ext cx="11055096" cy="324612"/>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88" name="Google Shape;288;p9"/>
          <p:cNvSpPr/>
          <p:nvPr/>
        </p:nvSpPr>
        <p:spPr>
          <a:xfrm>
            <a:off x="612648" y="2103120"/>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Requerimientos</a:t>
            </a:r>
            <a:endParaRPr sz="1000">
              <a:solidFill>
                <a:schemeClr val="dk1"/>
              </a:solidFill>
              <a:latin typeface="Calibri"/>
              <a:ea typeface="Calibri"/>
              <a:cs typeface="Calibri"/>
              <a:sym typeface="Calibri"/>
            </a:endParaRPr>
          </a:p>
        </p:txBody>
      </p:sp>
      <p:sp>
        <p:nvSpPr>
          <p:cNvPr id="289" name="Google Shape;289;p9"/>
          <p:cNvSpPr/>
          <p:nvPr/>
        </p:nvSpPr>
        <p:spPr>
          <a:xfrm>
            <a:off x="3611880" y="2103120"/>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900"/>
              <a:buFont typeface="Calibri"/>
              <a:buNone/>
            </a:pPr>
            <a:r>
              <a:rPr lang="en-US" sz="900">
                <a:solidFill>
                  <a:srgbClr val="8A93A3"/>
                </a:solidFill>
                <a:latin typeface="Calibri"/>
                <a:ea typeface="Calibri"/>
                <a:cs typeface="Calibri"/>
                <a:sym typeface="Calibri"/>
              </a:rPr>
              <a:t>Ambos</a:t>
            </a:r>
            <a:endParaRPr sz="900">
              <a:solidFill>
                <a:schemeClr val="dk1"/>
              </a:solidFill>
              <a:latin typeface="Calibri"/>
              <a:ea typeface="Calibri"/>
              <a:cs typeface="Calibri"/>
              <a:sym typeface="Calibri"/>
            </a:endParaRPr>
          </a:p>
        </p:txBody>
      </p:sp>
      <p:sp>
        <p:nvSpPr>
          <p:cNvPr id="290" name="Google Shape;290;p9"/>
          <p:cNvSpPr/>
          <p:nvPr/>
        </p:nvSpPr>
        <p:spPr>
          <a:xfrm>
            <a:off x="4736592" y="2167128"/>
            <a:ext cx="351775" cy="196596"/>
          </a:xfrm>
          <a:prstGeom prst="roundRect">
            <a:avLst>
              <a:gd fmla="val 18605"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1" name="Google Shape;291;p9"/>
          <p:cNvSpPr/>
          <p:nvPr/>
        </p:nvSpPr>
        <p:spPr>
          <a:xfrm>
            <a:off x="612648" y="2427732"/>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Arquitectura y base de datos</a:t>
            </a:r>
            <a:endParaRPr sz="1000">
              <a:solidFill>
                <a:schemeClr val="dk1"/>
              </a:solidFill>
              <a:latin typeface="Calibri"/>
              <a:ea typeface="Calibri"/>
              <a:cs typeface="Calibri"/>
              <a:sym typeface="Calibri"/>
            </a:endParaRPr>
          </a:p>
        </p:txBody>
      </p:sp>
      <p:sp>
        <p:nvSpPr>
          <p:cNvPr id="292" name="Google Shape;292;p9"/>
          <p:cNvSpPr/>
          <p:nvPr/>
        </p:nvSpPr>
        <p:spPr>
          <a:xfrm>
            <a:off x="3611880" y="2427732"/>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6C9E"/>
              </a:buClr>
              <a:buSzPts val="900"/>
              <a:buFont typeface="Calibri"/>
              <a:buNone/>
            </a:pPr>
            <a:r>
              <a:rPr b="1" lang="en-US" sz="900">
                <a:solidFill>
                  <a:srgbClr val="3F6C9E"/>
                </a:solidFill>
                <a:latin typeface="Calibri"/>
                <a:ea typeface="Calibri"/>
                <a:cs typeface="Calibri"/>
                <a:sym typeface="Calibri"/>
              </a:rPr>
              <a:t>Raúl</a:t>
            </a:r>
            <a:endParaRPr sz="900">
              <a:solidFill>
                <a:schemeClr val="dk1"/>
              </a:solidFill>
              <a:latin typeface="Calibri"/>
              <a:ea typeface="Calibri"/>
              <a:cs typeface="Calibri"/>
              <a:sym typeface="Calibri"/>
            </a:endParaRPr>
          </a:p>
        </p:txBody>
      </p:sp>
      <p:sp>
        <p:nvSpPr>
          <p:cNvPr id="293" name="Google Shape;293;p9"/>
          <p:cNvSpPr/>
          <p:nvPr/>
        </p:nvSpPr>
        <p:spPr>
          <a:xfrm>
            <a:off x="5143231" y="2491740"/>
            <a:ext cx="351775" cy="196596"/>
          </a:xfrm>
          <a:prstGeom prst="roundRect">
            <a:avLst>
              <a:gd fmla="val 18605"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9"/>
          <p:cNvSpPr/>
          <p:nvPr/>
        </p:nvSpPr>
        <p:spPr>
          <a:xfrm>
            <a:off x="566928" y="2752344"/>
            <a:ext cx="11055096" cy="324612"/>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5" name="Google Shape;295;p9"/>
          <p:cNvSpPr/>
          <p:nvPr/>
        </p:nvSpPr>
        <p:spPr>
          <a:xfrm>
            <a:off x="612648" y="2752344"/>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Prototipos e interfaz</a:t>
            </a:r>
            <a:endParaRPr sz="1000">
              <a:solidFill>
                <a:schemeClr val="dk1"/>
              </a:solidFill>
              <a:latin typeface="Calibri"/>
              <a:ea typeface="Calibri"/>
              <a:cs typeface="Calibri"/>
              <a:sym typeface="Calibri"/>
            </a:endParaRPr>
          </a:p>
        </p:txBody>
      </p:sp>
      <p:sp>
        <p:nvSpPr>
          <p:cNvPr id="296" name="Google Shape;296;p9"/>
          <p:cNvSpPr/>
          <p:nvPr/>
        </p:nvSpPr>
        <p:spPr>
          <a:xfrm>
            <a:off x="3611880" y="2752344"/>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6C9E"/>
              </a:buClr>
              <a:buSzPts val="900"/>
              <a:buFont typeface="Calibri"/>
              <a:buNone/>
            </a:pPr>
            <a:r>
              <a:rPr b="1" lang="en-US" sz="900">
                <a:solidFill>
                  <a:srgbClr val="3F6C9E"/>
                </a:solidFill>
                <a:latin typeface="Calibri"/>
                <a:ea typeface="Calibri"/>
                <a:cs typeface="Calibri"/>
                <a:sym typeface="Calibri"/>
              </a:rPr>
              <a:t>Benjamín</a:t>
            </a:r>
            <a:endParaRPr sz="900">
              <a:solidFill>
                <a:schemeClr val="dk1"/>
              </a:solidFill>
              <a:latin typeface="Calibri"/>
              <a:ea typeface="Calibri"/>
              <a:cs typeface="Calibri"/>
              <a:sym typeface="Calibri"/>
            </a:endParaRPr>
          </a:p>
        </p:txBody>
      </p:sp>
      <p:sp>
        <p:nvSpPr>
          <p:cNvPr id="297" name="Google Shape;297;p9"/>
          <p:cNvSpPr/>
          <p:nvPr/>
        </p:nvSpPr>
        <p:spPr>
          <a:xfrm>
            <a:off x="5549870" y="2816352"/>
            <a:ext cx="351775" cy="196596"/>
          </a:xfrm>
          <a:prstGeom prst="roundRect">
            <a:avLst>
              <a:gd fmla="val 18605"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8" name="Google Shape;298;p9"/>
          <p:cNvSpPr/>
          <p:nvPr/>
        </p:nvSpPr>
        <p:spPr>
          <a:xfrm>
            <a:off x="612648" y="3076956"/>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Autenticación y maestros</a:t>
            </a:r>
            <a:endParaRPr sz="1000">
              <a:solidFill>
                <a:schemeClr val="dk1"/>
              </a:solidFill>
              <a:latin typeface="Calibri"/>
              <a:ea typeface="Calibri"/>
              <a:cs typeface="Calibri"/>
              <a:sym typeface="Calibri"/>
            </a:endParaRPr>
          </a:p>
        </p:txBody>
      </p:sp>
      <p:sp>
        <p:nvSpPr>
          <p:cNvPr id="299" name="Google Shape;299;p9"/>
          <p:cNvSpPr/>
          <p:nvPr/>
        </p:nvSpPr>
        <p:spPr>
          <a:xfrm>
            <a:off x="3611880" y="3076956"/>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900"/>
              <a:buFont typeface="Calibri"/>
              <a:buNone/>
            </a:pPr>
            <a:r>
              <a:rPr lang="en-US" sz="900">
                <a:solidFill>
                  <a:srgbClr val="8A93A3"/>
                </a:solidFill>
                <a:latin typeface="Calibri"/>
                <a:ea typeface="Calibri"/>
                <a:cs typeface="Calibri"/>
                <a:sym typeface="Calibri"/>
              </a:rPr>
              <a:t>Ambos</a:t>
            </a:r>
            <a:endParaRPr sz="900">
              <a:solidFill>
                <a:schemeClr val="dk1"/>
              </a:solidFill>
              <a:latin typeface="Calibri"/>
              <a:ea typeface="Calibri"/>
              <a:cs typeface="Calibri"/>
              <a:sym typeface="Calibri"/>
            </a:endParaRPr>
          </a:p>
        </p:txBody>
      </p:sp>
      <p:sp>
        <p:nvSpPr>
          <p:cNvPr id="300" name="Google Shape;300;p9"/>
          <p:cNvSpPr/>
          <p:nvPr/>
        </p:nvSpPr>
        <p:spPr>
          <a:xfrm>
            <a:off x="5956509" y="3140964"/>
            <a:ext cx="351775" cy="196596"/>
          </a:xfrm>
          <a:prstGeom prst="roundRect">
            <a:avLst>
              <a:gd fmla="val 18605"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1" name="Google Shape;301;p9"/>
          <p:cNvSpPr/>
          <p:nvPr/>
        </p:nvSpPr>
        <p:spPr>
          <a:xfrm>
            <a:off x="566928" y="3401568"/>
            <a:ext cx="11055096" cy="324612"/>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2" name="Google Shape;302;p9"/>
          <p:cNvSpPr/>
          <p:nvPr/>
        </p:nvSpPr>
        <p:spPr>
          <a:xfrm>
            <a:off x="612648" y="3401568"/>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Módulo de Orden de Transporte</a:t>
            </a:r>
            <a:endParaRPr sz="1000">
              <a:solidFill>
                <a:schemeClr val="dk1"/>
              </a:solidFill>
              <a:latin typeface="Calibri"/>
              <a:ea typeface="Calibri"/>
              <a:cs typeface="Calibri"/>
              <a:sym typeface="Calibri"/>
            </a:endParaRPr>
          </a:p>
        </p:txBody>
      </p:sp>
      <p:sp>
        <p:nvSpPr>
          <p:cNvPr id="303" name="Google Shape;303;p9"/>
          <p:cNvSpPr/>
          <p:nvPr/>
        </p:nvSpPr>
        <p:spPr>
          <a:xfrm>
            <a:off x="3611880" y="3401568"/>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900"/>
              <a:buFont typeface="Calibri"/>
              <a:buNone/>
            </a:pPr>
            <a:r>
              <a:rPr lang="en-US" sz="900">
                <a:solidFill>
                  <a:srgbClr val="8A93A3"/>
                </a:solidFill>
                <a:latin typeface="Calibri"/>
                <a:ea typeface="Calibri"/>
                <a:cs typeface="Calibri"/>
                <a:sym typeface="Calibri"/>
              </a:rPr>
              <a:t>Ambos</a:t>
            </a:r>
            <a:endParaRPr sz="900">
              <a:solidFill>
                <a:schemeClr val="dk1"/>
              </a:solidFill>
              <a:latin typeface="Calibri"/>
              <a:ea typeface="Calibri"/>
              <a:cs typeface="Calibri"/>
              <a:sym typeface="Calibri"/>
            </a:endParaRPr>
          </a:p>
        </p:txBody>
      </p:sp>
      <p:sp>
        <p:nvSpPr>
          <p:cNvPr id="304" name="Google Shape;304;p9"/>
          <p:cNvSpPr/>
          <p:nvPr/>
        </p:nvSpPr>
        <p:spPr>
          <a:xfrm>
            <a:off x="6363148" y="3465576"/>
            <a:ext cx="758414" cy="196596"/>
          </a:xfrm>
          <a:prstGeom prst="roundRect">
            <a:avLst>
              <a:gd fmla="val 18605"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5" name="Google Shape;305;p9"/>
          <p:cNvSpPr/>
          <p:nvPr/>
        </p:nvSpPr>
        <p:spPr>
          <a:xfrm>
            <a:off x="612648" y="3726180"/>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Auditoría y recuperación</a:t>
            </a:r>
            <a:endParaRPr sz="1000">
              <a:solidFill>
                <a:schemeClr val="dk1"/>
              </a:solidFill>
              <a:latin typeface="Calibri"/>
              <a:ea typeface="Calibri"/>
              <a:cs typeface="Calibri"/>
              <a:sym typeface="Calibri"/>
            </a:endParaRPr>
          </a:p>
        </p:txBody>
      </p:sp>
      <p:sp>
        <p:nvSpPr>
          <p:cNvPr id="306" name="Google Shape;306;p9"/>
          <p:cNvSpPr/>
          <p:nvPr/>
        </p:nvSpPr>
        <p:spPr>
          <a:xfrm>
            <a:off x="3611880" y="3726180"/>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6C9E"/>
              </a:buClr>
              <a:buSzPts val="900"/>
              <a:buFont typeface="Calibri"/>
              <a:buNone/>
            </a:pPr>
            <a:r>
              <a:rPr b="1" lang="en-US" sz="900">
                <a:solidFill>
                  <a:srgbClr val="3F6C9E"/>
                </a:solidFill>
                <a:latin typeface="Calibri"/>
                <a:ea typeface="Calibri"/>
                <a:cs typeface="Calibri"/>
                <a:sym typeface="Calibri"/>
              </a:rPr>
              <a:t>Raúl</a:t>
            </a:r>
            <a:endParaRPr sz="900">
              <a:solidFill>
                <a:schemeClr val="dk1"/>
              </a:solidFill>
              <a:latin typeface="Calibri"/>
              <a:ea typeface="Calibri"/>
              <a:cs typeface="Calibri"/>
              <a:sym typeface="Calibri"/>
            </a:endParaRPr>
          </a:p>
        </p:txBody>
      </p:sp>
      <p:sp>
        <p:nvSpPr>
          <p:cNvPr id="307" name="Google Shape;307;p9"/>
          <p:cNvSpPr/>
          <p:nvPr/>
        </p:nvSpPr>
        <p:spPr>
          <a:xfrm>
            <a:off x="7176426" y="3790188"/>
            <a:ext cx="351775" cy="196596"/>
          </a:xfrm>
          <a:prstGeom prst="roundRect">
            <a:avLst>
              <a:gd fmla="val 18605"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8" name="Google Shape;308;p9"/>
          <p:cNvSpPr/>
          <p:nvPr/>
        </p:nvSpPr>
        <p:spPr>
          <a:xfrm>
            <a:off x="566928" y="4050792"/>
            <a:ext cx="11055096" cy="324612"/>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09" name="Google Shape;309;p9"/>
          <p:cNvSpPr/>
          <p:nvPr/>
        </p:nvSpPr>
        <p:spPr>
          <a:xfrm>
            <a:off x="612648" y="4050792"/>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Manifiesto y control de carga</a:t>
            </a:r>
            <a:endParaRPr sz="1000">
              <a:solidFill>
                <a:schemeClr val="dk1"/>
              </a:solidFill>
              <a:latin typeface="Calibri"/>
              <a:ea typeface="Calibri"/>
              <a:cs typeface="Calibri"/>
              <a:sym typeface="Calibri"/>
            </a:endParaRPr>
          </a:p>
        </p:txBody>
      </p:sp>
      <p:sp>
        <p:nvSpPr>
          <p:cNvPr id="310" name="Google Shape;310;p9"/>
          <p:cNvSpPr/>
          <p:nvPr/>
        </p:nvSpPr>
        <p:spPr>
          <a:xfrm>
            <a:off x="3611880" y="4050792"/>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900"/>
              <a:buFont typeface="Calibri"/>
              <a:buNone/>
            </a:pPr>
            <a:r>
              <a:rPr lang="en-US" sz="900">
                <a:solidFill>
                  <a:srgbClr val="8A93A3"/>
                </a:solidFill>
                <a:latin typeface="Calibri"/>
                <a:ea typeface="Calibri"/>
                <a:cs typeface="Calibri"/>
                <a:sym typeface="Calibri"/>
              </a:rPr>
              <a:t>Ambos</a:t>
            </a:r>
            <a:endParaRPr sz="900">
              <a:solidFill>
                <a:schemeClr val="dk1"/>
              </a:solidFill>
              <a:latin typeface="Calibri"/>
              <a:ea typeface="Calibri"/>
              <a:cs typeface="Calibri"/>
              <a:sym typeface="Calibri"/>
            </a:endParaRPr>
          </a:p>
        </p:txBody>
      </p:sp>
      <p:sp>
        <p:nvSpPr>
          <p:cNvPr id="311" name="Google Shape;311;p9"/>
          <p:cNvSpPr/>
          <p:nvPr/>
        </p:nvSpPr>
        <p:spPr>
          <a:xfrm>
            <a:off x="7583065" y="4114800"/>
            <a:ext cx="758414" cy="196596"/>
          </a:xfrm>
          <a:prstGeom prst="roundRect">
            <a:avLst>
              <a:gd fmla="val 18605"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2" name="Google Shape;312;p9"/>
          <p:cNvSpPr/>
          <p:nvPr/>
        </p:nvSpPr>
        <p:spPr>
          <a:xfrm>
            <a:off x="612648" y="4375404"/>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Seguimiento de envíos por la web</a:t>
            </a:r>
            <a:endParaRPr sz="1000">
              <a:solidFill>
                <a:schemeClr val="dk1"/>
              </a:solidFill>
              <a:latin typeface="Calibri"/>
              <a:ea typeface="Calibri"/>
              <a:cs typeface="Calibri"/>
              <a:sym typeface="Calibri"/>
            </a:endParaRPr>
          </a:p>
        </p:txBody>
      </p:sp>
      <p:sp>
        <p:nvSpPr>
          <p:cNvPr id="313" name="Google Shape;313;p9"/>
          <p:cNvSpPr/>
          <p:nvPr/>
        </p:nvSpPr>
        <p:spPr>
          <a:xfrm>
            <a:off x="3611880" y="4375404"/>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6C9E"/>
              </a:buClr>
              <a:buSzPts val="900"/>
              <a:buFont typeface="Calibri"/>
              <a:buNone/>
            </a:pPr>
            <a:r>
              <a:rPr b="1" lang="en-US" sz="900">
                <a:solidFill>
                  <a:srgbClr val="3F6C9E"/>
                </a:solidFill>
                <a:latin typeface="Calibri"/>
                <a:ea typeface="Calibri"/>
                <a:cs typeface="Calibri"/>
                <a:sym typeface="Calibri"/>
              </a:rPr>
              <a:t>Benjamín</a:t>
            </a:r>
            <a:endParaRPr sz="900">
              <a:solidFill>
                <a:schemeClr val="dk1"/>
              </a:solidFill>
              <a:latin typeface="Calibri"/>
              <a:ea typeface="Calibri"/>
              <a:cs typeface="Calibri"/>
              <a:sym typeface="Calibri"/>
            </a:endParaRPr>
          </a:p>
        </p:txBody>
      </p:sp>
      <p:sp>
        <p:nvSpPr>
          <p:cNvPr id="314" name="Google Shape;314;p9"/>
          <p:cNvSpPr/>
          <p:nvPr/>
        </p:nvSpPr>
        <p:spPr>
          <a:xfrm>
            <a:off x="8396344" y="4439412"/>
            <a:ext cx="351775" cy="196596"/>
          </a:xfrm>
          <a:prstGeom prst="roundRect">
            <a:avLst>
              <a:gd fmla="val 18605"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9"/>
          <p:cNvSpPr/>
          <p:nvPr/>
        </p:nvSpPr>
        <p:spPr>
          <a:xfrm>
            <a:off x="566928" y="4700016"/>
            <a:ext cx="11055096" cy="324612"/>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9"/>
          <p:cNvSpPr/>
          <p:nvPr/>
        </p:nvSpPr>
        <p:spPr>
          <a:xfrm>
            <a:off x="612648" y="4700016"/>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Pagos y alertas</a:t>
            </a:r>
            <a:endParaRPr sz="1000">
              <a:solidFill>
                <a:schemeClr val="dk1"/>
              </a:solidFill>
              <a:latin typeface="Calibri"/>
              <a:ea typeface="Calibri"/>
              <a:cs typeface="Calibri"/>
              <a:sym typeface="Calibri"/>
            </a:endParaRPr>
          </a:p>
        </p:txBody>
      </p:sp>
      <p:sp>
        <p:nvSpPr>
          <p:cNvPr id="317" name="Google Shape;317;p9"/>
          <p:cNvSpPr/>
          <p:nvPr/>
        </p:nvSpPr>
        <p:spPr>
          <a:xfrm>
            <a:off x="3611880" y="4700016"/>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3F6C9E"/>
              </a:buClr>
              <a:buSzPts val="900"/>
              <a:buFont typeface="Calibri"/>
              <a:buNone/>
            </a:pPr>
            <a:r>
              <a:rPr b="1" lang="en-US" sz="900">
                <a:solidFill>
                  <a:srgbClr val="3F6C9E"/>
                </a:solidFill>
                <a:latin typeface="Calibri"/>
                <a:ea typeface="Calibri"/>
                <a:cs typeface="Calibri"/>
                <a:sym typeface="Calibri"/>
              </a:rPr>
              <a:t>Raúl</a:t>
            </a:r>
            <a:endParaRPr sz="900">
              <a:solidFill>
                <a:schemeClr val="dk1"/>
              </a:solidFill>
              <a:latin typeface="Calibri"/>
              <a:ea typeface="Calibri"/>
              <a:cs typeface="Calibri"/>
              <a:sym typeface="Calibri"/>
            </a:endParaRPr>
          </a:p>
        </p:txBody>
      </p:sp>
      <p:sp>
        <p:nvSpPr>
          <p:cNvPr id="318" name="Google Shape;318;p9"/>
          <p:cNvSpPr/>
          <p:nvPr/>
        </p:nvSpPr>
        <p:spPr>
          <a:xfrm>
            <a:off x="8802983" y="4764024"/>
            <a:ext cx="351775" cy="196596"/>
          </a:xfrm>
          <a:prstGeom prst="roundRect">
            <a:avLst>
              <a:gd fmla="val 18605"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9" name="Google Shape;319;p9"/>
          <p:cNvSpPr/>
          <p:nvPr/>
        </p:nvSpPr>
        <p:spPr>
          <a:xfrm>
            <a:off x="612648" y="5024628"/>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Reportes y Machine Learning</a:t>
            </a:r>
            <a:endParaRPr sz="1000">
              <a:solidFill>
                <a:schemeClr val="dk1"/>
              </a:solidFill>
              <a:latin typeface="Calibri"/>
              <a:ea typeface="Calibri"/>
              <a:cs typeface="Calibri"/>
              <a:sym typeface="Calibri"/>
            </a:endParaRPr>
          </a:p>
        </p:txBody>
      </p:sp>
      <p:sp>
        <p:nvSpPr>
          <p:cNvPr id="320" name="Google Shape;320;p9"/>
          <p:cNvSpPr/>
          <p:nvPr/>
        </p:nvSpPr>
        <p:spPr>
          <a:xfrm>
            <a:off x="3611880" y="5024628"/>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900"/>
              <a:buFont typeface="Calibri"/>
              <a:buNone/>
            </a:pPr>
            <a:r>
              <a:rPr lang="en-US" sz="900">
                <a:solidFill>
                  <a:srgbClr val="8A93A3"/>
                </a:solidFill>
                <a:latin typeface="Calibri"/>
                <a:ea typeface="Calibri"/>
                <a:cs typeface="Calibri"/>
                <a:sym typeface="Calibri"/>
              </a:rPr>
              <a:t>Ambos</a:t>
            </a:r>
            <a:endParaRPr sz="900">
              <a:solidFill>
                <a:schemeClr val="dk1"/>
              </a:solidFill>
              <a:latin typeface="Calibri"/>
              <a:ea typeface="Calibri"/>
              <a:cs typeface="Calibri"/>
              <a:sym typeface="Calibri"/>
            </a:endParaRPr>
          </a:p>
        </p:txBody>
      </p:sp>
      <p:sp>
        <p:nvSpPr>
          <p:cNvPr id="321" name="Google Shape;321;p9"/>
          <p:cNvSpPr/>
          <p:nvPr/>
        </p:nvSpPr>
        <p:spPr>
          <a:xfrm>
            <a:off x="9209622" y="5088636"/>
            <a:ext cx="758414" cy="196596"/>
          </a:xfrm>
          <a:prstGeom prst="roundRect">
            <a:avLst>
              <a:gd fmla="val 18605"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2" name="Google Shape;322;p9"/>
          <p:cNvSpPr/>
          <p:nvPr/>
        </p:nvSpPr>
        <p:spPr>
          <a:xfrm>
            <a:off x="566928" y="5349240"/>
            <a:ext cx="11055096" cy="324612"/>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3" name="Google Shape;323;p9"/>
          <p:cNvSpPr/>
          <p:nvPr/>
        </p:nvSpPr>
        <p:spPr>
          <a:xfrm>
            <a:off x="612648" y="5349240"/>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Pruebas e integración</a:t>
            </a:r>
            <a:endParaRPr sz="1000">
              <a:solidFill>
                <a:schemeClr val="dk1"/>
              </a:solidFill>
              <a:latin typeface="Calibri"/>
              <a:ea typeface="Calibri"/>
              <a:cs typeface="Calibri"/>
              <a:sym typeface="Calibri"/>
            </a:endParaRPr>
          </a:p>
        </p:txBody>
      </p:sp>
      <p:sp>
        <p:nvSpPr>
          <p:cNvPr id="324" name="Google Shape;324;p9"/>
          <p:cNvSpPr/>
          <p:nvPr/>
        </p:nvSpPr>
        <p:spPr>
          <a:xfrm>
            <a:off x="3611880" y="5349240"/>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900"/>
              <a:buFont typeface="Calibri"/>
              <a:buNone/>
            </a:pPr>
            <a:r>
              <a:rPr lang="en-US" sz="900">
                <a:solidFill>
                  <a:srgbClr val="8A93A3"/>
                </a:solidFill>
                <a:latin typeface="Calibri"/>
                <a:ea typeface="Calibri"/>
                <a:cs typeface="Calibri"/>
                <a:sym typeface="Calibri"/>
              </a:rPr>
              <a:t>Ambos</a:t>
            </a:r>
            <a:endParaRPr sz="900">
              <a:solidFill>
                <a:schemeClr val="dk1"/>
              </a:solidFill>
              <a:latin typeface="Calibri"/>
              <a:ea typeface="Calibri"/>
              <a:cs typeface="Calibri"/>
              <a:sym typeface="Calibri"/>
            </a:endParaRPr>
          </a:p>
        </p:txBody>
      </p:sp>
      <p:sp>
        <p:nvSpPr>
          <p:cNvPr id="325" name="Google Shape;325;p9"/>
          <p:cNvSpPr/>
          <p:nvPr/>
        </p:nvSpPr>
        <p:spPr>
          <a:xfrm>
            <a:off x="10022900" y="5413248"/>
            <a:ext cx="758414" cy="196596"/>
          </a:xfrm>
          <a:prstGeom prst="roundRect">
            <a:avLst>
              <a:gd fmla="val 18605"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6" name="Google Shape;326;p9"/>
          <p:cNvSpPr/>
          <p:nvPr/>
        </p:nvSpPr>
        <p:spPr>
          <a:xfrm>
            <a:off x="612648" y="5673852"/>
            <a:ext cx="3017520" cy="32461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Documentación y presentación</a:t>
            </a:r>
            <a:endParaRPr sz="1000">
              <a:solidFill>
                <a:schemeClr val="dk1"/>
              </a:solidFill>
              <a:latin typeface="Calibri"/>
              <a:ea typeface="Calibri"/>
              <a:cs typeface="Calibri"/>
              <a:sym typeface="Calibri"/>
            </a:endParaRPr>
          </a:p>
        </p:txBody>
      </p:sp>
      <p:sp>
        <p:nvSpPr>
          <p:cNvPr id="327" name="Google Shape;327;p9"/>
          <p:cNvSpPr/>
          <p:nvPr/>
        </p:nvSpPr>
        <p:spPr>
          <a:xfrm>
            <a:off x="3611880" y="5673852"/>
            <a:ext cx="1051560" cy="32461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8A93A3"/>
              </a:buClr>
              <a:buSzPts val="900"/>
              <a:buFont typeface="Calibri"/>
              <a:buNone/>
            </a:pPr>
            <a:r>
              <a:rPr lang="en-US" sz="900">
                <a:solidFill>
                  <a:srgbClr val="8A93A3"/>
                </a:solidFill>
                <a:latin typeface="Calibri"/>
                <a:ea typeface="Calibri"/>
                <a:cs typeface="Calibri"/>
                <a:sym typeface="Calibri"/>
              </a:rPr>
              <a:t>Ambos</a:t>
            </a:r>
            <a:endParaRPr sz="900">
              <a:solidFill>
                <a:schemeClr val="dk1"/>
              </a:solidFill>
              <a:latin typeface="Calibri"/>
              <a:ea typeface="Calibri"/>
              <a:cs typeface="Calibri"/>
              <a:sym typeface="Calibri"/>
            </a:endParaRPr>
          </a:p>
        </p:txBody>
      </p:sp>
      <p:sp>
        <p:nvSpPr>
          <p:cNvPr id="328" name="Google Shape;328;p9"/>
          <p:cNvSpPr/>
          <p:nvPr/>
        </p:nvSpPr>
        <p:spPr>
          <a:xfrm>
            <a:off x="10836178" y="5737860"/>
            <a:ext cx="758414" cy="196596"/>
          </a:xfrm>
          <a:prstGeom prst="roundRect">
            <a:avLst>
              <a:gd fmla="val 18605" name="adj"/>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29" name="Google Shape;329;p9"/>
          <p:cNvSpPr/>
          <p:nvPr/>
        </p:nvSpPr>
        <p:spPr>
          <a:xfrm>
            <a:off x="566928" y="6053328"/>
            <a:ext cx="11055096"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1050"/>
              <a:buFont typeface="Calibri"/>
              <a:buNone/>
            </a:pPr>
            <a:r>
              <a:rPr lang="en-US" sz="1050">
                <a:solidFill>
                  <a:srgbClr val="8A93A3"/>
                </a:solidFill>
                <a:latin typeface="Calibri"/>
                <a:ea typeface="Calibri"/>
                <a:cs typeface="Calibri"/>
                <a:sym typeface="Calibri"/>
              </a:rPr>
              <a:t>Cada sprint de 2 semanas agrupa una o dos de estas actividades. El detalle con fechas y días hábiles está en la carta Gantt entregada en formato Excel.</a:t>
            </a:r>
            <a:endParaRPr sz="10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4" name="Shape 334"/>
        <p:cNvGrpSpPr/>
        <p:nvPr/>
      </p:nvGrpSpPr>
      <p:grpSpPr>
        <a:xfrm>
          <a:off x="0" y="0"/>
          <a:ext cx="0" cy="0"/>
          <a:chOff x="0" y="0"/>
          <a:chExt cx="0" cy="0"/>
        </a:xfrm>
      </p:grpSpPr>
      <p:sp>
        <p:nvSpPr>
          <p:cNvPr id="335" name="Google Shape;335;p10"/>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EQUIPO</a:t>
            </a:r>
            <a:endParaRPr sz="1100">
              <a:solidFill>
                <a:schemeClr val="dk1"/>
              </a:solidFill>
              <a:latin typeface="Calibri"/>
              <a:ea typeface="Calibri"/>
              <a:cs typeface="Calibri"/>
              <a:sym typeface="Calibri"/>
            </a:endParaRPr>
          </a:p>
        </p:txBody>
      </p:sp>
      <p:sp>
        <p:nvSpPr>
          <p:cNvPr id="336" name="Google Shape;336;p10"/>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Responsables y aporte individual</a:t>
            </a:r>
            <a:endParaRPr sz="2900">
              <a:solidFill>
                <a:schemeClr val="dk1"/>
              </a:solidFill>
              <a:latin typeface="Calibri"/>
              <a:ea typeface="Calibri"/>
              <a:cs typeface="Calibri"/>
              <a:sym typeface="Calibri"/>
            </a:endParaRPr>
          </a:p>
        </p:txBody>
      </p:sp>
      <p:sp>
        <p:nvSpPr>
          <p:cNvPr id="337" name="Google Shape;337;p10"/>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338" name="Google Shape;338;p10"/>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0:50   ·   10</a:t>
            </a:r>
            <a:endParaRPr sz="950">
              <a:solidFill>
                <a:schemeClr val="dk1"/>
              </a:solidFill>
              <a:latin typeface="Calibri"/>
              <a:ea typeface="Calibri"/>
              <a:cs typeface="Calibri"/>
              <a:sym typeface="Calibri"/>
            </a:endParaRPr>
          </a:p>
        </p:txBody>
      </p:sp>
      <p:sp>
        <p:nvSpPr>
          <p:cNvPr id="339" name="Google Shape;339;p10"/>
          <p:cNvSpPr/>
          <p:nvPr/>
        </p:nvSpPr>
        <p:spPr>
          <a:xfrm>
            <a:off x="566928" y="1600200"/>
            <a:ext cx="3703320" cy="3931920"/>
          </a:xfrm>
          <a:prstGeom prst="roundRect">
            <a:avLst>
              <a:gd fmla="val 1481"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0" name="Google Shape;340;p10"/>
          <p:cNvSpPr/>
          <p:nvPr/>
        </p:nvSpPr>
        <p:spPr>
          <a:xfrm>
            <a:off x="841248" y="1828800"/>
            <a:ext cx="31546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lang="en-US" sz="1500">
                <a:solidFill>
                  <a:srgbClr val="1E2761"/>
                </a:solidFill>
                <a:latin typeface="Cambria"/>
                <a:ea typeface="Cambria"/>
                <a:cs typeface="Cambria"/>
                <a:sym typeface="Cambria"/>
              </a:rPr>
              <a:t>Raúl José Roa Astudillo</a:t>
            </a:r>
            <a:endParaRPr sz="1500">
              <a:solidFill>
                <a:schemeClr val="dk1"/>
              </a:solidFill>
              <a:latin typeface="Calibri"/>
              <a:ea typeface="Calibri"/>
              <a:cs typeface="Calibri"/>
              <a:sym typeface="Calibri"/>
            </a:endParaRPr>
          </a:p>
        </p:txBody>
      </p:sp>
      <p:sp>
        <p:nvSpPr>
          <p:cNvPr id="341" name="Google Shape;341;p10"/>
          <p:cNvSpPr/>
          <p:nvPr/>
        </p:nvSpPr>
        <p:spPr>
          <a:xfrm>
            <a:off x="841248" y="2450592"/>
            <a:ext cx="1280160" cy="347472"/>
          </a:xfrm>
          <a:prstGeom prst="roundRect">
            <a:avLst>
              <a:gd fmla="val 50000"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10"/>
          <p:cNvSpPr/>
          <p:nvPr/>
        </p:nvSpPr>
        <p:spPr>
          <a:xfrm>
            <a:off x="841248" y="2450592"/>
            <a:ext cx="1280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S2 – S15</a:t>
            </a:r>
            <a:endParaRPr sz="1050">
              <a:solidFill>
                <a:schemeClr val="dk1"/>
              </a:solidFill>
              <a:latin typeface="Calibri"/>
              <a:ea typeface="Calibri"/>
              <a:cs typeface="Calibri"/>
              <a:sym typeface="Calibri"/>
            </a:endParaRPr>
          </a:p>
        </p:txBody>
      </p:sp>
      <p:sp>
        <p:nvSpPr>
          <p:cNvPr id="343" name="Google Shape;343;p10"/>
          <p:cNvSpPr/>
          <p:nvPr/>
        </p:nvSpPr>
        <p:spPr>
          <a:xfrm>
            <a:off x="859536" y="2971800"/>
            <a:ext cx="3154680" cy="237744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Arquitectura de la solución y modelo de datos</a:t>
            </a:r>
            <a:endParaRPr sz="1200">
              <a:solidFill>
                <a:schemeClr val="dk1"/>
              </a:solidFill>
              <a:latin typeface="Calibri"/>
              <a:ea typeface="Calibri"/>
              <a:cs typeface="Calibri"/>
              <a:sym typeface="Calibri"/>
            </a:endParaRPr>
          </a:p>
          <a:p>
            <a:pPr indent="-342900" lvl="0" marL="342900" marR="0" rtl="0" algn="l">
              <a:lnSpc>
                <a:spcPct val="125000"/>
              </a:lnSpc>
              <a:spcBef>
                <a:spcPts val="9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Backend en Node.js y reglas de negocio de la OT</a:t>
            </a:r>
            <a:endParaRPr sz="1200">
              <a:solidFill>
                <a:schemeClr val="dk1"/>
              </a:solidFill>
              <a:latin typeface="Calibri"/>
              <a:ea typeface="Calibri"/>
              <a:cs typeface="Calibri"/>
              <a:sym typeface="Calibri"/>
            </a:endParaRPr>
          </a:p>
          <a:p>
            <a:pPr indent="-342900" lvl="0" marL="342900" marR="0" rtl="0" algn="l">
              <a:lnSpc>
                <a:spcPct val="125000"/>
              </a:lnSpc>
              <a:spcBef>
                <a:spcPts val="9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Auditoría, APIs REST e integración de Webpay</a:t>
            </a:r>
            <a:endParaRPr sz="1200">
              <a:solidFill>
                <a:schemeClr val="dk1"/>
              </a:solidFill>
              <a:latin typeface="Calibri"/>
              <a:ea typeface="Calibri"/>
              <a:cs typeface="Calibri"/>
              <a:sym typeface="Calibri"/>
            </a:endParaRPr>
          </a:p>
          <a:p>
            <a:pPr indent="-342900" lvl="0" marL="342900" marR="0" rtl="0" algn="l">
              <a:lnSpc>
                <a:spcPct val="125000"/>
              </a:lnSpc>
              <a:spcBef>
                <a:spcPts val="9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Preparación de datos y modelo de Machine Learning</a:t>
            </a:r>
            <a:endParaRPr sz="1200">
              <a:solidFill>
                <a:schemeClr val="dk1"/>
              </a:solidFill>
              <a:latin typeface="Calibri"/>
              <a:ea typeface="Calibri"/>
              <a:cs typeface="Calibri"/>
              <a:sym typeface="Calibri"/>
            </a:endParaRPr>
          </a:p>
        </p:txBody>
      </p:sp>
      <p:sp>
        <p:nvSpPr>
          <p:cNvPr id="344" name="Google Shape;344;p10"/>
          <p:cNvSpPr/>
          <p:nvPr/>
        </p:nvSpPr>
        <p:spPr>
          <a:xfrm>
            <a:off x="4544568" y="1600200"/>
            <a:ext cx="3703320" cy="3931920"/>
          </a:xfrm>
          <a:prstGeom prst="roundRect">
            <a:avLst>
              <a:gd fmla="val 1481"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5" name="Google Shape;345;p10"/>
          <p:cNvSpPr/>
          <p:nvPr/>
        </p:nvSpPr>
        <p:spPr>
          <a:xfrm>
            <a:off x="4818888" y="1828800"/>
            <a:ext cx="3154680"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500"/>
              <a:buFont typeface="Cambria"/>
              <a:buNone/>
            </a:pPr>
            <a:r>
              <a:rPr b="1" lang="en-US" sz="1500">
                <a:solidFill>
                  <a:srgbClr val="1E2761"/>
                </a:solidFill>
                <a:latin typeface="Cambria"/>
                <a:ea typeface="Cambria"/>
                <a:cs typeface="Cambria"/>
                <a:sym typeface="Cambria"/>
              </a:rPr>
              <a:t>Benjamín Alonso Sandoval Vergara</a:t>
            </a:r>
            <a:endParaRPr sz="1500">
              <a:solidFill>
                <a:schemeClr val="dk1"/>
              </a:solidFill>
              <a:latin typeface="Calibri"/>
              <a:ea typeface="Calibri"/>
              <a:cs typeface="Calibri"/>
              <a:sym typeface="Calibri"/>
            </a:endParaRPr>
          </a:p>
        </p:txBody>
      </p:sp>
      <p:sp>
        <p:nvSpPr>
          <p:cNvPr id="346" name="Google Shape;346;p10"/>
          <p:cNvSpPr/>
          <p:nvPr/>
        </p:nvSpPr>
        <p:spPr>
          <a:xfrm>
            <a:off x="4818888" y="2450592"/>
            <a:ext cx="1280160" cy="347472"/>
          </a:xfrm>
          <a:prstGeom prst="roundRect">
            <a:avLst>
              <a:gd fmla="val 50000"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7" name="Google Shape;347;p10"/>
          <p:cNvSpPr/>
          <p:nvPr/>
        </p:nvSpPr>
        <p:spPr>
          <a:xfrm>
            <a:off x="4818888" y="2450592"/>
            <a:ext cx="1280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S3 – S17</a:t>
            </a:r>
            <a:endParaRPr sz="1050">
              <a:solidFill>
                <a:schemeClr val="dk1"/>
              </a:solidFill>
              <a:latin typeface="Calibri"/>
              <a:ea typeface="Calibri"/>
              <a:cs typeface="Calibri"/>
              <a:sym typeface="Calibri"/>
            </a:endParaRPr>
          </a:p>
        </p:txBody>
      </p:sp>
      <p:sp>
        <p:nvSpPr>
          <p:cNvPr id="348" name="Google Shape;348;p10"/>
          <p:cNvSpPr/>
          <p:nvPr/>
        </p:nvSpPr>
        <p:spPr>
          <a:xfrm>
            <a:off x="4837176" y="2971800"/>
            <a:ext cx="3154680" cy="237744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Prototipos, interfaz y navegación en React</a:t>
            </a:r>
            <a:endParaRPr sz="1200">
              <a:solidFill>
                <a:schemeClr val="dk1"/>
              </a:solidFill>
              <a:latin typeface="Calibri"/>
              <a:ea typeface="Calibri"/>
              <a:cs typeface="Calibri"/>
              <a:sym typeface="Calibri"/>
            </a:endParaRPr>
          </a:p>
          <a:p>
            <a:pPr indent="-342900" lvl="0" marL="342900" marR="0" rtl="0" algn="l">
              <a:lnSpc>
                <a:spcPct val="125000"/>
              </a:lnSpc>
              <a:spcBef>
                <a:spcPts val="9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Frontend y apoyo en OT y manifiestos</a:t>
            </a:r>
            <a:endParaRPr sz="1200">
              <a:solidFill>
                <a:schemeClr val="dk1"/>
              </a:solidFill>
              <a:latin typeface="Calibri"/>
              <a:ea typeface="Calibri"/>
              <a:cs typeface="Calibri"/>
              <a:sym typeface="Calibri"/>
            </a:endParaRPr>
          </a:p>
          <a:p>
            <a:pPr indent="-342900" lvl="0" marL="342900" marR="0" rtl="0" algn="l">
              <a:lnSpc>
                <a:spcPct val="125000"/>
              </a:lnSpc>
              <a:spcBef>
                <a:spcPts val="9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Seguimiento de envíos por la web y reportes visuales</a:t>
            </a:r>
            <a:endParaRPr sz="1200">
              <a:solidFill>
                <a:schemeClr val="dk1"/>
              </a:solidFill>
              <a:latin typeface="Calibri"/>
              <a:ea typeface="Calibri"/>
              <a:cs typeface="Calibri"/>
              <a:sym typeface="Calibri"/>
            </a:endParaRPr>
          </a:p>
          <a:p>
            <a:pPr indent="-342900" lvl="0" marL="342900" marR="0" rtl="0" algn="l">
              <a:lnSpc>
                <a:spcPct val="125000"/>
              </a:lnSpc>
              <a:spcBef>
                <a:spcPts val="9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Casos de prueba y documentación técnica</a:t>
            </a:r>
            <a:endParaRPr sz="1200">
              <a:solidFill>
                <a:schemeClr val="dk1"/>
              </a:solidFill>
              <a:latin typeface="Calibri"/>
              <a:ea typeface="Calibri"/>
              <a:cs typeface="Calibri"/>
              <a:sym typeface="Calibri"/>
            </a:endParaRPr>
          </a:p>
        </p:txBody>
      </p:sp>
      <p:sp>
        <p:nvSpPr>
          <p:cNvPr id="349" name="Google Shape;349;p10"/>
          <p:cNvSpPr/>
          <p:nvPr/>
        </p:nvSpPr>
        <p:spPr>
          <a:xfrm>
            <a:off x="8522208" y="1600200"/>
            <a:ext cx="3099816" cy="3931920"/>
          </a:xfrm>
          <a:prstGeom prst="roundRect">
            <a:avLst>
              <a:gd fmla="val 1770" name="adj"/>
            </a:avLst>
          </a:prstGeom>
          <a:solidFill>
            <a:srgbClr val="1E2761"/>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0" name="Google Shape;350;p10"/>
          <p:cNvSpPr/>
          <p:nvPr/>
        </p:nvSpPr>
        <p:spPr>
          <a:xfrm>
            <a:off x="8796528" y="1828800"/>
            <a:ext cx="2606040" cy="65836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Cambria"/>
              <a:buNone/>
            </a:pPr>
            <a:r>
              <a:rPr b="1" lang="en-US" sz="1500">
                <a:solidFill>
                  <a:srgbClr val="FFFFFF"/>
                </a:solidFill>
                <a:latin typeface="Cambria"/>
                <a:ea typeface="Cambria"/>
                <a:cs typeface="Cambria"/>
                <a:sym typeface="Cambria"/>
              </a:rPr>
              <a:t>Cómo se verifica</a:t>
            </a:r>
            <a:endParaRPr sz="15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500"/>
              <a:buFont typeface="Cambria"/>
              <a:buNone/>
            </a:pPr>
            <a:r>
              <a:rPr b="1" lang="en-US" sz="1500">
                <a:solidFill>
                  <a:srgbClr val="FFFFFF"/>
                </a:solidFill>
                <a:latin typeface="Cambria"/>
                <a:ea typeface="Cambria"/>
                <a:cs typeface="Cambria"/>
                <a:sym typeface="Cambria"/>
              </a:rPr>
              <a:t>el aporte</a:t>
            </a:r>
            <a:endParaRPr sz="1500">
              <a:solidFill>
                <a:schemeClr val="dk1"/>
              </a:solidFill>
              <a:latin typeface="Calibri"/>
              <a:ea typeface="Calibri"/>
              <a:cs typeface="Calibri"/>
              <a:sym typeface="Calibri"/>
            </a:endParaRPr>
          </a:p>
        </p:txBody>
      </p:sp>
      <p:sp>
        <p:nvSpPr>
          <p:cNvPr id="351" name="Google Shape;351;p10"/>
          <p:cNvSpPr/>
          <p:nvPr/>
        </p:nvSpPr>
        <p:spPr>
          <a:xfrm>
            <a:off x="8814816" y="2606040"/>
            <a:ext cx="2606040" cy="2743200"/>
          </a:xfrm>
          <a:prstGeom prst="rect">
            <a:avLst/>
          </a:prstGeom>
          <a:noFill/>
          <a:ln>
            <a:noFill/>
          </a:ln>
        </p:spPr>
        <p:txBody>
          <a:bodyPr anchorCtr="0" anchor="t" bIns="0" lIns="0" spcFirstLastPara="1" rIns="0" wrap="square" tIns="0">
            <a:noAutofit/>
          </a:bodyPr>
          <a:lstStyle/>
          <a:p>
            <a:pPr indent="-342900" lvl="0" marL="342900" marR="0" rtl="0" algn="l">
              <a:lnSpc>
                <a:spcPct val="130434"/>
              </a:lnSpc>
              <a:spcBef>
                <a:spcPts val="0"/>
              </a:spcBef>
              <a:spcAft>
                <a:spcPts val="0"/>
              </a:spcAft>
              <a:buClr>
                <a:srgbClr val="CADCFC"/>
              </a:buClr>
              <a:buSzPts val="1150"/>
              <a:buFont typeface="Calibri"/>
              <a:buChar char="•"/>
            </a:pPr>
            <a:r>
              <a:rPr lang="en-US" sz="1150">
                <a:solidFill>
                  <a:srgbClr val="CADCFC"/>
                </a:solidFill>
                <a:latin typeface="Calibri"/>
                <a:ea typeface="Calibri"/>
                <a:cs typeface="Calibri"/>
                <a:sym typeface="Calibri"/>
              </a:rPr>
              <a:t>Un issue por tarea, asignado a un integrante</a:t>
            </a:r>
            <a:endParaRPr sz="1150">
              <a:solidFill>
                <a:schemeClr val="dk1"/>
              </a:solidFill>
              <a:latin typeface="Calibri"/>
              <a:ea typeface="Calibri"/>
              <a:cs typeface="Calibri"/>
              <a:sym typeface="Calibri"/>
            </a:endParaRPr>
          </a:p>
          <a:p>
            <a:pPr indent="-342900" lvl="0" marL="342900" marR="0" rtl="0" algn="l">
              <a:lnSpc>
                <a:spcPct val="130434"/>
              </a:lnSpc>
              <a:spcBef>
                <a:spcPts val="1000"/>
              </a:spcBef>
              <a:spcAft>
                <a:spcPts val="0"/>
              </a:spcAft>
              <a:buClr>
                <a:srgbClr val="CADCFC"/>
              </a:buClr>
              <a:buSzPts val="1150"/>
              <a:buFont typeface="Calibri"/>
              <a:buChar char="•"/>
            </a:pPr>
            <a:r>
              <a:rPr lang="en-US" sz="1150">
                <a:solidFill>
                  <a:srgbClr val="CADCFC"/>
                </a:solidFill>
                <a:latin typeface="Calibri"/>
                <a:ea typeface="Calibri"/>
                <a:cs typeface="Calibri"/>
                <a:sym typeface="Calibri"/>
              </a:rPr>
              <a:t>Una rama por funcionalidad, con commits firmados por su autor</a:t>
            </a:r>
            <a:endParaRPr sz="1150">
              <a:solidFill>
                <a:schemeClr val="dk1"/>
              </a:solidFill>
              <a:latin typeface="Calibri"/>
              <a:ea typeface="Calibri"/>
              <a:cs typeface="Calibri"/>
              <a:sym typeface="Calibri"/>
            </a:endParaRPr>
          </a:p>
          <a:p>
            <a:pPr indent="-342900" lvl="0" marL="342900" marR="0" rtl="0" algn="l">
              <a:lnSpc>
                <a:spcPct val="130434"/>
              </a:lnSpc>
              <a:spcBef>
                <a:spcPts val="1000"/>
              </a:spcBef>
              <a:spcAft>
                <a:spcPts val="0"/>
              </a:spcAft>
              <a:buClr>
                <a:srgbClr val="CADCFC"/>
              </a:buClr>
              <a:buSzPts val="1150"/>
              <a:buFont typeface="Calibri"/>
              <a:buChar char="•"/>
            </a:pPr>
            <a:r>
              <a:rPr lang="en-US" sz="1150">
                <a:solidFill>
                  <a:srgbClr val="CADCFC"/>
                </a:solidFill>
                <a:latin typeface="Calibri"/>
                <a:ea typeface="Calibri"/>
                <a:cs typeface="Calibri"/>
                <a:sym typeface="Calibri"/>
              </a:rPr>
              <a:t>Pull request revisado por el otro integrante</a:t>
            </a:r>
            <a:endParaRPr sz="1150">
              <a:solidFill>
                <a:schemeClr val="dk1"/>
              </a:solidFill>
              <a:latin typeface="Calibri"/>
              <a:ea typeface="Calibri"/>
              <a:cs typeface="Calibri"/>
              <a:sym typeface="Calibri"/>
            </a:endParaRPr>
          </a:p>
          <a:p>
            <a:pPr indent="-342900" lvl="0" marL="342900" marR="0" rtl="0" algn="l">
              <a:lnSpc>
                <a:spcPct val="130434"/>
              </a:lnSpc>
              <a:spcBef>
                <a:spcPts val="1000"/>
              </a:spcBef>
              <a:spcAft>
                <a:spcPts val="0"/>
              </a:spcAft>
              <a:buClr>
                <a:srgbClr val="CADCFC"/>
              </a:buClr>
              <a:buSzPts val="1150"/>
              <a:buFont typeface="Calibri"/>
              <a:buChar char="•"/>
            </a:pPr>
            <a:r>
              <a:rPr lang="en-US" sz="1150">
                <a:solidFill>
                  <a:srgbClr val="CADCFC"/>
                </a:solidFill>
                <a:latin typeface="Calibri"/>
                <a:ea typeface="Calibri"/>
                <a:cs typeface="Calibri"/>
                <a:sym typeface="Calibri"/>
              </a:rPr>
              <a:t>Cada uno prueba los módulos del otro y documenta los resultados</a:t>
            </a:r>
            <a:endParaRPr sz="11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 name="Shape 356"/>
        <p:cNvGrpSpPr/>
        <p:nvPr/>
      </p:nvGrpSpPr>
      <p:grpSpPr>
        <a:xfrm>
          <a:off x="0" y="0"/>
          <a:ext cx="0" cy="0"/>
          <a:chOff x="0" y="0"/>
          <a:chExt cx="0" cy="0"/>
        </a:xfrm>
      </p:grpSpPr>
      <p:sp>
        <p:nvSpPr>
          <p:cNvPr id="357" name="Google Shape;357;p11"/>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RESPONSABILIDADES</a:t>
            </a:r>
            <a:endParaRPr sz="1100">
              <a:solidFill>
                <a:schemeClr val="dk1"/>
              </a:solidFill>
              <a:latin typeface="Calibri"/>
              <a:ea typeface="Calibri"/>
              <a:cs typeface="Calibri"/>
              <a:sym typeface="Calibri"/>
            </a:endParaRPr>
          </a:p>
        </p:txBody>
      </p:sp>
      <p:sp>
        <p:nvSpPr>
          <p:cNvPr id="358" name="Google Shape;358;p11"/>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Matriz RACI</a:t>
            </a:r>
            <a:endParaRPr sz="2900">
              <a:solidFill>
                <a:schemeClr val="dk1"/>
              </a:solidFill>
              <a:latin typeface="Calibri"/>
              <a:ea typeface="Calibri"/>
              <a:cs typeface="Calibri"/>
              <a:sym typeface="Calibri"/>
            </a:endParaRPr>
          </a:p>
        </p:txBody>
      </p:sp>
      <p:sp>
        <p:nvSpPr>
          <p:cNvPr id="359" name="Google Shape;359;p11"/>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360" name="Google Shape;360;p11"/>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0:50   ·   11</a:t>
            </a:r>
            <a:endParaRPr sz="950">
              <a:solidFill>
                <a:schemeClr val="dk1"/>
              </a:solidFill>
              <a:latin typeface="Calibri"/>
              <a:ea typeface="Calibri"/>
              <a:cs typeface="Calibri"/>
              <a:sym typeface="Calibri"/>
            </a:endParaRPr>
          </a:p>
        </p:txBody>
      </p:sp>
      <p:sp>
        <p:nvSpPr>
          <p:cNvPr id="361" name="Google Shape;361;p11"/>
          <p:cNvSpPr/>
          <p:nvPr/>
        </p:nvSpPr>
        <p:spPr>
          <a:xfrm>
            <a:off x="566928" y="1664208"/>
            <a:ext cx="11055096" cy="566928"/>
          </a:xfrm>
          <a:prstGeom prst="rect">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11"/>
          <p:cNvSpPr/>
          <p:nvPr/>
        </p:nvSpPr>
        <p:spPr>
          <a:xfrm>
            <a:off x="731520" y="1664208"/>
            <a:ext cx="416052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000"/>
              <a:buFont typeface="Calibri"/>
              <a:buNone/>
            </a:pPr>
            <a:r>
              <a:rPr b="1" lang="en-US" sz="1000">
                <a:solidFill>
                  <a:srgbClr val="CADCFC"/>
                </a:solidFill>
                <a:latin typeface="Calibri"/>
                <a:ea typeface="Calibri"/>
                <a:cs typeface="Calibri"/>
                <a:sym typeface="Calibri"/>
              </a:rPr>
              <a:t>ACTIVIDAD</a:t>
            </a:r>
            <a:endParaRPr sz="1000">
              <a:solidFill>
                <a:schemeClr val="dk1"/>
              </a:solidFill>
              <a:latin typeface="Calibri"/>
              <a:ea typeface="Calibri"/>
              <a:cs typeface="Calibri"/>
              <a:sym typeface="Calibri"/>
            </a:endParaRPr>
          </a:p>
        </p:txBody>
      </p:sp>
      <p:sp>
        <p:nvSpPr>
          <p:cNvPr id="363" name="Google Shape;363;p11"/>
          <p:cNvSpPr/>
          <p:nvPr/>
        </p:nvSpPr>
        <p:spPr>
          <a:xfrm>
            <a:off x="4846320" y="1755648"/>
            <a:ext cx="16002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Raúl Roa</a:t>
            </a:r>
            <a:endParaRPr sz="1100">
              <a:solidFill>
                <a:schemeClr val="dk1"/>
              </a:solidFill>
              <a:latin typeface="Calibri"/>
              <a:ea typeface="Calibri"/>
              <a:cs typeface="Calibri"/>
              <a:sym typeface="Calibri"/>
            </a:endParaRPr>
          </a:p>
        </p:txBody>
      </p:sp>
      <p:sp>
        <p:nvSpPr>
          <p:cNvPr id="364" name="Google Shape;364;p11"/>
          <p:cNvSpPr/>
          <p:nvPr/>
        </p:nvSpPr>
        <p:spPr>
          <a:xfrm>
            <a:off x="4846320" y="1975104"/>
            <a:ext cx="1600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850"/>
              <a:buFont typeface="Calibri"/>
              <a:buNone/>
            </a:pPr>
            <a:r>
              <a:rPr lang="en-US" sz="850">
                <a:solidFill>
                  <a:srgbClr val="CADCFC"/>
                </a:solidFill>
                <a:latin typeface="Calibri"/>
                <a:ea typeface="Calibri"/>
                <a:cs typeface="Calibri"/>
                <a:sym typeface="Calibri"/>
              </a:rPr>
              <a:t>Backend y datos</a:t>
            </a:r>
            <a:endParaRPr sz="850">
              <a:solidFill>
                <a:schemeClr val="dk1"/>
              </a:solidFill>
              <a:latin typeface="Calibri"/>
              <a:ea typeface="Calibri"/>
              <a:cs typeface="Calibri"/>
              <a:sym typeface="Calibri"/>
            </a:endParaRPr>
          </a:p>
        </p:txBody>
      </p:sp>
      <p:sp>
        <p:nvSpPr>
          <p:cNvPr id="365" name="Google Shape;365;p11"/>
          <p:cNvSpPr/>
          <p:nvPr/>
        </p:nvSpPr>
        <p:spPr>
          <a:xfrm>
            <a:off x="6446520" y="1755648"/>
            <a:ext cx="16002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Benjamín Sandoval</a:t>
            </a:r>
            <a:endParaRPr sz="1100">
              <a:solidFill>
                <a:schemeClr val="dk1"/>
              </a:solidFill>
              <a:latin typeface="Calibri"/>
              <a:ea typeface="Calibri"/>
              <a:cs typeface="Calibri"/>
              <a:sym typeface="Calibri"/>
            </a:endParaRPr>
          </a:p>
        </p:txBody>
      </p:sp>
      <p:sp>
        <p:nvSpPr>
          <p:cNvPr id="366" name="Google Shape;366;p11"/>
          <p:cNvSpPr/>
          <p:nvPr/>
        </p:nvSpPr>
        <p:spPr>
          <a:xfrm>
            <a:off x="6446520" y="1975104"/>
            <a:ext cx="1600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850"/>
              <a:buFont typeface="Calibri"/>
              <a:buNone/>
            </a:pPr>
            <a:r>
              <a:rPr lang="en-US" sz="850">
                <a:solidFill>
                  <a:srgbClr val="CADCFC"/>
                </a:solidFill>
                <a:latin typeface="Calibri"/>
                <a:ea typeface="Calibri"/>
                <a:cs typeface="Calibri"/>
                <a:sym typeface="Calibri"/>
              </a:rPr>
              <a:t>Frontend y pruebas</a:t>
            </a:r>
            <a:endParaRPr sz="850">
              <a:solidFill>
                <a:schemeClr val="dk1"/>
              </a:solidFill>
              <a:latin typeface="Calibri"/>
              <a:ea typeface="Calibri"/>
              <a:cs typeface="Calibri"/>
              <a:sym typeface="Calibri"/>
            </a:endParaRPr>
          </a:p>
        </p:txBody>
      </p:sp>
      <p:sp>
        <p:nvSpPr>
          <p:cNvPr id="367" name="Google Shape;367;p11"/>
          <p:cNvSpPr/>
          <p:nvPr/>
        </p:nvSpPr>
        <p:spPr>
          <a:xfrm>
            <a:off x="8046720" y="1755648"/>
            <a:ext cx="16002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Marexpress</a:t>
            </a:r>
            <a:endParaRPr sz="1100">
              <a:solidFill>
                <a:schemeClr val="dk1"/>
              </a:solidFill>
              <a:latin typeface="Calibri"/>
              <a:ea typeface="Calibri"/>
              <a:cs typeface="Calibri"/>
              <a:sym typeface="Calibri"/>
            </a:endParaRPr>
          </a:p>
        </p:txBody>
      </p:sp>
      <p:sp>
        <p:nvSpPr>
          <p:cNvPr id="368" name="Google Shape;368;p11"/>
          <p:cNvSpPr/>
          <p:nvPr/>
        </p:nvSpPr>
        <p:spPr>
          <a:xfrm>
            <a:off x="8046720" y="1975104"/>
            <a:ext cx="1600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850"/>
              <a:buFont typeface="Calibri"/>
              <a:buNone/>
            </a:pPr>
            <a:r>
              <a:rPr lang="en-US" sz="850">
                <a:solidFill>
                  <a:srgbClr val="CADCFC"/>
                </a:solidFill>
                <a:latin typeface="Calibri"/>
                <a:ea typeface="Calibri"/>
                <a:cs typeface="Calibri"/>
                <a:sym typeface="Calibri"/>
              </a:rPr>
              <a:t>Contraparte</a:t>
            </a:r>
            <a:endParaRPr sz="850">
              <a:solidFill>
                <a:schemeClr val="dk1"/>
              </a:solidFill>
              <a:latin typeface="Calibri"/>
              <a:ea typeface="Calibri"/>
              <a:cs typeface="Calibri"/>
              <a:sym typeface="Calibri"/>
            </a:endParaRPr>
          </a:p>
        </p:txBody>
      </p:sp>
      <p:sp>
        <p:nvSpPr>
          <p:cNvPr id="369" name="Google Shape;369;p11"/>
          <p:cNvSpPr/>
          <p:nvPr/>
        </p:nvSpPr>
        <p:spPr>
          <a:xfrm>
            <a:off x="9646920" y="1755648"/>
            <a:ext cx="1600200" cy="23774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100"/>
              <a:buFont typeface="Calibri"/>
              <a:buNone/>
            </a:pPr>
            <a:r>
              <a:rPr b="1" lang="en-US" sz="1100">
                <a:solidFill>
                  <a:srgbClr val="FFFFFF"/>
                </a:solidFill>
                <a:latin typeface="Calibri"/>
                <a:ea typeface="Calibri"/>
                <a:cs typeface="Calibri"/>
                <a:sym typeface="Calibri"/>
              </a:rPr>
              <a:t>Docente guía</a:t>
            </a:r>
            <a:endParaRPr sz="1100">
              <a:solidFill>
                <a:schemeClr val="dk1"/>
              </a:solidFill>
              <a:latin typeface="Calibri"/>
              <a:ea typeface="Calibri"/>
              <a:cs typeface="Calibri"/>
              <a:sym typeface="Calibri"/>
            </a:endParaRPr>
          </a:p>
        </p:txBody>
      </p:sp>
      <p:sp>
        <p:nvSpPr>
          <p:cNvPr id="370" name="Google Shape;370;p11"/>
          <p:cNvSpPr/>
          <p:nvPr/>
        </p:nvSpPr>
        <p:spPr>
          <a:xfrm>
            <a:off x="9646920" y="1975104"/>
            <a:ext cx="1600200" cy="20116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ADCFC"/>
              </a:buClr>
              <a:buSzPts val="850"/>
              <a:buFont typeface="Calibri"/>
              <a:buNone/>
            </a:pPr>
            <a:r>
              <a:rPr lang="en-US" sz="850">
                <a:solidFill>
                  <a:srgbClr val="CADCFC"/>
                </a:solidFill>
                <a:latin typeface="Calibri"/>
                <a:ea typeface="Calibri"/>
                <a:cs typeface="Calibri"/>
                <a:sym typeface="Calibri"/>
              </a:rPr>
              <a:t>Portafolio</a:t>
            </a:r>
            <a:endParaRPr sz="850">
              <a:solidFill>
                <a:schemeClr val="dk1"/>
              </a:solidFill>
              <a:latin typeface="Calibri"/>
              <a:ea typeface="Calibri"/>
              <a:cs typeface="Calibri"/>
              <a:sym typeface="Calibri"/>
            </a:endParaRPr>
          </a:p>
        </p:txBody>
      </p:sp>
      <p:sp>
        <p:nvSpPr>
          <p:cNvPr id="371" name="Google Shape;371;p11"/>
          <p:cNvSpPr/>
          <p:nvPr/>
        </p:nvSpPr>
        <p:spPr>
          <a:xfrm>
            <a:off x="566928" y="2304288"/>
            <a:ext cx="11055096" cy="274320"/>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2" name="Google Shape;372;p11"/>
          <p:cNvSpPr/>
          <p:nvPr/>
        </p:nvSpPr>
        <p:spPr>
          <a:xfrm>
            <a:off x="731520" y="230428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Requerimientos funcionales y no funcionales</a:t>
            </a:r>
            <a:endParaRPr sz="1000">
              <a:solidFill>
                <a:schemeClr val="dk1"/>
              </a:solidFill>
              <a:latin typeface="Calibri"/>
              <a:ea typeface="Calibri"/>
              <a:cs typeface="Calibri"/>
              <a:sym typeface="Calibri"/>
            </a:endParaRPr>
          </a:p>
        </p:txBody>
      </p:sp>
      <p:sp>
        <p:nvSpPr>
          <p:cNvPr id="373" name="Google Shape;373;p11"/>
          <p:cNvSpPr/>
          <p:nvPr/>
        </p:nvSpPr>
        <p:spPr>
          <a:xfrm>
            <a:off x="5536692" y="233172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11"/>
          <p:cNvSpPr/>
          <p:nvPr/>
        </p:nvSpPr>
        <p:spPr>
          <a:xfrm>
            <a:off x="5536692" y="23317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375" name="Google Shape;375;p11"/>
          <p:cNvSpPr/>
          <p:nvPr/>
        </p:nvSpPr>
        <p:spPr>
          <a:xfrm>
            <a:off x="7136892" y="233172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6" name="Google Shape;376;p11"/>
          <p:cNvSpPr/>
          <p:nvPr/>
        </p:nvSpPr>
        <p:spPr>
          <a:xfrm>
            <a:off x="7136892" y="23317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377" name="Google Shape;377;p11"/>
          <p:cNvSpPr/>
          <p:nvPr/>
        </p:nvSpPr>
        <p:spPr>
          <a:xfrm>
            <a:off x="8737092" y="233172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11"/>
          <p:cNvSpPr/>
          <p:nvPr/>
        </p:nvSpPr>
        <p:spPr>
          <a:xfrm>
            <a:off x="8737092" y="23317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379" name="Google Shape;379;p11"/>
          <p:cNvSpPr/>
          <p:nvPr/>
        </p:nvSpPr>
        <p:spPr>
          <a:xfrm>
            <a:off x="10337292" y="233172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0" name="Google Shape;380;p11"/>
          <p:cNvSpPr/>
          <p:nvPr/>
        </p:nvSpPr>
        <p:spPr>
          <a:xfrm>
            <a:off x="10337292" y="23317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381" name="Google Shape;381;p11"/>
          <p:cNvSpPr/>
          <p:nvPr/>
        </p:nvSpPr>
        <p:spPr>
          <a:xfrm>
            <a:off x="731520" y="257860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Arquitectura y modelo de base de datos</a:t>
            </a:r>
            <a:endParaRPr sz="1000">
              <a:solidFill>
                <a:schemeClr val="dk1"/>
              </a:solidFill>
              <a:latin typeface="Calibri"/>
              <a:ea typeface="Calibri"/>
              <a:cs typeface="Calibri"/>
              <a:sym typeface="Calibri"/>
            </a:endParaRPr>
          </a:p>
        </p:txBody>
      </p:sp>
      <p:sp>
        <p:nvSpPr>
          <p:cNvPr id="382" name="Google Shape;382;p11"/>
          <p:cNvSpPr/>
          <p:nvPr/>
        </p:nvSpPr>
        <p:spPr>
          <a:xfrm>
            <a:off x="5536692" y="260604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3" name="Google Shape;383;p11"/>
          <p:cNvSpPr/>
          <p:nvPr/>
        </p:nvSpPr>
        <p:spPr>
          <a:xfrm>
            <a:off x="5536692" y="26060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384" name="Google Shape;384;p11"/>
          <p:cNvSpPr/>
          <p:nvPr/>
        </p:nvSpPr>
        <p:spPr>
          <a:xfrm>
            <a:off x="7136892" y="260604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5" name="Google Shape;385;p11"/>
          <p:cNvSpPr/>
          <p:nvPr/>
        </p:nvSpPr>
        <p:spPr>
          <a:xfrm>
            <a:off x="7136892" y="26060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386" name="Google Shape;386;p11"/>
          <p:cNvSpPr/>
          <p:nvPr/>
        </p:nvSpPr>
        <p:spPr>
          <a:xfrm>
            <a:off x="8737092" y="260604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7" name="Google Shape;387;p11"/>
          <p:cNvSpPr/>
          <p:nvPr/>
        </p:nvSpPr>
        <p:spPr>
          <a:xfrm>
            <a:off x="8737092" y="26060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388" name="Google Shape;388;p11"/>
          <p:cNvSpPr/>
          <p:nvPr/>
        </p:nvSpPr>
        <p:spPr>
          <a:xfrm>
            <a:off x="10337292" y="260604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89" name="Google Shape;389;p11"/>
          <p:cNvSpPr/>
          <p:nvPr/>
        </p:nvSpPr>
        <p:spPr>
          <a:xfrm>
            <a:off x="10337292" y="26060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390" name="Google Shape;390;p11"/>
          <p:cNvSpPr/>
          <p:nvPr/>
        </p:nvSpPr>
        <p:spPr>
          <a:xfrm>
            <a:off x="566928" y="2852928"/>
            <a:ext cx="11055096" cy="274320"/>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1" name="Google Shape;391;p11"/>
          <p:cNvSpPr/>
          <p:nvPr/>
        </p:nvSpPr>
        <p:spPr>
          <a:xfrm>
            <a:off x="731520" y="285292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Prototipos, interfaz y navegación</a:t>
            </a:r>
            <a:endParaRPr sz="1000">
              <a:solidFill>
                <a:schemeClr val="dk1"/>
              </a:solidFill>
              <a:latin typeface="Calibri"/>
              <a:ea typeface="Calibri"/>
              <a:cs typeface="Calibri"/>
              <a:sym typeface="Calibri"/>
            </a:endParaRPr>
          </a:p>
        </p:txBody>
      </p:sp>
      <p:sp>
        <p:nvSpPr>
          <p:cNvPr id="392" name="Google Shape;392;p11"/>
          <p:cNvSpPr/>
          <p:nvPr/>
        </p:nvSpPr>
        <p:spPr>
          <a:xfrm>
            <a:off x="5536692" y="288036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3" name="Google Shape;393;p11"/>
          <p:cNvSpPr/>
          <p:nvPr/>
        </p:nvSpPr>
        <p:spPr>
          <a:xfrm>
            <a:off x="5536692" y="288036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394" name="Google Shape;394;p11"/>
          <p:cNvSpPr/>
          <p:nvPr/>
        </p:nvSpPr>
        <p:spPr>
          <a:xfrm>
            <a:off x="7136892" y="288036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5" name="Google Shape;395;p11"/>
          <p:cNvSpPr/>
          <p:nvPr/>
        </p:nvSpPr>
        <p:spPr>
          <a:xfrm>
            <a:off x="7136892" y="288036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396" name="Google Shape;396;p11"/>
          <p:cNvSpPr/>
          <p:nvPr/>
        </p:nvSpPr>
        <p:spPr>
          <a:xfrm>
            <a:off x="8737092" y="288036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7" name="Google Shape;397;p11"/>
          <p:cNvSpPr/>
          <p:nvPr/>
        </p:nvSpPr>
        <p:spPr>
          <a:xfrm>
            <a:off x="8737092" y="288036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398" name="Google Shape;398;p11"/>
          <p:cNvSpPr/>
          <p:nvPr/>
        </p:nvSpPr>
        <p:spPr>
          <a:xfrm>
            <a:off x="10337292" y="288036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99" name="Google Shape;399;p11"/>
          <p:cNvSpPr/>
          <p:nvPr/>
        </p:nvSpPr>
        <p:spPr>
          <a:xfrm>
            <a:off x="10337292" y="288036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00" name="Google Shape;400;p11"/>
          <p:cNvSpPr/>
          <p:nvPr/>
        </p:nvSpPr>
        <p:spPr>
          <a:xfrm>
            <a:off x="731520" y="312724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Autenticación, roles y módulos maestros</a:t>
            </a:r>
            <a:endParaRPr sz="1000">
              <a:solidFill>
                <a:schemeClr val="dk1"/>
              </a:solidFill>
              <a:latin typeface="Calibri"/>
              <a:ea typeface="Calibri"/>
              <a:cs typeface="Calibri"/>
              <a:sym typeface="Calibri"/>
            </a:endParaRPr>
          </a:p>
        </p:txBody>
      </p:sp>
      <p:sp>
        <p:nvSpPr>
          <p:cNvPr id="401" name="Google Shape;401;p11"/>
          <p:cNvSpPr/>
          <p:nvPr/>
        </p:nvSpPr>
        <p:spPr>
          <a:xfrm>
            <a:off x="5536692" y="315468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2" name="Google Shape;402;p11"/>
          <p:cNvSpPr/>
          <p:nvPr/>
        </p:nvSpPr>
        <p:spPr>
          <a:xfrm>
            <a:off x="5536692" y="315468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03" name="Google Shape;403;p11"/>
          <p:cNvSpPr/>
          <p:nvPr/>
        </p:nvSpPr>
        <p:spPr>
          <a:xfrm>
            <a:off x="7136892" y="315468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4" name="Google Shape;404;p11"/>
          <p:cNvSpPr/>
          <p:nvPr/>
        </p:nvSpPr>
        <p:spPr>
          <a:xfrm>
            <a:off x="7136892" y="315468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05" name="Google Shape;405;p11"/>
          <p:cNvSpPr/>
          <p:nvPr/>
        </p:nvSpPr>
        <p:spPr>
          <a:xfrm>
            <a:off x="8737092" y="315468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6" name="Google Shape;406;p11"/>
          <p:cNvSpPr/>
          <p:nvPr/>
        </p:nvSpPr>
        <p:spPr>
          <a:xfrm>
            <a:off x="8737092" y="315468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07" name="Google Shape;407;p11"/>
          <p:cNvSpPr/>
          <p:nvPr/>
        </p:nvSpPr>
        <p:spPr>
          <a:xfrm>
            <a:off x="10337292" y="315468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08" name="Google Shape;408;p11"/>
          <p:cNvSpPr/>
          <p:nvPr/>
        </p:nvSpPr>
        <p:spPr>
          <a:xfrm>
            <a:off x="10337292" y="315468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09" name="Google Shape;409;p11"/>
          <p:cNvSpPr/>
          <p:nvPr/>
        </p:nvSpPr>
        <p:spPr>
          <a:xfrm>
            <a:off x="566928" y="3401568"/>
            <a:ext cx="11055096" cy="274320"/>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0" name="Google Shape;410;p11"/>
          <p:cNvSpPr/>
          <p:nvPr/>
        </p:nvSpPr>
        <p:spPr>
          <a:xfrm>
            <a:off x="731520" y="340156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Módulo de Orden de Transporte</a:t>
            </a:r>
            <a:endParaRPr sz="1000">
              <a:solidFill>
                <a:schemeClr val="dk1"/>
              </a:solidFill>
              <a:latin typeface="Calibri"/>
              <a:ea typeface="Calibri"/>
              <a:cs typeface="Calibri"/>
              <a:sym typeface="Calibri"/>
            </a:endParaRPr>
          </a:p>
        </p:txBody>
      </p:sp>
      <p:sp>
        <p:nvSpPr>
          <p:cNvPr id="411" name="Google Shape;411;p11"/>
          <p:cNvSpPr/>
          <p:nvPr/>
        </p:nvSpPr>
        <p:spPr>
          <a:xfrm>
            <a:off x="5536692" y="342900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2" name="Google Shape;412;p11"/>
          <p:cNvSpPr/>
          <p:nvPr/>
        </p:nvSpPr>
        <p:spPr>
          <a:xfrm>
            <a:off x="5536692" y="342900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13" name="Google Shape;413;p11"/>
          <p:cNvSpPr/>
          <p:nvPr/>
        </p:nvSpPr>
        <p:spPr>
          <a:xfrm>
            <a:off x="7136892" y="342900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4" name="Google Shape;414;p11"/>
          <p:cNvSpPr/>
          <p:nvPr/>
        </p:nvSpPr>
        <p:spPr>
          <a:xfrm>
            <a:off x="7136892" y="342900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15" name="Google Shape;415;p11"/>
          <p:cNvSpPr/>
          <p:nvPr/>
        </p:nvSpPr>
        <p:spPr>
          <a:xfrm>
            <a:off x="8737092" y="342900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6" name="Google Shape;416;p11"/>
          <p:cNvSpPr/>
          <p:nvPr/>
        </p:nvSpPr>
        <p:spPr>
          <a:xfrm>
            <a:off x="8737092" y="342900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17" name="Google Shape;417;p11"/>
          <p:cNvSpPr/>
          <p:nvPr/>
        </p:nvSpPr>
        <p:spPr>
          <a:xfrm>
            <a:off x="10337292" y="342900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8" name="Google Shape;418;p11"/>
          <p:cNvSpPr/>
          <p:nvPr/>
        </p:nvSpPr>
        <p:spPr>
          <a:xfrm>
            <a:off x="10337292" y="342900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19" name="Google Shape;419;p11"/>
          <p:cNvSpPr/>
          <p:nvPr/>
        </p:nvSpPr>
        <p:spPr>
          <a:xfrm>
            <a:off x="731520" y="367588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Auditoría y recuperación de OT</a:t>
            </a:r>
            <a:endParaRPr sz="1000">
              <a:solidFill>
                <a:schemeClr val="dk1"/>
              </a:solidFill>
              <a:latin typeface="Calibri"/>
              <a:ea typeface="Calibri"/>
              <a:cs typeface="Calibri"/>
              <a:sym typeface="Calibri"/>
            </a:endParaRPr>
          </a:p>
        </p:txBody>
      </p:sp>
      <p:sp>
        <p:nvSpPr>
          <p:cNvPr id="420" name="Google Shape;420;p11"/>
          <p:cNvSpPr/>
          <p:nvPr/>
        </p:nvSpPr>
        <p:spPr>
          <a:xfrm>
            <a:off x="5536692" y="370332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1" name="Google Shape;421;p11"/>
          <p:cNvSpPr/>
          <p:nvPr/>
        </p:nvSpPr>
        <p:spPr>
          <a:xfrm>
            <a:off x="5536692" y="37033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22" name="Google Shape;422;p11"/>
          <p:cNvSpPr/>
          <p:nvPr/>
        </p:nvSpPr>
        <p:spPr>
          <a:xfrm>
            <a:off x="7136892" y="370332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3" name="Google Shape;423;p11"/>
          <p:cNvSpPr/>
          <p:nvPr/>
        </p:nvSpPr>
        <p:spPr>
          <a:xfrm>
            <a:off x="7136892" y="37033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24" name="Google Shape;424;p11"/>
          <p:cNvSpPr/>
          <p:nvPr/>
        </p:nvSpPr>
        <p:spPr>
          <a:xfrm>
            <a:off x="8737092" y="370332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5" name="Google Shape;425;p11"/>
          <p:cNvSpPr/>
          <p:nvPr/>
        </p:nvSpPr>
        <p:spPr>
          <a:xfrm>
            <a:off x="8737092" y="37033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26" name="Google Shape;426;p11"/>
          <p:cNvSpPr/>
          <p:nvPr/>
        </p:nvSpPr>
        <p:spPr>
          <a:xfrm>
            <a:off x="10337292" y="370332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7" name="Google Shape;427;p11"/>
          <p:cNvSpPr/>
          <p:nvPr/>
        </p:nvSpPr>
        <p:spPr>
          <a:xfrm>
            <a:off x="10337292" y="37033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28" name="Google Shape;428;p11"/>
          <p:cNvSpPr/>
          <p:nvPr/>
        </p:nvSpPr>
        <p:spPr>
          <a:xfrm>
            <a:off x="566928" y="3950208"/>
            <a:ext cx="11055096" cy="274320"/>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29" name="Google Shape;429;p11"/>
          <p:cNvSpPr/>
          <p:nvPr/>
        </p:nvSpPr>
        <p:spPr>
          <a:xfrm>
            <a:off x="731520" y="395020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Manifiestos y control de carga</a:t>
            </a:r>
            <a:endParaRPr sz="1000">
              <a:solidFill>
                <a:schemeClr val="dk1"/>
              </a:solidFill>
              <a:latin typeface="Calibri"/>
              <a:ea typeface="Calibri"/>
              <a:cs typeface="Calibri"/>
              <a:sym typeface="Calibri"/>
            </a:endParaRPr>
          </a:p>
        </p:txBody>
      </p:sp>
      <p:sp>
        <p:nvSpPr>
          <p:cNvPr id="430" name="Google Shape;430;p11"/>
          <p:cNvSpPr/>
          <p:nvPr/>
        </p:nvSpPr>
        <p:spPr>
          <a:xfrm>
            <a:off x="5536692" y="397764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1" name="Google Shape;431;p11"/>
          <p:cNvSpPr/>
          <p:nvPr/>
        </p:nvSpPr>
        <p:spPr>
          <a:xfrm>
            <a:off x="5536692" y="39776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32" name="Google Shape;432;p11"/>
          <p:cNvSpPr/>
          <p:nvPr/>
        </p:nvSpPr>
        <p:spPr>
          <a:xfrm>
            <a:off x="7136892" y="397764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3" name="Google Shape;433;p11"/>
          <p:cNvSpPr/>
          <p:nvPr/>
        </p:nvSpPr>
        <p:spPr>
          <a:xfrm>
            <a:off x="7136892" y="39776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34" name="Google Shape;434;p11"/>
          <p:cNvSpPr/>
          <p:nvPr/>
        </p:nvSpPr>
        <p:spPr>
          <a:xfrm>
            <a:off x="8737092" y="397764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5" name="Google Shape;435;p11"/>
          <p:cNvSpPr/>
          <p:nvPr/>
        </p:nvSpPr>
        <p:spPr>
          <a:xfrm>
            <a:off x="8737092" y="39776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36" name="Google Shape;436;p11"/>
          <p:cNvSpPr/>
          <p:nvPr/>
        </p:nvSpPr>
        <p:spPr>
          <a:xfrm>
            <a:off x="10337292" y="397764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37" name="Google Shape;437;p11"/>
          <p:cNvSpPr/>
          <p:nvPr/>
        </p:nvSpPr>
        <p:spPr>
          <a:xfrm>
            <a:off x="10337292" y="39776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38" name="Google Shape;438;p11"/>
          <p:cNvSpPr/>
          <p:nvPr/>
        </p:nvSpPr>
        <p:spPr>
          <a:xfrm>
            <a:off x="731520" y="422452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Seguimiento de envíos por la web</a:t>
            </a:r>
            <a:endParaRPr sz="1000">
              <a:solidFill>
                <a:schemeClr val="dk1"/>
              </a:solidFill>
              <a:latin typeface="Calibri"/>
              <a:ea typeface="Calibri"/>
              <a:cs typeface="Calibri"/>
              <a:sym typeface="Calibri"/>
            </a:endParaRPr>
          </a:p>
        </p:txBody>
      </p:sp>
      <p:sp>
        <p:nvSpPr>
          <p:cNvPr id="439" name="Google Shape;439;p11"/>
          <p:cNvSpPr/>
          <p:nvPr/>
        </p:nvSpPr>
        <p:spPr>
          <a:xfrm>
            <a:off x="5536692" y="425196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0" name="Google Shape;440;p11"/>
          <p:cNvSpPr/>
          <p:nvPr/>
        </p:nvSpPr>
        <p:spPr>
          <a:xfrm>
            <a:off x="5536692" y="425196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41" name="Google Shape;441;p11"/>
          <p:cNvSpPr/>
          <p:nvPr/>
        </p:nvSpPr>
        <p:spPr>
          <a:xfrm>
            <a:off x="7136892" y="425196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2" name="Google Shape;442;p11"/>
          <p:cNvSpPr/>
          <p:nvPr/>
        </p:nvSpPr>
        <p:spPr>
          <a:xfrm>
            <a:off x="7136892" y="425196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43" name="Google Shape;443;p11"/>
          <p:cNvSpPr/>
          <p:nvPr/>
        </p:nvSpPr>
        <p:spPr>
          <a:xfrm>
            <a:off x="8737092" y="425196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4" name="Google Shape;444;p11"/>
          <p:cNvSpPr/>
          <p:nvPr/>
        </p:nvSpPr>
        <p:spPr>
          <a:xfrm>
            <a:off x="8737092" y="425196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45" name="Google Shape;445;p11"/>
          <p:cNvSpPr/>
          <p:nvPr/>
        </p:nvSpPr>
        <p:spPr>
          <a:xfrm>
            <a:off x="10337292" y="425196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6" name="Google Shape;446;p11"/>
          <p:cNvSpPr/>
          <p:nvPr/>
        </p:nvSpPr>
        <p:spPr>
          <a:xfrm>
            <a:off x="10337292" y="425196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47" name="Google Shape;447;p11"/>
          <p:cNvSpPr/>
          <p:nvPr/>
        </p:nvSpPr>
        <p:spPr>
          <a:xfrm>
            <a:off x="566928" y="4498848"/>
            <a:ext cx="11055096" cy="274320"/>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48" name="Google Shape;448;p11"/>
          <p:cNvSpPr/>
          <p:nvPr/>
        </p:nvSpPr>
        <p:spPr>
          <a:xfrm>
            <a:off x="731520" y="449884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Pago en línea (Webpay) y alertas</a:t>
            </a:r>
            <a:endParaRPr sz="1000">
              <a:solidFill>
                <a:schemeClr val="dk1"/>
              </a:solidFill>
              <a:latin typeface="Calibri"/>
              <a:ea typeface="Calibri"/>
              <a:cs typeface="Calibri"/>
              <a:sym typeface="Calibri"/>
            </a:endParaRPr>
          </a:p>
        </p:txBody>
      </p:sp>
      <p:sp>
        <p:nvSpPr>
          <p:cNvPr id="449" name="Google Shape;449;p11"/>
          <p:cNvSpPr/>
          <p:nvPr/>
        </p:nvSpPr>
        <p:spPr>
          <a:xfrm>
            <a:off x="5536692" y="452628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0" name="Google Shape;450;p11"/>
          <p:cNvSpPr/>
          <p:nvPr/>
        </p:nvSpPr>
        <p:spPr>
          <a:xfrm>
            <a:off x="5536692" y="452628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51" name="Google Shape;451;p11"/>
          <p:cNvSpPr/>
          <p:nvPr/>
        </p:nvSpPr>
        <p:spPr>
          <a:xfrm>
            <a:off x="7136892" y="452628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2" name="Google Shape;452;p11"/>
          <p:cNvSpPr/>
          <p:nvPr/>
        </p:nvSpPr>
        <p:spPr>
          <a:xfrm>
            <a:off x="7136892" y="452628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53" name="Google Shape;453;p11"/>
          <p:cNvSpPr/>
          <p:nvPr/>
        </p:nvSpPr>
        <p:spPr>
          <a:xfrm>
            <a:off x="8737092" y="452628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4" name="Google Shape;454;p11"/>
          <p:cNvSpPr/>
          <p:nvPr/>
        </p:nvSpPr>
        <p:spPr>
          <a:xfrm>
            <a:off x="8737092" y="452628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55" name="Google Shape;455;p11"/>
          <p:cNvSpPr/>
          <p:nvPr/>
        </p:nvSpPr>
        <p:spPr>
          <a:xfrm>
            <a:off x="10337292" y="452628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6" name="Google Shape;456;p11"/>
          <p:cNvSpPr/>
          <p:nvPr/>
        </p:nvSpPr>
        <p:spPr>
          <a:xfrm>
            <a:off x="10337292" y="452628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57" name="Google Shape;457;p11"/>
          <p:cNvSpPr/>
          <p:nvPr/>
        </p:nvSpPr>
        <p:spPr>
          <a:xfrm>
            <a:off x="731520" y="477316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Reportes y Machine Learning</a:t>
            </a:r>
            <a:endParaRPr sz="1000">
              <a:solidFill>
                <a:schemeClr val="dk1"/>
              </a:solidFill>
              <a:latin typeface="Calibri"/>
              <a:ea typeface="Calibri"/>
              <a:cs typeface="Calibri"/>
              <a:sym typeface="Calibri"/>
            </a:endParaRPr>
          </a:p>
        </p:txBody>
      </p:sp>
      <p:sp>
        <p:nvSpPr>
          <p:cNvPr id="458" name="Google Shape;458;p11"/>
          <p:cNvSpPr/>
          <p:nvPr/>
        </p:nvSpPr>
        <p:spPr>
          <a:xfrm>
            <a:off x="5536692" y="480060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59" name="Google Shape;459;p11"/>
          <p:cNvSpPr/>
          <p:nvPr/>
        </p:nvSpPr>
        <p:spPr>
          <a:xfrm>
            <a:off x="5536692" y="480060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60" name="Google Shape;460;p11"/>
          <p:cNvSpPr/>
          <p:nvPr/>
        </p:nvSpPr>
        <p:spPr>
          <a:xfrm>
            <a:off x="7136892" y="480060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1" name="Google Shape;461;p11"/>
          <p:cNvSpPr/>
          <p:nvPr/>
        </p:nvSpPr>
        <p:spPr>
          <a:xfrm>
            <a:off x="7136892" y="480060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62" name="Google Shape;462;p11"/>
          <p:cNvSpPr/>
          <p:nvPr/>
        </p:nvSpPr>
        <p:spPr>
          <a:xfrm>
            <a:off x="8737092" y="480060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3" name="Google Shape;463;p11"/>
          <p:cNvSpPr/>
          <p:nvPr/>
        </p:nvSpPr>
        <p:spPr>
          <a:xfrm>
            <a:off x="8737092" y="480060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64" name="Google Shape;464;p11"/>
          <p:cNvSpPr/>
          <p:nvPr/>
        </p:nvSpPr>
        <p:spPr>
          <a:xfrm>
            <a:off x="10337292" y="480060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5" name="Google Shape;465;p11"/>
          <p:cNvSpPr/>
          <p:nvPr/>
        </p:nvSpPr>
        <p:spPr>
          <a:xfrm>
            <a:off x="10337292" y="480060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66" name="Google Shape;466;p11"/>
          <p:cNvSpPr/>
          <p:nvPr/>
        </p:nvSpPr>
        <p:spPr>
          <a:xfrm>
            <a:off x="566928" y="5047488"/>
            <a:ext cx="11055096" cy="274320"/>
          </a:xfrm>
          <a:prstGeom prst="rect">
            <a:avLst/>
          </a:prstGeom>
          <a:solidFill>
            <a:srgbClr val="FAFBFD"/>
          </a:solidFill>
          <a:ln cap="flat" cmpd="sng" w="12700">
            <a:solidFill>
              <a:srgbClr val="FAFBFD"/>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7" name="Google Shape;467;p11"/>
          <p:cNvSpPr/>
          <p:nvPr/>
        </p:nvSpPr>
        <p:spPr>
          <a:xfrm>
            <a:off x="731520" y="504748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Pruebas funcionales e integración</a:t>
            </a:r>
            <a:endParaRPr sz="1000">
              <a:solidFill>
                <a:schemeClr val="dk1"/>
              </a:solidFill>
              <a:latin typeface="Calibri"/>
              <a:ea typeface="Calibri"/>
              <a:cs typeface="Calibri"/>
              <a:sym typeface="Calibri"/>
            </a:endParaRPr>
          </a:p>
        </p:txBody>
      </p:sp>
      <p:sp>
        <p:nvSpPr>
          <p:cNvPr id="468" name="Google Shape;468;p11"/>
          <p:cNvSpPr/>
          <p:nvPr/>
        </p:nvSpPr>
        <p:spPr>
          <a:xfrm>
            <a:off x="5536692" y="507492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9" name="Google Shape;469;p11"/>
          <p:cNvSpPr/>
          <p:nvPr/>
        </p:nvSpPr>
        <p:spPr>
          <a:xfrm>
            <a:off x="5536692" y="50749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70" name="Google Shape;470;p11"/>
          <p:cNvSpPr/>
          <p:nvPr/>
        </p:nvSpPr>
        <p:spPr>
          <a:xfrm>
            <a:off x="7136892" y="507492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1" name="Google Shape;471;p11"/>
          <p:cNvSpPr/>
          <p:nvPr/>
        </p:nvSpPr>
        <p:spPr>
          <a:xfrm>
            <a:off x="7136892" y="50749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72" name="Google Shape;472;p11"/>
          <p:cNvSpPr/>
          <p:nvPr/>
        </p:nvSpPr>
        <p:spPr>
          <a:xfrm>
            <a:off x="8737092" y="507492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3" name="Google Shape;473;p11"/>
          <p:cNvSpPr/>
          <p:nvPr/>
        </p:nvSpPr>
        <p:spPr>
          <a:xfrm>
            <a:off x="8737092" y="50749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74" name="Google Shape;474;p11"/>
          <p:cNvSpPr/>
          <p:nvPr/>
        </p:nvSpPr>
        <p:spPr>
          <a:xfrm>
            <a:off x="10337292" y="507492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5" name="Google Shape;475;p11"/>
          <p:cNvSpPr/>
          <p:nvPr/>
        </p:nvSpPr>
        <p:spPr>
          <a:xfrm>
            <a:off x="10337292" y="507492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76" name="Google Shape;476;p11"/>
          <p:cNvSpPr/>
          <p:nvPr/>
        </p:nvSpPr>
        <p:spPr>
          <a:xfrm>
            <a:off x="731520" y="5321808"/>
            <a:ext cx="41605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000"/>
              <a:buFont typeface="Calibri"/>
              <a:buNone/>
            </a:pPr>
            <a:r>
              <a:rPr lang="en-US" sz="1000">
                <a:solidFill>
                  <a:srgbClr val="1E2761"/>
                </a:solidFill>
                <a:latin typeface="Calibri"/>
                <a:ea typeface="Calibri"/>
                <a:cs typeface="Calibri"/>
                <a:sym typeface="Calibri"/>
              </a:rPr>
              <a:t>Documentación, evidencias y presentación</a:t>
            </a:r>
            <a:endParaRPr sz="1000">
              <a:solidFill>
                <a:schemeClr val="dk1"/>
              </a:solidFill>
              <a:latin typeface="Calibri"/>
              <a:ea typeface="Calibri"/>
              <a:cs typeface="Calibri"/>
              <a:sym typeface="Calibri"/>
            </a:endParaRPr>
          </a:p>
        </p:txBody>
      </p:sp>
      <p:sp>
        <p:nvSpPr>
          <p:cNvPr id="477" name="Google Shape;477;p11"/>
          <p:cNvSpPr/>
          <p:nvPr/>
        </p:nvSpPr>
        <p:spPr>
          <a:xfrm>
            <a:off x="5536692" y="5349240"/>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78" name="Google Shape;478;p11"/>
          <p:cNvSpPr/>
          <p:nvPr/>
        </p:nvSpPr>
        <p:spPr>
          <a:xfrm>
            <a:off x="5536692" y="53492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79" name="Google Shape;479;p11"/>
          <p:cNvSpPr/>
          <p:nvPr/>
        </p:nvSpPr>
        <p:spPr>
          <a:xfrm>
            <a:off x="7136892" y="5349240"/>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0" name="Google Shape;480;p11"/>
          <p:cNvSpPr/>
          <p:nvPr/>
        </p:nvSpPr>
        <p:spPr>
          <a:xfrm>
            <a:off x="7136892" y="53492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81" name="Google Shape;481;p11"/>
          <p:cNvSpPr/>
          <p:nvPr/>
        </p:nvSpPr>
        <p:spPr>
          <a:xfrm>
            <a:off x="8737092" y="5349240"/>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2" name="Google Shape;482;p11"/>
          <p:cNvSpPr/>
          <p:nvPr/>
        </p:nvSpPr>
        <p:spPr>
          <a:xfrm>
            <a:off x="8737092" y="53492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83" name="Google Shape;483;p11"/>
          <p:cNvSpPr/>
          <p:nvPr/>
        </p:nvSpPr>
        <p:spPr>
          <a:xfrm>
            <a:off x="10337292" y="5349240"/>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4" name="Google Shape;484;p11"/>
          <p:cNvSpPr/>
          <p:nvPr/>
        </p:nvSpPr>
        <p:spPr>
          <a:xfrm>
            <a:off x="10337292" y="5349240"/>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85" name="Google Shape;485;p11"/>
          <p:cNvSpPr/>
          <p:nvPr/>
        </p:nvSpPr>
        <p:spPr>
          <a:xfrm>
            <a:off x="566928" y="5815584"/>
            <a:ext cx="219456" cy="21945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6" name="Google Shape;486;p11"/>
          <p:cNvSpPr/>
          <p:nvPr/>
        </p:nvSpPr>
        <p:spPr>
          <a:xfrm>
            <a:off x="566928" y="5815584"/>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R</a:t>
            </a:r>
            <a:endParaRPr sz="1000">
              <a:solidFill>
                <a:schemeClr val="dk1"/>
              </a:solidFill>
              <a:latin typeface="Calibri"/>
              <a:ea typeface="Calibri"/>
              <a:cs typeface="Calibri"/>
              <a:sym typeface="Calibri"/>
            </a:endParaRPr>
          </a:p>
        </p:txBody>
      </p:sp>
      <p:sp>
        <p:nvSpPr>
          <p:cNvPr id="487" name="Google Shape;487;p11"/>
          <p:cNvSpPr/>
          <p:nvPr/>
        </p:nvSpPr>
        <p:spPr>
          <a:xfrm>
            <a:off x="877824" y="5815584"/>
            <a:ext cx="2377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50"/>
              <a:buFont typeface="Calibri"/>
              <a:buNone/>
            </a:pPr>
            <a:r>
              <a:rPr lang="en-US" sz="1050">
                <a:solidFill>
                  <a:srgbClr val="5A6478"/>
                </a:solidFill>
                <a:latin typeface="Calibri"/>
                <a:ea typeface="Calibri"/>
                <a:cs typeface="Calibri"/>
                <a:sym typeface="Calibri"/>
              </a:rPr>
              <a:t>Responsable de ejecutar</a:t>
            </a:r>
            <a:endParaRPr sz="1050">
              <a:solidFill>
                <a:schemeClr val="dk1"/>
              </a:solidFill>
              <a:latin typeface="Calibri"/>
              <a:ea typeface="Calibri"/>
              <a:cs typeface="Calibri"/>
              <a:sym typeface="Calibri"/>
            </a:endParaRPr>
          </a:p>
        </p:txBody>
      </p:sp>
      <p:sp>
        <p:nvSpPr>
          <p:cNvPr id="488" name="Google Shape;488;p11"/>
          <p:cNvSpPr/>
          <p:nvPr/>
        </p:nvSpPr>
        <p:spPr>
          <a:xfrm>
            <a:off x="3310128" y="5815584"/>
            <a:ext cx="219456" cy="219456"/>
          </a:xfrm>
          <a:prstGeom prst="ellipse">
            <a:avLst/>
          </a:prstGeom>
          <a:solidFill>
            <a:srgbClr val="B87514"/>
          </a:solidFill>
          <a:ln cap="flat" cmpd="sng" w="12700">
            <a:solidFill>
              <a:srgbClr val="B8751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89" name="Google Shape;489;p11"/>
          <p:cNvSpPr/>
          <p:nvPr/>
        </p:nvSpPr>
        <p:spPr>
          <a:xfrm>
            <a:off x="3310128" y="5815584"/>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A</a:t>
            </a:r>
            <a:endParaRPr sz="1000">
              <a:solidFill>
                <a:schemeClr val="dk1"/>
              </a:solidFill>
              <a:latin typeface="Calibri"/>
              <a:ea typeface="Calibri"/>
              <a:cs typeface="Calibri"/>
              <a:sym typeface="Calibri"/>
            </a:endParaRPr>
          </a:p>
        </p:txBody>
      </p:sp>
      <p:sp>
        <p:nvSpPr>
          <p:cNvPr id="490" name="Google Shape;490;p11"/>
          <p:cNvSpPr/>
          <p:nvPr/>
        </p:nvSpPr>
        <p:spPr>
          <a:xfrm>
            <a:off x="3621024" y="5815584"/>
            <a:ext cx="2377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50"/>
              <a:buFont typeface="Calibri"/>
              <a:buNone/>
            </a:pPr>
            <a:r>
              <a:rPr lang="en-US" sz="1050">
                <a:solidFill>
                  <a:srgbClr val="5A6478"/>
                </a:solidFill>
                <a:latin typeface="Calibri"/>
                <a:ea typeface="Calibri"/>
                <a:cs typeface="Calibri"/>
                <a:sym typeface="Calibri"/>
              </a:rPr>
              <a:t>Aprueba el resultado</a:t>
            </a:r>
            <a:endParaRPr sz="1050">
              <a:solidFill>
                <a:schemeClr val="dk1"/>
              </a:solidFill>
              <a:latin typeface="Calibri"/>
              <a:ea typeface="Calibri"/>
              <a:cs typeface="Calibri"/>
              <a:sym typeface="Calibri"/>
            </a:endParaRPr>
          </a:p>
        </p:txBody>
      </p:sp>
      <p:sp>
        <p:nvSpPr>
          <p:cNvPr id="491" name="Google Shape;491;p11"/>
          <p:cNvSpPr/>
          <p:nvPr/>
        </p:nvSpPr>
        <p:spPr>
          <a:xfrm>
            <a:off x="6053328" y="5815584"/>
            <a:ext cx="219456" cy="21945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2" name="Google Shape;492;p11"/>
          <p:cNvSpPr/>
          <p:nvPr/>
        </p:nvSpPr>
        <p:spPr>
          <a:xfrm>
            <a:off x="6053328" y="5815584"/>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00"/>
              <a:buFont typeface="Calibri"/>
              <a:buNone/>
            </a:pPr>
            <a:r>
              <a:rPr b="1" lang="en-US" sz="1000">
                <a:solidFill>
                  <a:srgbClr val="FFFFFF"/>
                </a:solidFill>
                <a:latin typeface="Calibri"/>
                <a:ea typeface="Calibri"/>
                <a:cs typeface="Calibri"/>
                <a:sym typeface="Calibri"/>
              </a:rPr>
              <a:t>C</a:t>
            </a:r>
            <a:endParaRPr sz="1000">
              <a:solidFill>
                <a:schemeClr val="dk1"/>
              </a:solidFill>
              <a:latin typeface="Calibri"/>
              <a:ea typeface="Calibri"/>
              <a:cs typeface="Calibri"/>
              <a:sym typeface="Calibri"/>
            </a:endParaRPr>
          </a:p>
        </p:txBody>
      </p:sp>
      <p:sp>
        <p:nvSpPr>
          <p:cNvPr id="493" name="Google Shape;493;p11"/>
          <p:cNvSpPr/>
          <p:nvPr/>
        </p:nvSpPr>
        <p:spPr>
          <a:xfrm>
            <a:off x="6364224" y="5815584"/>
            <a:ext cx="2377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50"/>
              <a:buFont typeface="Calibri"/>
              <a:buNone/>
            </a:pPr>
            <a:r>
              <a:rPr lang="en-US" sz="1050">
                <a:solidFill>
                  <a:srgbClr val="5A6478"/>
                </a:solidFill>
                <a:latin typeface="Calibri"/>
                <a:ea typeface="Calibri"/>
                <a:cs typeface="Calibri"/>
                <a:sym typeface="Calibri"/>
              </a:rPr>
              <a:t>Es consultado</a:t>
            </a:r>
            <a:endParaRPr sz="1050">
              <a:solidFill>
                <a:schemeClr val="dk1"/>
              </a:solidFill>
              <a:latin typeface="Calibri"/>
              <a:ea typeface="Calibri"/>
              <a:cs typeface="Calibri"/>
              <a:sym typeface="Calibri"/>
            </a:endParaRPr>
          </a:p>
        </p:txBody>
      </p:sp>
      <p:sp>
        <p:nvSpPr>
          <p:cNvPr id="494" name="Google Shape;494;p11"/>
          <p:cNvSpPr/>
          <p:nvPr/>
        </p:nvSpPr>
        <p:spPr>
          <a:xfrm>
            <a:off x="8796528" y="5815584"/>
            <a:ext cx="219456" cy="219456"/>
          </a:xfrm>
          <a:prstGeom prst="ellipse">
            <a:avLst/>
          </a:prstGeom>
          <a:solidFill>
            <a:srgbClr val="C3CBD9"/>
          </a:solidFill>
          <a:ln cap="flat" cmpd="sng" w="12700">
            <a:solidFill>
              <a:srgbClr val="C3CBD9"/>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95" name="Google Shape;495;p11"/>
          <p:cNvSpPr/>
          <p:nvPr/>
        </p:nvSpPr>
        <p:spPr>
          <a:xfrm>
            <a:off x="8796528" y="5815584"/>
            <a:ext cx="219456" cy="21945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000"/>
              <a:buFont typeface="Calibri"/>
              <a:buNone/>
            </a:pPr>
            <a:r>
              <a:rPr b="1" lang="en-US" sz="1000">
                <a:solidFill>
                  <a:srgbClr val="1E2761"/>
                </a:solidFill>
                <a:latin typeface="Calibri"/>
                <a:ea typeface="Calibri"/>
                <a:cs typeface="Calibri"/>
                <a:sym typeface="Calibri"/>
              </a:rPr>
              <a:t>I</a:t>
            </a:r>
            <a:endParaRPr sz="1000">
              <a:solidFill>
                <a:schemeClr val="dk1"/>
              </a:solidFill>
              <a:latin typeface="Calibri"/>
              <a:ea typeface="Calibri"/>
              <a:cs typeface="Calibri"/>
              <a:sym typeface="Calibri"/>
            </a:endParaRPr>
          </a:p>
        </p:txBody>
      </p:sp>
      <p:sp>
        <p:nvSpPr>
          <p:cNvPr id="496" name="Google Shape;496;p11"/>
          <p:cNvSpPr/>
          <p:nvPr/>
        </p:nvSpPr>
        <p:spPr>
          <a:xfrm>
            <a:off x="9107424" y="5815584"/>
            <a:ext cx="237744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050"/>
              <a:buFont typeface="Calibri"/>
              <a:buNone/>
            </a:pPr>
            <a:r>
              <a:rPr lang="en-US" sz="1050">
                <a:solidFill>
                  <a:srgbClr val="5A6478"/>
                </a:solidFill>
                <a:latin typeface="Calibri"/>
                <a:ea typeface="Calibri"/>
                <a:cs typeface="Calibri"/>
                <a:sym typeface="Calibri"/>
              </a:rPr>
              <a:t>Es informado</a:t>
            </a:r>
            <a:endParaRPr sz="105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01" name="Shape 501"/>
        <p:cNvGrpSpPr/>
        <p:nvPr/>
      </p:nvGrpSpPr>
      <p:grpSpPr>
        <a:xfrm>
          <a:off x="0" y="0"/>
          <a:ext cx="0" cy="0"/>
          <a:chOff x="0" y="0"/>
          <a:chExt cx="0" cy="0"/>
        </a:xfrm>
      </p:grpSpPr>
      <p:sp>
        <p:nvSpPr>
          <p:cNvPr id="502" name="Google Shape;502;p12"/>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EVALUACIÓN</a:t>
            </a:r>
            <a:endParaRPr sz="1100">
              <a:solidFill>
                <a:schemeClr val="dk1"/>
              </a:solidFill>
              <a:latin typeface="Calibri"/>
              <a:ea typeface="Calibri"/>
              <a:cs typeface="Calibri"/>
              <a:sym typeface="Calibri"/>
            </a:endParaRPr>
          </a:p>
        </p:txBody>
      </p:sp>
      <p:sp>
        <p:nvSpPr>
          <p:cNvPr id="503" name="Google Shape;503;p12"/>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Evidencias y su justificación</a:t>
            </a:r>
            <a:endParaRPr sz="2900">
              <a:solidFill>
                <a:schemeClr val="dk1"/>
              </a:solidFill>
              <a:latin typeface="Calibri"/>
              <a:ea typeface="Calibri"/>
              <a:cs typeface="Calibri"/>
              <a:sym typeface="Calibri"/>
            </a:endParaRPr>
          </a:p>
        </p:txBody>
      </p:sp>
      <p:sp>
        <p:nvSpPr>
          <p:cNvPr id="504" name="Google Shape;504;p12"/>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505" name="Google Shape;505;p12"/>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0:50   ·   12</a:t>
            </a:r>
            <a:endParaRPr sz="950">
              <a:solidFill>
                <a:schemeClr val="dk1"/>
              </a:solidFill>
              <a:latin typeface="Calibri"/>
              <a:ea typeface="Calibri"/>
              <a:cs typeface="Calibri"/>
              <a:sym typeface="Calibri"/>
            </a:endParaRPr>
          </a:p>
        </p:txBody>
      </p:sp>
      <p:sp>
        <p:nvSpPr>
          <p:cNvPr id="506" name="Google Shape;506;p12"/>
          <p:cNvSpPr/>
          <p:nvPr/>
        </p:nvSpPr>
        <p:spPr>
          <a:xfrm>
            <a:off x="566928" y="1600200"/>
            <a:ext cx="5431536" cy="4160520"/>
          </a:xfrm>
          <a:prstGeom prst="roundRect">
            <a:avLst>
              <a:gd fmla="val 1319"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7" name="Google Shape;507;p12"/>
          <p:cNvSpPr/>
          <p:nvPr/>
        </p:nvSpPr>
        <p:spPr>
          <a:xfrm>
            <a:off x="859536" y="1828800"/>
            <a:ext cx="1280160" cy="347472"/>
          </a:xfrm>
          <a:prstGeom prst="roundRect">
            <a:avLst>
              <a:gd fmla="val 50000" name="adj"/>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08" name="Google Shape;508;p12"/>
          <p:cNvSpPr/>
          <p:nvPr/>
        </p:nvSpPr>
        <p:spPr>
          <a:xfrm>
            <a:off x="859536" y="1828800"/>
            <a:ext cx="1280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AVANCE</a:t>
            </a:r>
            <a:endParaRPr sz="1050">
              <a:solidFill>
                <a:schemeClr val="dk1"/>
              </a:solidFill>
              <a:latin typeface="Calibri"/>
              <a:ea typeface="Calibri"/>
              <a:cs typeface="Calibri"/>
              <a:sym typeface="Calibri"/>
            </a:endParaRPr>
          </a:p>
        </p:txBody>
      </p:sp>
      <p:sp>
        <p:nvSpPr>
          <p:cNvPr id="509" name="Google Shape;509;p12"/>
          <p:cNvSpPr/>
          <p:nvPr/>
        </p:nvSpPr>
        <p:spPr>
          <a:xfrm>
            <a:off x="877824" y="2523744"/>
            <a:ext cx="128016" cy="12801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0" name="Google Shape;510;p12"/>
          <p:cNvSpPr/>
          <p:nvPr/>
        </p:nvSpPr>
        <p:spPr>
          <a:xfrm>
            <a:off x="1133856" y="237744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Documento de requerimientos  </a:t>
            </a:r>
            <a:r>
              <a:rPr lang="en-US" sz="1150">
                <a:solidFill>
                  <a:srgbClr val="8A93A3"/>
                </a:solidFill>
                <a:latin typeface="Calibri"/>
                <a:ea typeface="Calibri"/>
                <a:cs typeface="Calibri"/>
                <a:sym typeface="Calibri"/>
              </a:rPr>
              <a:t>· Aplicación de ingeniería de requisitos</a:t>
            </a:r>
            <a:endParaRPr sz="1150">
              <a:solidFill>
                <a:schemeClr val="dk1"/>
              </a:solidFill>
              <a:latin typeface="Calibri"/>
              <a:ea typeface="Calibri"/>
              <a:cs typeface="Calibri"/>
              <a:sym typeface="Calibri"/>
            </a:endParaRPr>
          </a:p>
        </p:txBody>
      </p:sp>
      <p:sp>
        <p:nvSpPr>
          <p:cNvPr id="511" name="Google Shape;511;p12"/>
          <p:cNvSpPr/>
          <p:nvPr/>
        </p:nvSpPr>
        <p:spPr>
          <a:xfrm>
            <a:off x="877824" y="3072384"/>
            <a:ext cx="128016" cy="12801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2" name="Google Shape;512;p12"/>
          <p:cNvSpPr/>
          <p:nvPr/>
        </p:nvSpPr>
        <p:spPr>
          <a:xfrm>
            <a:off x="1133856" y="292608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Modelo y diseño de base de datos  </a:t>
            </a:r>
            <a:r>
              <a:rPr lang="en-US" sz="1150">
                <a:solidFill>
                  <a:srgbClr val="8A93A3"/>
                </a:solidFill>
                <a:latin typeface="Calibri"/>
                <a:ea typeface="Calibri"/>
                <a:cs typeface="Calibri"/>
                <a:sym typeface="Calibri"/>
              </a:rPr>
              <a:t>· Solución de información consistente</a:t>
            </a:r>
            <a:endParaRPr sz="1150">
              <a:solidFill>
                <a:schemeClr val="dk1"/>
              </a:solidFill>
              <a:latin typeface="Calibri"/>
              <a:ea typeface="Calibri"/>
              <a:cs typeface="Calibri"/>
              <a:sym typeface="Calibri"/>
            </a:endParaRPr>
          </a:p>
        </p:txBody>
      </p:sp>
      <p:sp>
        <p:nvSpPr>
          <p:cNvPr id="513" name="Google Shape;513;p12"/>
          <p:cNvSpPr/>
          <p:nvPr/>
        </p:nvSpPr>
        <p:spPr>
          <a:xfrm>
            <a:off x="877824" y="3621024"/>
            <a:ext cx="128016" cy="12801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4" name="Google Shape;514;p12"/>
          <p:cNvSpPr/>
          <p:nvPr/>
        </p:nvSpPr>
        <p:spPr>
          <a:xfrm>
            <a:off x="1133856" y="347472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Prototipos e interfaces  </a:t>
            </a:r>
            <a:r>
              <a:rPr lang="en-US" sz="1150">
                <a:solidFill>
                  <a:srgbClr val="8A93A3"/>
                </a:solidFill>
                <a:latin typeface="Calibri"/>
                <a:ea typeface="Calibri"/>
                <a:cs typeface="Calibri"/>
                <a:sym typeface="Calibri"/>
              </a:rPr>
              <a:t>· Validación temprana antes de construir</a:t>
            </a:r>
            <a:endParaRPr sz="1150">
              <a:solidFill>
                <a:schemeClr val="dk1"/>
              </a:solidFill>
              <a:latin typeface="Calibri"/>
              <a:ea typeface="Calibri"/>
              <a:cs typeface="Calibri"/>
              <a:sym typeface="Calibri"/>
            </a:endParaRPr>
          </a:p>
        </p:txBody>
      </p:sp>
      <p:sp>
        <p:nvSpPr>
          <p:cNvPr id="515" name="Google Shape;515;p12"/>
          <p:cNvSpPr/>
          <p:nvPr/>
        </p:nvSpPr>
        <p:spPr>
          <a:xfrm>
            <a:off x="877824" y="4169664"/>
            <a:ext cx="128016" cy="12801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6" name="Google Shape;516;p12"/>
          <p:cNvSpPr/>
          <p:nvPr/>
        </p:nvSpPr>
        <p:spPr>
          <a:xfrm>
            <a:off x="1133856" y="402336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Sistema web funcional  </a:t>
            </a:r>
            <a:r>
              <a:rPr lang="en-US" sz="1150">
                <a:solidFill>
                  <a:srgbClr val="8A93A3"/>
                </a:solidFill>
                <a:latin typeface="Calibri"/>
                <a:ea typeface="Calibri"/>
                <a:cs typeface="Calibri"/>
                <a:sym typeface="Calibri"/>
              </a:rPr>
              <a:t>· Solución de software integrada</a:t>
            </a:r>
            <a:endParaRPr sz="1150">
              <a:solidFill>
                <a:schemeClr val="dk1"/>
              </a:solidFill>
              <a:latin typeface="Calibri"/>
              <a:ea typeface="Calibri"/>
              <a:cs typeface="Calibri"/>
              <a:sym typeface="Calibri"/>
            </a:endParaRPr>
          </a:p>
        </p:txBody>
      </p:sp>
      <p:sp>
        <p:nvSpPr>
          <p:cNvPr id="517" name="Google Shape;517;p12"/>
          <p:cNvSpPr/>
          <p:nvPr/>
        </p:nvSpPr>
        <p:spPr>
          <a:xfrm>
            <a:off x="877824" y="4718304"/>
            <a:ext cx="128016" cy="12801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8" name="Google Shape;518;p12"/>
          <p:cNvSpPr/>
          <p:nvPr/>
        </p:nvSpPr>
        <p:spPr>
          <a:xfrm>
            <a:off x="1133856" y="457200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Trazabilidad y auditoría de OT  </a:t>
            </a:r>
            <a:r>
              <a:rPr lang="en-US" sz="1150">
                <a:solidFill>
                  <a:srgbClr val="8A93A3"/>
                </a:solidFill>
                <a:latin typeface="Calibri"/>
                <a:ea typeface="Calibri"/>
                <a:cs typeface="Calibri"/>
                <a:sym typeface="Calibri"/>
              </a:rPr>
              <a:t>· Control de integridad de la información</a:t>
            </a:r>
            <a:endParaRPr sz="1150">
              <a:solidFill>
                <a:schemeClr val="dk1"/>
              </a:solidFill>
              <a:latin typeface="Calibri"/>
              <a:ea typeface="Calibri"/>
              <a:cs typeface="Calibri"/>
              <a:sym typeface="Calibri"/>
            </a:endParaRPr>
          </a:p>
        </p:txBody>
      </p:sp>
      <p:sp>
        <p:nvSpPr>
          <p:cNvPr id="519" name="Google Shape;519;p12"/>
          <p:cNvSpPr/>
          <p:nvPr/>
        </p:nvSpPr>
        <p:spPr>
          <a:xfrm>
            <a:off x="877824" y="5266944"/>
            <a:ext cx="128016" cy="128016"/>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0" name="Google Shape;520;p12"/>
          <p:cNvSpPr/>
          <p:nvPr/>
        </p:nvSpPr>
        <p:spPr>
          <a:xfrm>
            <a:off x="1133856" y="512064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Pagos y alertas automáticas  </a:t>
            </a:r>
            <a:r>
              <a:rPr lang="en-US" sz="1150">
                <a:solidFill>
                  <a:srgbClr val="8A93A3"/>
                </a:solidFill>
                <a:latin typeface="Calibri"/>
                <a:ea typeface="Calibri"/>
                <a:cs typeface="Calibri"/>
                <a:sym typeface="Calibri"/>
              </a:rPr>
              <a:t>· Integración de servicios y automatización</a:t>
            </a:r>
            <a:endParaRPr sz="1150">
              <a:solidFill>
                <a:schemeClr val="dk1"/>
              </a:solidFill>
              <a:latin typeface="Calibri"/>
              <a:ea typeface="Calibri"/>
              <a:cs typeface="Calibri"/>
              <a:sym typeface="Calibri"/>
            </a:endParaRPr>
          </a:p>
        </p:txBody>
      </p:sp>
      <p:sp>
        <p:nvSpPr>
          <p:cNvPr id="521" name="Google Shape;521;p12"/>
          <p:cNvSpPr/>
          <p:nvPr/>
        </p:nvSpPr>
        <p:spPr>
          <a:xfrm>
            <a:off x="6190488" y="1600200"/>
            <a:ext cx="5431536" cy="4160520"/>
          </a:xfrm>
          <a:prstGeom prst="roundRect">
            <a:avLst>
              <a:gd fmla="val 1319"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2" name="Google Shape;522;p12"/>
          <p:cNvSpPr/>
          <p:nvPr/>
        </p:nvSpPr>
        <p:spPr>
          <a:xfrm>
            <a:off x="6483096" y="1828800"/>
            <a:ext cx="1280160" cy="347472"/>
          </a:xfrm>
          <a:prstGeom prst="roundRect">
            <a:avLst>
              <a:gd fmla="val 50000" name="adj"/>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3" name="Google Shape;523;p12"/>
          <p:cNvSpPr/>
          <p:nvPr/>
        </p:nvSpPr>
        <p:spPr>
          <a:xfrm>
            <a:off x="6483096" y="1828800"/>
            <a:ext cx="1280160" cy="347472"/>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050"/>
              <a:buFont typeface="Calibri"/>
              <a:buNone/>
            </a:pPr>
            <a:r>
              <a:rPr b="1" lang="en-US" sz="1050">
                <a:solidFill>
                  <a:srgbClr val="FFFFFF"/>
                </a:solidFill>
                <a:latin typeface="Calibri"/>
                <a:ea typeface="Calibri"/>
                <a:cs typeface="Calibri"/>
                <a:sym typeface="Calibri"/>
              </a:rPr>
              <a:t>FINAL</a:t>
            </a:r>
            <a:endParaRPr sz="1050">
              <a:solidFill>
                <a:schemeClr val="dk1"/>
              </a:solidFill>
              <a:latin typeface="Calibri"/>
              <a:ea typeface="Calibri"/>
              <a:cs typeface="Calibri"/>
              <a:sym typeface="Calibri"/>
            </a:endParaRPr>
          </a:p>
        </p:txBody>
      </p:sp>
      <p:sp>
        <p:nvSpPr>
          <p:cNvPr id="524" name="Google Shape;524;p12"/>
          <p:cNvSpPr/>
          <p:nvPr/>
        </p:nvSpPr>
        <p:spPr>
          <a:xfrm>
            <a:off x="6501384" y="2523744"/>
            <a:ext cx="128016" cy="12801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5" name="Google Shape;525;p12"/>
          <p:cNvSpPr/>
          <p:nvPr/>
        </p:nvSpPr>
        <p:spPr>
          <a:xfrm>
            <a:off x="6757416" y="237744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Reportes operacionales y administrativos  </a:t>
            </a:r>
            <a:r>
              <a:rPr lang="en-US" sz="1150">
                <a:solidFill>
                  <a:srgbClr val="8A93A3"/>
                </a:solidFill>
                <a:latin typeface="Calibri"/>
                <a:ea typeface="Calibri"/>
                <a:cs typeface="Calibri"/>
                <a:sym typeface="Calibri"/>
              </a:rPr>
              <a:t>· Uso de datos para decidir</a:t>
            </a:r>
            <a:endParaRPr sz="1150">
              <a:solidFill>
                <a:schemeClr val="dk1"/>
              </a:solidFill>
              <a:latin typeface="Calibri"/>
              <a:ea typeface="Calibri"/>
              <a:cs typeface="Calibri"/>
              <a:sym typeface="Calibri"/>
            </a:endParaRPr>
          </a:p>
        </p:txBody>
      </p:sp>
      <p:sp>
        <p:nvSpPr>
          <p:cNvPr id="526" name="Google Shape;526;p12"/>
          <p:cNvSpPr/>
          <p:nvPr/>
        </p:nvSpPr>
        <p:spPr>
          <a:xfrm>
            <a:off x="6501384" y="3072384"/>
            <a:ext cx="128016" cy="12801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7" name="Google Shape;527;p12"/>
          <p:cNvSpPr/>
          <p:nvPr/>
        </p:nvSpPr>
        <p:spPr>
          <a:xfrm>
            <a:off x="6757416" y="292608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Modelo de Machine Learning  </a:t>
            </a:r>
            <a:r>
              <a:rPr lang="en-US" sz="1150">
                <a:solidFill>
                  <a:srgbClr val="8A93A3"/>
                </a:solidFill>
                <a:latin typeface="Calibri"/>
                <a:ea typeface="Calibri"/>
                <a:cs typeface="Calibri"/>
                <a:sym typeface="Calibri"/>
              </a:rPr>
              <a:t>· Análisis de datos aplicado</a:t>
            </a:r>
            <a:endParaRPr sz="1150">
              <a:solidFill>
                <a:schemeClr val="dk1"/>
              </a:solidFill>
              <a:latin typeface="Calibri"/>
              <a:ea typeface="Calibri"/>
              <a:cs typeface="Calibri"/>
              <a:sym typeface="Calibri"/>
            </a:endParaRPr>
          </a:p>
        </p:txBody>
      </p:sp>
      <p:sp>
        <p:nvSpPr>
          <p:cNvPr id="528" name="Google Shape;528;p12"/>
          <p:cNvSpPr/>
          <p:nvPr/>
        </p:nvSpPr>
        <p:spPr>
          <a:xfrm>
            <a:off x="6501384" y="3621024"/>
            <a:ext cx="128016" cy="12801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29" name="Google Shape;529;p12"/>
          <p:cNvSpPr/>
          <p:nvPr/>
        </p:nvSpPr>
        <p:spPr>
          <a:xfrm>
            <a:off x="6757416" y="347472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Pruebas funcionales y de integración  </a:t>
            </a:r>
            <a:r>
              <a:rPr lang="en-US" sz="1150">
                <a:solidFill>
                  <a:srgbClr val="8A93A3"/>
                </a:solidFill>
                <a:latin typeface="Calibri"/>
                <a:ea typeface="Calibri"/>
                <a:cs typeface="Calibri"/>
                <a:sym typeface="Calibri"/>
              </a:rPr>
              <a:t>· Verificación del funcionamiento</a:t>
            </a:r>
            <a:endParaRPr sz="1150">
              <a:solidFill>
                <a:schemeClr val="dk1"/>
              </a:solidFill>
              <a:latin typeface="Calibri"/>
              <a:ea typeface="Calibri"/>
              <a:cs typeface="Calibri"/>
              <a:sym typeface="Calibri"/>
            </a:endParaRPr>
          </a:p>
        </p:txBody>
      </p:sp>
      <p:sp>
        <p:nvSpPr>
          <p:cNvPr id="530" name="Google Shape;530;p12"/>
          <p:cNvSpPr/>
          <p:nvPr/>
        </p:nvSpPr>
        <p:spPr>
          <a:xfrm>
            <a:off x="6501384" y="4169664"/>
            <a:ext cx="128016" cy="12801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1" name="Google Shape;531;p12"/>
          <p:cNvSpPr/>
          <p:nvPr/>
        </p:nvSpPr>
        <p:spPr>
          <a:xfrm>
            <a:off x="6757416" y="402336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Documentación técnica y manual de usuario  </a:t>
            </a:r>
            <a:r>
              <a:rPr lang="en-US" sz="1150">
                <a:solidFill>
                  <a:srgbClr val="8A93A3"/>
                </a:solidFill>
                <a:latin typeface="Calibri"/>
                <a:ea typeface="Calibri"/>
                <a:cs typeface="Calibri"/>
                <a:sym typeface="Calibri"/>
              </a:rPr>
              <a:t>· Mantenibilidad de la solución</a:t>
            </a:r>
            <a:endParaRPr sz="1150">
              <a:solidFill>
                <a:schemeClr val="dk1"/>
              </a:solidFill>
              <a:latin typeface="Calibri"/>
              <a:ea typeface="Calibri"/>
              <a:cs typeface="Calibri"/>
              <a:sym typeface="Calibri"/>
            </a:endParaRPr>
          </a:p>
        </p:txBody>
      </p:sp>
      <p:sp>
        <p:nvSpPr>
          <p:cNvPr id="532" name="Google Shape;532;p12"/>
          <p:cNvSpPr/>
          <p:nvPr/>
        </p:nvSpPr>
        <p:spPr>
          <a:xfrm>
            <a:off x="6501384" y="4718304"/>
            <a:ext cx="128016" cy="12801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3" name="Google Shape;533;p12"/>
          <p:cNvSpPr/>
          <p:nvPr/>
        </p:nvSpPr>
        <p:spPr>
          <a:xfrm>
            <a:off x="6757416" y="457200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Video demostrativo del sistema  </a:t>
            </a:r>
            <a:r>
              <a:rPr lang="en-US" sz="1150">
                <a:solidFill>
                  <a:srgbClr val="8A93A3"/>
                </a:solidFill>
                <a:latin typeface="Calibri"/>
                <a:ea typeface="Calibri"/>
                <a:cs typeface="Calibri"/>
                <a:sym typeface="Calibri"/>
              </a:rPr>
              <a:t>· Evidencia del producto operando</a:t>
            </a:r>
            <a:endParaRPr sz="1150">
              <a:solidFill>
                <a:schemeClr val="dk1"/>
              </a:solidFill>
              <a:latin typeface="Calibri"/>
              <a:ea typeface="Calibri"/>
              <a:cs typeface="Calibri"/>
              <a:sym typeface="Calibri"/>
            </a:endParaRPr>
          </a:p>
        </p:txBody>
      </p:sp>
      <p:sp>
        <p:nvSpPr>
          <p:cNvPr id="534" name="Google Shape;534;p12"/>
          <p:cNvSpPr/>
          <p:nvPr/>
        </p:nvSpPr>
        <p:spPr>
          <a:xfrm>
            <a:off x="6501384" y="5266944"/>
            <a:ext cx="128016" cy="128016"/>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35" name="Google Shape;535;p12"/>
          <p:cNvSpPr/>
          <p:nvPr/>
        </p:nvSpPr>
        <p:spPr>
          <a:xfrm>
            <a:off x="6757416" y="5120640"/>
            <a:ext cx="4709160" cy="457200"/>
          </a:xfrm>
          <a:prstGeom prst="rect">
            <a:avLst/>
          </a:prstGeom>
          <a:noFill/>
          <a:ln>
            <a:noFill/>
          </a:ln>
        </p:spPr>
        <p:txBody>
          <a:bodyPr anchorCtr="0" anchor="ctr" bIns="0" lIns="0" spcFirstLastPara="1" rIns="0" wrap="square" tIns="0">
            <a:noAutofit/>
          </a:bodyPr>
          <a:lstStyle/>
          <a:p>
            <a:pPr indent="0" lvl="0" marL="0" marR="0" rtl="0" algn="l">
              <a:lnSpc>
                <a:spcPct val="121739"/>
              </a:lnSpc>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Presentación final del proyecto  </a:t>
            </a:r>
            <a:r>
              <a:rPr lang="en-US" sz="1150">
                <a:solidFill>
                  <a:srgbClr val="8A93A3"/>
                </a:solidFill>
                <a:latin typeface="Calibri"/>
                <a:ea typeface="Calibri"/>
                <a:cs typeface="Calibri"/>
                <a:sym typeface="Calibri"/>
              </a:rPr>
              <a:t>· Síntesis del resultado alcanzado</a:t>
            </a:r>
            <a:endParaRPr sz="1150">
              <a:solidFill>
                <a:schemeClr val="dk1"/>
              </a:solidFill>
              <a:latin typeface="Calibri"/>
              <a:ea typeface="Calibri"/>
              <a:cs typeface="Calibri"/>
              <a:sym typeface="Calibri"/>
            </a:endParaRPr>
          </a:p>
        </p:txBody>
      </p:sp>
      <p:sp>
        <p:nvSpPr>
          <p:cNvPr id="536" name="Google Shape;536;p12"/>
          <p:cNvSpPr/>
          <p:nvPr/>
        </p:nvSpPr>
        <p:spPr>
          <a:xfrm>
            <a:off x="566928" y="5870448"/>
            <a:ext cx="1105509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1150"/>
              <a:buFont typeface="Calibri"/>
              <a:buNone/>
            </a:pPr>
            <a:r>
              <a:rPr i="1" lang="en-US" sz="1150">
                <a:solidFill>
                  <a:srgbClr val="8A93A3"/>
                </a:solidFill>
                <a:latin typeface="Calibri"/>
                <a:ea typeface="Calibri"/>
                <a:cs typeface="Calibri"/>
                <a:sym typeface="Calibri"/>
              </a:rPr>
              <a:t>Evidencia transversal: el repositorio GitHub acompaña ambas etapas y registra el avance semanal y el aporte individual de cada integrante.</a:t>
            </a:r>
            <a:endParaRPr sz="1150">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41" name="Shape 541"/>
        <p:cNvGrpSpPr/>
        <p:nvPr/>
      </p:nvGrpSpPr>
      <p:grpSpPr>
        <a:xfrm>
          <a:off x="0" y="0"/>
          <a:ext cx="0" cy="0"/>
          <a:chOff x="0" y="0"/>
          <a:chExt cx="0" cy="0"/>
        </a:xfrm>
      </p:grpSpPr>
      <p:sp>
        <p:nvSpPr>
          <p:cNvPr id="542" name="Google Shape;542;p13"/>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PERFIL DE EGRESO</a:t>
            </a:r>
            <a:endParaRPr sz="1100">
              <a:solidFill>
                <a:schemeClr val="dk1"/>
              </a:solidFill>
              <a:latin typeface="Calibri"/>
              <a:ea typeface="Calibri"/>
              <a:cs typeface="Calibri"/>
              <a:sym typeface="Calibri"/>
            </a:endParaRPr>
          </a:p>
        </p:txBody>
      </p:sp>
      <p:sp>
        <p:nvSpPr>
          <p:cNvPr id="543" name="Google Shape;543;p13"/>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Competencias que pone en práctica</a:t>
            </a:r>
            <a:endParaRPr sz="2900">
              <a:solidFill>
                <a:schemeClr val="dk1"/>
              </a:solidFill>
              <a:latin typeface="Calibri"/>
              <a:ea typeface="Calibri"/>
              <a:cs typeface="Calibri"/>
              <a:sym typeface="Calibri"/>
            </a:endParaRPr>
          </a:p>
        </p:txBody>
      </p:sp>
      <p:sp>
        <p:nvSpPr>
          <p:cNvPr id="544" name="Google Shape;544;p13"/>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545" name="Google Shape;545;p13"/>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0:40   ·   13</a:t>
            </a:r>
            <a:endParaRPr sz="950">
              <a:solidFill>
                <a:schemeClr val="dk1"/>
              </a:solidFill>
              <a:latin typeface="Calibri"/>
              <a:ea typeface="Calibri"/>
              <a:cs typeface="Calibri"/>
              <a:sym typeface="Calibri"/>
            </a:endParaRPr>
          </a:p>
        </p:txBody>
      </p:sp>
      <p:sp>
        <p:nvSpPr>
          <p:cNvPr id="546" name="Google Shape;546;p13"/>
          <p:cNvSpPr/>
          <p:nvPr/>
        </p:nvSpPr>
        <p:spPr>
          <a:xfrm>
            <a:off x="566928" y="1645920"/>
            <a:ext cx="3502152" cy="1828800"/>
          </a:xfrm>
          <a:prstGeom prst="roundRect">
            <a:avLst>
              <a:gd fmla="val 300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7" name="Google Shape;547;p13"/>
          <p:cNvSpPr/>
          <p:nvPr/>
        </p:nvSpPr>
        <p:spPr>
          <a:xfrm>
            <a:off x="841248" y="1883664"/>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48" name="Google Shape;548;p13"/>
          <p:cNvSpPr/>
          <p:nvPr/>
        </p:nvSpPr>
        <p:spPr>
          <a:xfrm>
            <a:off x="841248" y="18836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1</a:t>
            </a:r>
            <a:endParaRPr sz="1300">
              <a:solidFill>
                <a:schemeClr val="dk1"/>
              </a:solidFill>
              <a:latin typeface="Calibri"/>
              <a:ea typeface="Calibri"/>
              <a:cs typeface="Calibri"/>
              <a:sym typeface="Calibri"/>
            </a:endParaRPr>
          </a:p>
        </p:txBody>
      </p:sp>
      <p:sp>
        <p:nvSpPr>
          <p:cNvPr id="549" name="Google Shape;549;p13"/>
          <p:cNvSpPr/>
          <p:nvPr/>
        </p:nvSpPr>
        <p:spPr>
          <a:xfrm>
            <a:off x="841248" y="2377440"/>
            <a:ext cx="297180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lang="en-US" sz="1350">
                <a:solidFill>
                  <a:srgbClr val="1E2761"/>
                </a:solidFill>
                <a:latin typeface="Calibri"/>
                <a:ea typeface="Calibri"/>
                <a:cs typeface="Calibri"/>
                <a:sym typeface="Calibri"/>
              </a:rPr>
              <a:t>Soluciones de software de calidad</a:t>
            </a:r>
            <a:endParaRPr sz="1350">
              <a:solidFill>
                <a:schemeClr val="dk1"/>
              </a:solidFill>
              <a:latin typeface="Calibri"/>
              <a:ea typeface="Calibri"/>
              <a:cs typeface="Calibri"/>
              <a:sym typeface="Calibri"/>
            </a:endParaRPr>
          </a:p>
        </p:txBody>
      </p:sp>
      <p:sp>
        <p:nvSpPr>
          <p:cNvPr id="550" name="Google Shape;550;p13"/>
          <p:cNvSpPr/>
          <p:nvPr/>
        </p:nvSpPr>
        <p:spPr>
          <a:xfrm>
            <a:off x="841248" y="2834640"/>
            <a:ext cx="2971800" cy="5029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A6478"/>
              </a:buClr>
              <a:buSzPts val="1200"/>
              <a:buFont typeface="Calibri"/>
              <a:buNone/>
            </a:pPr>
            <a:r>
              <a:rPr lang="en-US" sz="1200">
                <a:solidFill>
                  <a:srgbClr val="5A6478"/>
                </a:solidFill>
                <a:latin typeface="Calibri"/>
                <a:ea typeface="Calibri"/>
                <a:cs typeface="Calibri"/>
                <a:sym typeface="Calibri"/>
              </a:rPr>
              <a:t>Ciclo de vida completo, buenas prácticas y estándares</a:t>
            </a:r>
            <a:endParaRPr sz="1200">
              <a:solidFill>
                <a:schemeClr val="dk1"/>
              </a:solidFill>
              <a:latin typeface="Calibri"/>
              <a:ea typeface="Calibri"/>
              <a:cs typeface="Calibri"/>
              <a:sym typeface="Calibri"/>
            </a:endParaRPr>
          </a:p>
        </p:txBody>
      </p:sp>
      <p:sp>
        <p:nvSpPr>
          <p:cNvPr id="551" name="Google Shape;551;p13"/>
          <p:cNvSpPr/>
          <p:nvPr/>
        </p:nvSpPr>
        <p:spPr>
          <a:xfrm>
            <a:off x="4343400" y="1645920"/>
            <a:ext cx="3502152" cy="1828800"/>
          </a:xfrm>
          <a:prstGeom prst="roundRect">
            <a:avLst>
              <a:gd fmla="val 300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2" name="Google Shape;552;p13"/>
          <p:cNvSpPr/>
          <p:nvPr/>
        </p:nvSpPr>
        <p:spPr>
          <a:xfrm>
            <a:off x="4617720" y="1883664"/>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3" name="Google Shape;553;p13"/>
          <p:cNvSpPr/>
          <p:nvPr/>
        </p:nvSpPr>
        <p:spPr>
          <a:xfrm>
            <a:off x="4617720" y="18836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2</a:t>
            </a:r>
            <a:endParaRPr sz="1300">
              <a:solidFill>
                <a:schemeClr val="dk1"/>
              </a:solidFill>
              <a:latin typeface="Calibri"/>
              <a:ea typeface="Calibri"/>
              <a:cs typeface="Calibri"/>
              <a:sym typeface="Calibri"/>
            </a:endParaRPr>
          </a:p>
        </p:txBody>
      </p:sp>
      <p:sp>
        <p:nvSpPr>
          <p:cNvPr id="554" name="Google Shape;554;p13"/>
          <p:cNvSpPr/>
          <p:nvPr/>
        </p:nvSpPr>
        <p:spPr>
          <a:xfrm>
            <a:off x="4617720" y="2377440"/>
            <a:ext cx="297180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lang="en-US" sz="1350">
                <a:solidFill>
                  <a:srgbClr val="1E2761"/>
                </a:solidFill>
                <a:latin typeface="Calibri"/>
                <a:ea typeface="Calibri"/>
                <a:cs typeface="Calibri"/>
                <a:sym typeface="Calibri"/>
              </a:rPr>
              <a:t>Requerimientos de información</a:t>
            </a:r>
            <a:endParaRPr sz="1350">
              <a:solidFill>
                <a:schemeClr val="dk1"/>
              </a:solidFill>
              <a:latin typeface="Calibri"/>
              <a:ea typeface="Calibri"/>
              <a:cs typeface="Calibri"/>
              <a:sym typeface="Calibri"/>
            </a:endParaRPr>
          </a:p>
        </p:txBody>
      </p:sp>
      <p:sp>
        <p:nvSpPr>
          <p:cNvPr id="555" name="Google Shape;555;p13"/>
          <p:cNvSpPr/>
          <p:nvPr/>
        </p:nvSpPr>
        <p:spPr>
          <a:xfrm>
            <a:off x="4617720" y="2834640"/>
            <a:ext cx="2971800" cy="5029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A6478"/>
              </a:buClr>
              <a:buSzPts val="1200"/>
              <a:buFont typeface="Calibri"/>
              <a:buNone/>
            </a:pPr>
            <a:r>
              <a:rPr lang="en-US" sz="1200">
                <a:solidFill>
                  <a:srgbClr val="5A6478"/>
                </a:solidFill>
                <a:latin typeface="Calibri"/>
                <a:ea typeface="Calibri"/>
                <a:cs typeface="Calibri"/>
                <a:sym typeface="Calibri"/>
              </a:rPr>
              <a:t>Base de datos relacional diseñada desde cero</a:t>
            </a:r>
            <a:endParaRPr sz="1200">
              <a:solidFill>
                <a:schemeClr val="dk1"/>
              </a:solidFill>
              <a:latin typeface="Calibri"/>
              <a:ea typeface="Calibri"/>
              <a:cs typeface="Calibri"/>
              <a:sym typeface="Calibri"/>
            </a:endParaRPr>
          </a:p>
        </p:txBody>
      </p:sp>
      <p:sp>
        <p:nvSpPr>
          <p:cNvPr id="556" name="Google Shape;556;p13"/>
          <p:cNvSpPr/>
          <p:nvPr/>
        </p:nvSpPr>
        <p:spPr>
          <a:xfrm>
            <a:off x="8119872" y="1645920"/>
            <a:ext cx="3502152" cy="1828800"/>
          </a:xfrm>
          <a:prstGeom prst="roundRect">
            <a:avLst>
              <a:gd fmla="val 3000"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7" name="Google Shape;557;p13"/>
          <p:cNvSpPr/>
          <p:nvPr/>
        </p:nvSpPr>
        <p:spPr>
          <a:xfrm>
            <a:off x="8394192" y="1883664"/>
            <a:ext cx="384048" cy="384048"/>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58" name="Google Shape;558;p13"/>
          <p:cNvSpPr/>
          <p:nvPr/>
        </p:nvSpPr>
        <p:spPr>
          <a:xfrm>
            <a:off x="8394192" y="188366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3</a:t>
            </a:r>
            <a:endParaRPr sz="1300">
              <a:solidFill>
                <a:schemeClr val="dk1"/>
              </a:solidFill>
              <a:latin typeface="Calibri"/>
              <a:ea typeface="Calibri"/>
              <a:cs typeface="Calibri"/>
              <a:sym typeface="Calibri"/>
            </a:endParaRPr>
          </a:p>
        </p:txBody>
      </p:sp>
      <p:sp>
        <p:nvSpPr>
          <p:cNvPr id="559" name="Google Shape;559;p13"/>
          <p:cNvSpPr/>
          <p:nvPr/>
        </p:nvSpPr>
        <p:spPr>
          <a:xfrm>
            <a:off x="8394192" y="2377440"/>
            <a:ext cx="297180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lang="en-US" sz="1350">
                <a:solidFill>
                  <a:srgbClr val="1E2761"/>
                </a:solidFill>
                <a:latin typeface="Calibri"/>
                <a:ea typeface="Calibri"/>
                <a:cs typeface="Calibri"/>
                <a:sym typeface="Calibri"/>
              </a:rPr>
              <a:t>Ingeniería de requisitos</a:t>
            </a:r>
            <a:endParaRPr sz="1350">
              <a:solidFill>
                <a:schemeClr val="dk1"/>
              </a:solidFill>
              <a:latin typeface="Calibri"/>
              <a:ea typeface="Calibri"/>
              <a:cs typeface="Calibri"/>
              <a:sym typeface="Calibri"/>
            </a:endParaRPr>
          </a:p>
        </p:txBody>
      </p:sp>
      <p:sp>
        <p:nvSpPr>
          <p:cNvPr id="560" name="Google Shape;560;p13"/>
          <p:cNvSpPr/>
          <p:nvPr/>
        </p:nvSpPr>
        <p:spPr>
          <a:xfrm>
            <a:off x="8394192" y="2834640"/>
            <a:ext cx="2971800" cy="5029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A6478"/>
              </a:buClr>
              <a:buSzPts val="1200"/>
              <a:buFont typeface="Calibri"/>
              <a:buNone/>
            </a:pPr>
            <a:r>
              <a:rPr lang="en-US" sz="1200">
                <a:solidFill>
                  <a:srgbClr val="5A6478"/>
                </a:solidFill>
                <a:latin typeface="Calibri"/>
                <a:ea typeface="Calibri"/>
                <a:cs typeface="Calibri"/>
                <a:sym typeface="Calibri"/>
              </a:rPr>
              <a:t>Levantamiento, documentación y validación con la empresa</a:t>
            </a:r>
            <a:endParaRPr sz="1200">
              <a:solidFill>
                <a:schemeClr val="dk1"/>
              </a:solidFill>
              <a:latin typeface="Calibri"/>
              <a:ea typeface="Calibri"/>
              <a:cs typeface="Calibri"/>
              <a:sym typeface="Calibri"/>
            </a:endParaRPr>
          </a:p>
        </p:txBody>
      </p:sp>
      <p:sp>
        <p:nvSpPr>
          <p:cNvPr id="561" name="Google Shape;561;p13"/>
          <p:cNvSpPr/>
          <p:nvPr/>
        </p:nvSpPr>
        <p:spPr>
          <a:xfrm>
            <a:off x="566928" y="3749040"/>
            <a:ext cx="3502152" cy="1828800"/>
          </a:xfrm>
          <a:prstGeom prst="roundRect">
            <a:avLst>
              <a:gd fmla="val 3000"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2" name="Google Shape;562;p13"/>
          <p:cNvSpPr/>
          <p:nvPr/>
        </p:nvSpPr>
        <p:spPr>
          <a:xfrm>
            <a:off x="841248" y="3986784"/>
            <a:ext cx="384048" cy="384048"/>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3" name="Google Shape;563;p13"/>
          <p:cNvSpPr/>
          <p:nvPr/>
        </p:nvSpPr>
        <p:spPr>
          <a:xfrm>
            <a:off x="841248" y="398678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4</a:t>
            </a:r>
            <a:endParaRPr sz="1300">
              <a:solidFill>
                <a:schemeClr val="dk1"/>
              </a:solidFill>
              <a:latin typeface="Calibri"/>
              <a:ea typeface="Calibri"/>
              <a:cs typeface="Calibri"/>
              <a:sym typeface="Calibri"/>
            </a:endParaRPr>
          </a:p>
        </p:txBody>
      </p:sp>
      <p:sp>
        <p:nvSpPr>
          <p:cNvPr id="564" name="Google Shape;564;p13"/>
          <p:cNvSpPr/>
          <p:nvPr/>
        </p:nvSpPr>
        <p:spPr>
          <a:xfrm>
            <a:off x="841248" y="4480560"/>
            <a:ext cx="297180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lang="en-US" sz="1350">
                <a:solidFill>
                  <a:srgbClr val="1E2761"/>
                </a:solidFill>
                <a:latin typeface="Calibri"/>
                <a:ea typeface="Calibri"/>
                <a:cs typeface="Calibri"/>
                <a:sym typeface="Calibri"/>
              </a:rPr>
              <a:t>Gestión de proyectos</a:t>
            </a:r>
            <a:endParaRPr sz="1350">
              <a:solidFill>
                <a:schemeClr val="dk1"/>
              </a:solidFill>
              <a:latin typeface="Calibri"/>
              <a:ea typeface="Calibri"/>
              <a:cs typeface="Calibri"/>
              <a:sym typeface="Calibri"/>
            </a:endParaRPr>
          </a:p>
        </p:txBody>
      </p:sp>
      <p:sp>
        <p:nvSpPr>
          <p:cNvPr id="565" name="Google Shape;565;p13"/>
          <p:cNvSpPr/>
          <p:nvPr/>
        </p:nvSpPr>
        <p:spPr>
          <a:xfrm>
            <a:off x="841248" y="4937760"/>
            <a:ext cx="2971800" cy="5029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A6478"/>
              </a:buClr>
              <a:buSzPts val="1200"/>
              <a:buFont typeface="Calibri"/>
              <a:buNone/>
            </a:pPr>
            <a:r>
              <a:rPr lang="en-US" sz="1200">
                <a:solidFill>
                  <a:srgbClr val="5A6478"/>
                </a:solidFill>
                <a:latin typeface="Calibri"/>
                <a:ea typeface="Calibri"/>
                <a:cs typeface="Calibri"/>
                <a:sym typeface="Calibri"/>
              </a:rPr>
              <a:t>Planificación de 17 semanas, Scrum, control y evidencias</a:t>
            </a:r>
            <a:endParaRPr sz="1200">
              <a:solidFill>
                <a:schemeClr val="dk1"/>
              </a:solidFill>
              <a:latin typeface="Calibri"/>
              <a:ea typeface="Calibri"/>
              <a:cs typeface="Calibri"/>
              <a:sym typeface="Calibri"/>
            </a:endParaRPr>
          </a:p>
        </p:txBody>
      </p:sp>
      <p:sp>
        <p:nvSpPr>
          <p:cNvPr id="566" name="Google Shape;566;p13"/>
          <p:cNvSpPr/>
          <p:nvPr/>
        </p:nvSpPr>
        <p:spPr>
          <a:xfrm>
            <a:off x="4343400" y="3749040"/>
            <a:ext cx="3502152" cy="1828800"/>
          </a:xfrm>
          <a:prstGeom prst="roundRect">
            <a:avLst>
              <a:gd fmla="val 3000"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7" name="Google Shape;567;p13"/>
          <p:cNvSpPr/>
          <p:nvPr/>
        </p:nvSpPr>
        <p:spPr>
          <a:xfrm>
            <a:off x="4617720" y="3986784"/>
            <a:ext cx="384048" cy="384048"/>
          </a:xfrm>
          <a:prstGeom prst="ellipse">
            <a:avLst/>
          </a:prstGeom>
          <a:solidFill>
            <a:srgbClr val="3F6C9E"/>
          </a:solidFill>
          <a:ln cap="flat" cmpd="sng" w="12700">
            <a:solidFill>
              <a:srgbClr val="3F6C9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8" name="Google Shape;568;p13"/>
          <p:cNvSpPr/>
          <p:nvPr/>
        </p:nvSpPr>
        <p:spPr>
          <a:xfrm>
            <a:off x="4617720" y="3986784"/>
            <a:ext cx="384048"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5</a:t>
            </a:r>
            <a:endParaRPr sz="1300">
              <a:solidFill>
                <a:schemeClr val="dk1"/>
              </a:solidFill>
              <a:latin typeface="Calibri"/>
              <a:ea typeface="Calibri"/>
              <a:cs typeface="Calibri"/>
              <a:sym typeface="Calibri"/>
            </a:endParaRPr>
          </a:p>
        </p:txBody>
      </p:sp>
      <p:sp>
        <p:nvSpPr>
          <p:cNvPr id="569" name="Google Shape;569;p13"/>
          <p:cNvSpPr/>
          <p:nvPr/>
        </p:nvSpPr>
        <p:spPr>
          <a:xfrm>
            <a:off x="4617720" y="4480560"/>
            <a:ext cx="2971800" cy="47548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1350"/>
              <a:buFont typeface="Calibri"/>
              <a:buNone/>
            </a:pPr>
            <a:r>
              <a:rPr b="1" lang="en-US" sz="1350">
                <a:solidFill>
                  <a:srgbClr val="1E2761"/>
                </a:solidFill>
                <a:latin typeface="Calibri"/>
                <a:ea typeface="Calibri"/>
                <a:cs typeface="Calibri"/>
                <a:sym typeface="Calibri"/>
              </a:rPr>
              <a:t>Estándares, seguridad y calidad</a:t>
            </a:r>
            <a:endParaRPr sz="1350">
              <a:solidFill>
                <a:schemeClr val="dk1"/>
              </a:solidFill>
              <a:latin typeface="Calibri"/>
              <a:ea typeface="Calibri"/>
              <a:cs typeface="Calibri"/>
              <a:sym typeface="Calibri"/>
            </a:endParaRPr>
          </a:p>
        </p:txBody>
      </p:sp>
      <p:sp>
        <p:nvSpPr>
          <p:cNvPr id="570" name="Google Shape;570;p13"/>
          <p:cNvSpPr/>
          <p:nvPr/>
        </p:nvSpPr>
        <p:spPr>
          <a:xfrm>
            <a:off x="4617720" y="4937760"/>
            <a:ext cx="2971800" cy="50292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5A6478"/>
              </a:buClr>
              <a:buSzPts val="1200"/>
              <a:buFont typeface="Calibri"/>
              <a:buNone/>
            </a:pPr>
            <a:r>
              <a:rPr lang="en-US" sz="1200">
                <a:solidFill>
                  <a:srgbClr val="5A6478"/>
                </a:solidFill>
                <a:latin typeface="Calibri"/>
                <a:ea typeface="Calibri"/>
                <a:cs typeface="Calibri"/>
                <a:sym typeface="Calibri"/>
              </a:rPr>
              <a:t>Roles, control de acceso, auditoría y pruebas</a:t>
            </a:r>
            <a:endParaRPr sz="1200">
              <a:solidFill>
                <a:schemeClr val="dk1"/>
              </a:solidFill>
              <a:latin typeface="Calibri"/>
              <a:ea typeface="Calibri"/>
              <a:cs typeface="Calibri"/>
              <a:sym typeface="Calibri"/>
            </a:endParaRPr>
          </a:p>
        </p:txBody>
      </p:sp>
      <p:sp>
        <p:nvSpPr>
          <p:cNvPr id="571" name="Google Shape;571;p13"/>
          <p:cNvSpPr/>
          <p:nvPr/>
        </p:nvSpPr>
        <p:spPr>
          <a:xfrm>
            <a:off x="8119872" y="3749040"/>
            <a:ext cx="3502152" cy="1828800"/>
          </a:xfrm>
          <a:prstGeom prst="roundRect">
            <a:avLst>
              <a:gd fmla="val 3000" name="adj"/>
            </a:avLst>
          </a:prstGeom>
          <a:solidFill>
            <a:srgbClr val="1E2761"/>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72" name="Google Shape;572;p13"/>
          <p:cNvSpPr/>
          <p:nvPr/>
        </p:nvSpPr>
        <p:spPr>
          <a:xfrm>
            <a:off x="8394192" y="3986784"/>
            <a:ext cx="2971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50"/>
              <a:buFont typeface="Calibri"/>
              <a:buNone/>
            </a:pPr>
            <a:r>
              <a:rPr b="1" lang="en-US" sz="1350">
                <a:solidFill>
                  <a:srgbClr val="FFFFFF"/>
                </a:solidFill>
                <a:latin typeface="Calibri"/>
                <a:ea typeface="Calibri"/>
                <a:cs typeface="Calibri"/>
                <a:sym typeface="Calibri"/>
              </a:rPr>
              <a:t>Áreas de desempeño</a:t>
            </a:r>
            <a:endParaRPr sz="1350">
              <a:solidFill>
                <a:schemeClr val="dk1"/>
              </a:solidFill>
              <a:latin typeface="Calibri"/>
              <a:ea typeface="Calibri"/>
              <a:cs typeface="Calibri"/>
              <a:sym typeface="Calibri"/>
            </a:endParaRPr>
          </a:p>
        </p:txBody>
      </p:sp>
      <p:sp>
        <p:nvSpPr>
          <p:cNvPr id="573" name="Google Shape;573;p13"/>
          <p:cNvSpPr/>
          <p:nvPr/>
        </p:nvSpPr>
        <p:spPr>
          <a:xfrm>
            <a:off x="8394192" y="4370832"/>
            <a:ext cx="2971800" cy="105156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CADCFC"/>
              </a:buClr>
              <a:buSzPts val="1100"/>
              <a:buFont typeface="Calibri"/>
              <a:buNone/>
            </a:pPr>
            <a:r>
              <a:rPr lang="en-US" sz="1100">
                <a:solidFill>
                  <a:srgbClr val="CADCFC"/>
                </a:solidFill>
                <a:latin typeface="Calibri"/>
                <a:ea typeface="Calibri"/>
                <a:cs typeface="Calibri"/>
                <a:sym typeface="Calibri"/>
              </a:rPr>
              <a:t>Desarrollo de software · gestión de datos y bases de datos · análisis de datos e inteligencia de negocios · integración de servicios y desarrollo de aplicaciones web.</a:t>
            </a:r>
            <a:endParaRPr sz="1100">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8" name="Shape 578"/>
        <p:cNvGrpSpPr/>
        <p:nvPr/>
      </p:nvGrpSpPr>
      <p:grpSpPr>
        <a:xfrm>
          <a:off x="0" y="0"/>
          <a:ext cx="0" cy="0"/>
          <a:chOff x="0" y="0"/>
          <a:chExt cx="0" cy="0"/>
        </a:xfrm>
      </p:grpSpPr>
      <p:sp>
        <p:nvSpPr>
          <p:cNvPr id="579" name="Google Shape;579;p14"/>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MOTIVACIÓN</a:t>
            </a:r>
            <a:endParaRPr sz="1100">
              <a:solidFill>
                <a:schemeClr val="dk1"/>
              </a:solidFill>
              <a:latin typeface="Calibri"/>
              <a:ea typeface="Calibri"/>
              <a:cs typeface="Calibri"/>
              <a:sym typeface="Calibri"/>
            </a:endParaRPr>
          </a:p>
        </p:txBody>
      </p:sp>
      <p:sp>
        <p:nvSpPr>
          <p:cNvPr id="580" name="Google Shape;580;p14"/>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Relación con nuestros intereses profesionales</a:t>
            </a:r>
            <a:endParaRPr sz="2900">
              <a:solidFill>
                <a:schemeClr val="dk1"/>
              </a:solidFill>
              <a:latin typeface="Calibri"/>
              <a:ea typeface="Calibri"/>
              <a:cs typeface="Calibri"/>
              <a:sym typeface="Calibri"/>
            </a:endParaRPr>
          </a:p>
        </p:txBody>
      </p:sp>
      <p:sp>
        <p:nvSpPr>
          <p:cNvPr id="581" name="Google Shape;581;p14"/>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582" name="Google Shape;582;p14"/>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0:30   ·   14</a:t>
            </a:r>
            <a:endParaRPr sz="950">
              <a:solidFill>
                <a:schemeClr val="dk1"/>
              </a:solidFill>
              <a:latin typeface="Calibri"/>
              <a:ea typeface="Calibri"/>
              <a:cs typeface="Calibri"/>
              <a:sym typeface="Calibri"/>
            </a:endParaRPr>
          </a:p>
        </p:txBody>
      </p:sp>
      <p:sp>
        <p:nvSpPr>
          <p:cNvPr id="583" name="Google Shape;583;p14"/>
          <p:cNvSpPr/>
          <p:nvPr/>
        </p:nvSpPr>
        <p:spPr>
          <a:xfrm>
            <a:off x="566928" y="1600200"/>
            <a:ext cx="5431536" cy="3200400"/>
          </a:xfrm>
          <a:prstGeom prst="roundRect">
            <a:avLst>
              <a:gd fmla="val 1714"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4" name="Google Shape;584;p14"/>
          <p:cNvSpPr/>
          <p:nvPr/>
        </p:nvSpPr>
        <p:spPr>
          <a:xfrm>
            <a:off x="886968" y="182880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lang="en-US" sz="1600">
                <a:solidFill>
                  <a:srgbClr val="1E2761"/>
                </a:solidFill>
                <a:latin typeface="Cambria"/>
                <a:ea typeface="Cambria"/>
                <a:cs typeface="Cambria"/>
                <a:sym typeface="Cambria"/>
              </a:rPr>
              <a:t>Raúl José Roa Astudillo</a:t>
            </a:r>
            <a:endParaRPr sz="1600">
              <a:solidFill>
                <a:schemeClr val="dk1"/>
              </a:solidFill>
              <a:latin typeface="Calibri"/>
              <a:ea typeface="Calibri"/>
              <a:cs typeface="Calibri"/>
              <a:sym typeface="Calibri"/>
            </a:endParaRPr>
          </a:p>
        </p:txBody>
      </p:sp>
      <p:sp>
        <p:nvSpPr>
          <p:cNvPr id="585" name="Google Shape;585;p14"/>
          <p:cNvSpPr/>
          <p:nvPr/>
        </p:nvSpPr>
        <p:spPr>
          <a:xfrm>
            <a:off x="886968" y="2212848"/>
            <a:ext cx="4754880" cy="4572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5A6478"/>
              </a:buClr>
              <a:buSzPts val="1250"/>
              <a:buFont typeface="Calibri"/>
              <a:buNone/>
            </a:pPr>
            <a:r>
              <a:rPr lang="en-US" sz="1250">
                <a:solidFill>
                  <a:srgbClr val="5A6478"/>
                </a:solidFill>
                <a:latin typeface="Calibri"/>
                <a:ea typeface="Calibri"/>
                <a:cs typeface="Calibri"/>
                <a:sym typeface="Calibri"/>
              </a:rPr>
              <a:t>Desarrollo backend, diseño de bases de datos y análisis de datos.</a:t>
            </a:r>
            <a:endParaRPr sz="1250">
              <a:solidFill>
                <a:schemeClr val="dk1"/>
              </a:solidFill>
              <a:latin typeface="Calibri"/>
              <a:ea typeface="Calibri"/>
              <a:cs typeface="Calibri"/>
              <a:sym typeface="Calibri"/>
            </a:endParaRPr>
          </a:p>
        </p:txBody>
      </p:sp>
      <p:sp>
        <p:nvSpPr>
          <p:cNvPr id="586" name="Google Shape;586;p14"/>
          <p:cNvSpPr/>
          <p:nvPr/>
        </p:nvSpPr>
        <p:spPr>
          <a:xfrm>
            <a:off x="905256" y="2788920"/>
            <a:ext cx="4709160" cy="18288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Node.js y Prisma sobre MySQL</a:t>
            </a:r>
            <a:endParaRPr sz="1200">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Modelamiento de datos desde cero</a:t>
            </a:r>
            <a:endParaRPr sz="1200">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Integración de APIs y servicios externos</a:t>
            </a:r>
            <a:endParaRPr sz="1200">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Machine Learning aplicado a un sistema real</a:t>
            </a:r>
            <a:endParaRPr sz="1200">
              <a:solidFill>
                <a:schemeClr val="dk1"/>
              </a:solidFill>
              <a:latin typeface="Calibri"/>
              <a:ea typeface="Calibri"/>
              <a:cs typeface="Calibri"/>
              <a:sym typeface="Calibri"/>
            </a:endParaRPr>
          </a:p>
        </p:txBody>
      </p:sp>
      <p:sp>
        <p:nvSpPr>
          <p:cNvPr id="587" name="Google Shape;587;p14"/>
          <p:cNvSpPr/>
          <p:nvPr/>
        </p:nvSpPr>
        <p:spPr>
          <a:xfrm>
            <a:off x="6190488" y="1600200"/>
            <a:ext cx="5431536" cy="3200400"/>
          </a:xfrm>
          <a:prstGeom prst="roundRect">
            <a:avLst>
              <a:gd fmla="val 1714"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88" name="Google Shape;588;p14"/>
          <p:cNvSpPr/>
          <p:nvPr/>
        </p:nvSpPr>
        <p:spPr>
          <a:xfrm>
            <a:off x="6510528" y="1828800"/>
            <a:ext cx="47548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600"/>
              <a:buFont typeface="Cambria"/>
              <a:buNone/>
            </a:pPr>
            <a:r>
              <a:rPr b="1" lang="en-US" sz="1600">
                <a:solidFill>
                  <a:srgbClr val="1E2761"/>
                </a:solidFill>
                <a:latin typeface="Cambria"/>
                <a:ea typeface="Cambria"/>
                <a:cs typeface="Cambria"/>
                <a:sym typeface="Cambria"/>
              </a:rPr>
              <a:t>Benjamín Sandoval Vergara</a:t>
            </a:r>
            <a:endParaRPr sz="1600">
              <a:solidFill>
                <a:schemeClr val="dk1"/>
              </a:solidFill>
              <a:latin typeface="Calibri"/>
              <a:ea typeface="Calibri"/>
              <a:cs typeface="Calibri"/>
              <a:sym typeface="Calibri"/>
            </a:endParaRPr>
          </a:p>
        </p:txBody>
      </p:sp>
      <p:sp>
        <p:nvSpPr>
          <p:cNvPr id="589" name="Google Shape;589;p14"/>
          <p:cNvSpPr/>
          <p:nvPr/>
        </p:nvSpPr>
        <p:spPr>
          <a:xfrm>
            <a:off x="6510528" y="2212848"/>
            <a:ext cx="4754880" cy="45720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5A6478"/>
              </a:buClr>
              <a:buSzPts val="1250"/>
              <a:buFont typeface="Calibri"/>
              <a:buNone/>
            </a:pPr>
            <a:r>
              <a:rPr lang="en-US" sz="1250">
                <a:solidFill>
                  <a:srgbClr val="5A6478"/>
                </a:solidFill>
                <a:latin typeface="Calibri"/>
                <a:ea typeface="Calibri"/>
                <a:cs typeface="Calibri"/>
                <a:sym typeface="Calibri"/>
              </a:rPr>
              <a:t>Desarrollo frontend, experiencia de usuario y calidad de software.</a:t>
            </a:r>
            <a:endParaRPr sz="1250">
              <a:solidFill>
                <a:schemeClr val="dk1"/>
              </a:solidFill>
              <a:latin typeface="Calibri"/>
              <a:ea typeface="Calibri"/>
              <a:cs typeface="Calibri"/>
              <a:sym typeface="Calibri"/>
            </a:endParaRPr>
          </a:p>
        </p:txBody>
      </p:sp>
      <p:sp>
        <p:nvSpPr>
          <p:cNvPr id="590" name="Google Shape;590;p14"/>
          <p:cNvSpPr/>
          <p:nvPr/>
        </p:nvSpPr>
        <p:spPr>
          <a:xfrm>
            <a:off x="6528816" y="2788920"/>
            <a:ext cx="4709160" cy="1828800"/>
          </a:xfrm>
          <a:prstGeom prst="rect">
            <a:avLst/>
          </a:prstGeom>
          <a:noFill/>
          <a:ln>
            <a:noFill/>
          </a:ln>
        </p:spPr>
        <p:txBody>
          <a:bodyPr anchorCtr="0" anchor="t" bIns="0" lIns="0" spcFirstLastPara="1" rIns="0" wrap="square" tIns="0">
            <a:noAutofit/>
          </a:bodyPr>
          <a:lstStyle/>
          <a:p>
            <a:pPr indent="-342900" lvl="0" marL="342900" marR="0" rtl="0" algn="l">
              <a:lnSpc>
                <a:spcPct val="125000"/>
              </a:lnSpc>
              <a:spcBef>
                <a:spcPts val="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React e interfaces responsivas</a:t>
            </a:r>
            <a:endParaRPr sz="1200">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Diseño de navegación y usabilidad</a:t>
            </a:r>
            <a:endParaRPr sz="1200">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Visualización de datos en reportes</a:t>
            </a:r>
            <a:endParaRPr sz="1200">
              <a:solidFill>
                <a:schemeClr val="dk1"/>
              </a:solidFill>
              <a:latin typeface="Calibri"/>
              <a:ea typeface="Calibri"/>
              <a:cs typeface="Calibri"/>
              <a:sym typeface="Calibri"/>
            </a:endParaRPr>
          </a:p>
          <a:p>
            <a:pPr indent="-342900" lvl="0" marL="342900" marR="0" rtl="0" algn="l">
              <a:lnSpc>
                <a:spcPct val="125000"/>
              </a:lnSpc>
              <a:spcBef>
                <a:spcPts val="800"/>
              </a:spcBef>
              <a:spcAft>
                <a:spcPts val="0"/>
              </a:spcAft>
              <a:buClr>
                <a:srgbClr val="5A6478"/>
              </a:buClr>
              <a:buSzPts val="1200"/>
              <a:buFont typeface="Calibri"/>
              <a:buChar char="•"/>
            </a:pPr>
            <a:r>
              <a:rPr lang="en-US" sz="1200">
                <a:solidFill>
                  <a:srgbClr val="5A6478"/>
                </a:solidFill>
                <a:latin typeface="Calibri"/>
                <a:ea typeface="Calibri"/>
                <a:cs typeface="Calibri"/>
                <a:sym typeface="Calibri"/>
              </a:rPr>
              <a:t>Pruebas funcionales y documentación</a:t>
            </a:r>
            <a:endParaRPr sz="1200">
              <a:solidFill>
                <a:schemeClr val="dk1"/>
              </a:solidFill>
              <a:latin typeface="Calibri"/>
              <a:ea typeface="Calibri"/>
              <a:cs typeface="Calibri"/>
              <a:sym typeface="Calibri"/>
            </a:endParaRPr>
          </a:p>
        </p:txBody>
      </p:sp>
      <p:sp>
        <p:nvSpPr>
          <p:cNvPr id="591" name="Google Shape;591;p14"/>
          <p:cNvSpPr/>
          <p:nvPr/>
        </p:nvSpPr>
        <p:spPr>
          <a:xfrm>
            <a:off x="566928" y="4983480"/>
            <a:ext cx="11055096" cy="1005840"/>
          </a:xfrm>
          <a:prstGeom prst="roundRect">
            <a:avLst>
              <a:gd fmla="val 5455" name="adj"/>
            </a:avLst>
          </a:prstGeom>
          <a:solidFill>
            <a:srgbClr val="1E2761"/>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92" name="Google Shape;592;p14"/>
          <p:cNvSpPr/>
          <p:nvPr/>
        </p:nvSpPr>
        <p:spPr>
          <a:xfrm>
            <a:off x="886968" y="5138928"/>
            <a:ext cx="10424160" cy="713232"/>
          </a:xfrm>
          <a:prstGeom prst="rect">
            <a:avLst/>
          </a:prstGeom>
          <a:noFill/>
          <a:ln>
            <a:noFill/>
          </a:ln>
        </p:spPr>
        <p:txBody>
          <a:bodyPr anchorCtr="0" anchor="ctr" bIns="0" lIns="0" spcFirstLastPara="1" rIns="0" wrap="square" tIns="0">
            <a:noAutofit/>
          </a:bodyPr>
          <a:lstStyle/>
          <a:p>
            <a:pPr indent="0" lvl="0" marL="0" marR="0" rtl="0" algn="l">
              <a:lnSpc>
                <a:spcPct val="138461"/>
              </a:lnSpc>
              <a:spcBef>
                <a:spcPts val="0"/>
              </a:spcBef>
              <a:spcAft>
                <a:spcPts val="0"/>
              </a:spcAft>
              <a:buClr>
                <a:srgbClr val="CADCFC"/>
              </a:buClr>
              <a:buSzPts val="1300"/>
              <a:buFont typeface="Calibri"/>
              <a:buNone/>
            </a:pPr>
            <a:r>
              <a:rPr b="1" lang="en-US" sz="1300">
                <a:solidFill>
                  <a:srgbClr val="CADCFC"/>
                </a:solidFill>
                <a:latin typeface="Calibri"/>
                <a:ea typeface="Calibri"/>
                <a:cs typeface="Calibri"/>
                <a:sym typeface="Calibri"/>
              </a:rPr>
              <a:t>Lo que comparten ambos perfiles:  </a:t>
            </a:r>
            <a:r>
              <a:rPr lang="en-US" sz="1300">
                <a:solidFill>
                  <a:srgbClr val="FFFFFF"/>
                </a:solidFill>
                <a:latin typeface="Calibri"/>
                <a:ea typeface="Calibri"/>
                <a:cs typeface="Calibri"/>
                <a:sym typeface="Calibri"/>
              </a:rPr>
              <a:t>resolver un problema real de una empresa en operación, con tecnologías vigentes en la industria y un producto que queda funcionando, no un ejercicio académico.</a:t>
            </a:r>
            <a:endParaRPr sz="13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7" name="Shape 597"/>
        <p:cNvGrpSpPr/>
        <p:nvPr/>
      </p:nvGrpSpPr>
      <p:grpSpPr>
        <a:xfrm>
          <a:off x="0" y="0"/>
          <a:ext cx="0" cy="0"/>
          <a:chOff x="0" y="0"/>
          <a:chExt cx="0" cy="0"/>
        </a:xfrm>
      </p:grpSpPr>
      <p:sp>
        <p:nvSpPr>
          <p:cNvPr id="598" name="Google Shape;598;p15"/>
          <p:cNvSpPr/>
          <p:nvPr/>
        </p:nvSpPr>
        <p:spPr>
          <a:xfrm>
            <a:off x="566928" y="347472"/>
            <a:ext cx="11055096" cy="23774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3F6C9E"/>
              </a:buClr>
              <a:buSzPts val="1100"/>
              <a:buFont typeface="Calibri"/>
              <a:buNone/>
            </a:pPr>
            <a:r>
              <a:rPr b="1" lang="en-US" sz="1100">
                <a:solidFill>
                  <a:srgbClr val="3F6C9E"/>
                </a:solidFill>
                <a:latin typeface="Calibri"/>
                <a:ea typeface="Calibri"/>
                <a:cs typeface="Calibri"/>
                <a:sym typeface="Calibri"/>
              </a:rPr>
              <a:t>FACTIBILIDAD</a:t>
            </a:r>
            <a:endParaRPr sz="1100">
              <a:solidFill>
                <a:schemeClr val="dk1"/>
              </a:solidFill>
              <a:latin typeface="Calibri"/>
              <a:ea typeface="Calibri"/>
              <a:cs typeface="Calibri"/>
              <a:sym typeface="Calibri"/>
            </a:endParaRPr>
          </a:p>
        </p:txBody>
      </p:sp>
      <p:sp>
        <p:nvSpPr>
          <p:cNvPr id="599" name="Google Shape;599;p15"/>
          <p:cNvSpPr/>
          <p:nvPr/>
        </p:nvSpPr>
        <p:spPr>
          <a:xfrm>
            <a:off x="566928" y="585216"/>
            <a:ext cx="11055096" cy="566928"/>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E2761"/>
              </a:buClr>
              <a:buSzPts val="2900"/>
              <a:buFont typeface="Cambria"/>
              <a:buNone/>
            </a:pPr>
            <a:r>
              <a:rPr b="1" lang="en-US" sz="2900">
                <a:solidFill>
                  <a:srgbClr val="1E2761"/>
                </a:solidFill>
                <a:latin typeface="Cambria"/>
                <a:ea typeface="Cambria"/>
                <a:cs typeface="Cambria"/>
                <a:sym typeface="Cambria"/>
              </a:rPr>
              <a:t>Por qué es realizable dentro de la asignatura</a:t>
            </a:r>
            <a:endParaRPr sz="2900">
              <a:solidFill>
                <a:schemeClr val="dk1"/>
              </a:solidFill>
              <a:latin typeface="Calibri"/>
              <a:ea typeface="Calibri"/>
              <a:cs typeface="Calibri"/>
              <a:sym typeface="Calibri"/>
            </a:endParaRPr>
          </a:p>
        </p:txBody>
      </p:sp>
      <p:sp>
        <p:nvSpPr>
          <p:cNvPr id="600" name="Google Shape;600;p15"/>
          <p:cNvSpPr/>
          <p:nvPr/>
        </p:nvSpPr>
        <p:spPr>
          <a:xfrm>
            <a:off x="566928" y="6355080"/>
            <a:ext cx="54864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Proyecto APT · Transportes Marexpress</a:t>
            </a:r>
            <a:endParaRPr sz="950">
              <a:solidFill>
                <a:schemeClr val="dk1"/>
              </a:solidFill>
              <a:latin typeface="Calibri"/>
              <a:ea typeface="Calibri"/>
              <a:cs typeface="Calibri"/>
              <a:sym typeface="Calibri"/>
            </a:endParaRPr>
          </a:p>
        </p:txBody>
      </p:sp>
      <p:sp>
        <p:nvSpPr>
          <p:cNvPr id="601" name="Google Shape;601;p15"/>
          <p:cNvSpPr/>
          <p:nvPr/>
        </p:nvSpPr>
        <p:spPr>
          <a:xfrm>
            <a:off x="9610344" y="6355080"/>
            <a:ext cx="20116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A93A3"/>
              </a:buClr>
              <a:buSzPts val="950"/>
              <a:buFont typeface="Calibri"/>
              <a:buNone/>
            </a:pPr>
            <a:r>
              <a:rPr lang="en-US" sz="950">
                <a:solidFill>
                  <a:srgbClr val="8A93A3"/>
                </a:solidFill>
                <a:latin typeface="Calibri"/>
                <a:ea typeface="Calibri"/>
                <a:cs typeface="Calibri"/>
                <a:sym typeface="Calibri"/>
              </a:rPr>
              <a:t>0:40   ·   15</a:t>
            </a:r>
            <a:endParaRPr sz="950">
              <a:solidFill>
                <a:schemeClr val="dk1"/>
              </a:solidFill>
              <a:latin typeface="Calibri"/>
              <a:ea typeface="Calibri"/>
              <a:cs typeface="Calibri"/>
              <a:sym typeface="Calibri"/>
            </a:endParaRPr>
          </a:p>
        </p:txBody>
      </p:sp>
      <p:sp>
        <p:nvSpPr>
          <p:cNvPr id="602" name="Google Shape;602;p15"/>
          <p:cNvSpPr/>
          <p:nvPr/>
        </p:nvSpPr>
        <p:spPr>
          <a:xfrm>
            <a:off x="566928" y="1600200"/>
            <a:ext cx="5431536" cy="1325880"/>
          </a:xfrm>
          <a:prstGeom prst="roundRect">
            <a:avLst>
              <a:gd fmla="val 4138"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3" name="Google Shape;603;p15"/>
          <p:cNvSpPr/>
          <p:nvPr/>
        </p:nvSpPr>
        <p:spPr>
          <a:xfrm>
            <a:off x="859536" y="1819656"/>
            <a:ext cx="365760" cy="36576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4" name="Google Shape;604;p15"/>
          <p:cNvSpPr/>
          <p:nvPr/>
        </p:nvSpPr>
        <p:spPr>
          <a:xfrm>
            <a:off x="859536" y="181965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1</a:t>
            </a:r>
            <a:endParaRPr sz="1300">
              <a:solidFill>
                <a:schemeClr val="dk1"/>
              </a:solidFill>
              <a:latin typeface="Calibri"/>
              <a:ea typeface="Calibri"/>
              <a:cs typeface="Calibri"/>
              <a:sym typeface="Calibri"/>
            </a:endParaRPr>
          </a:p>
        </p:txBody>
      </p:sp>
      <p:sp>
        <p:nvSpPr>
          <p:cNvPr id="605" name="Google Shape;605;p15"/>
          <p:cNvSpPr/>
          <p:nvPr/>
        </p:nvSpPr>
        <p:spPr>
          <a:xfrm>
            <a:off x="1316736" y="1783080"/>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Alcance delimitado</a:t>
            </a:r>
            <a:endParaRPr sz="1400">
              <a:solidFill>
                <a:schemeClr val="dk1"/>
              </a:solidFill>
              <a:latin typeface="Calibri"/>
              <a:ea typeface="Calibri"/>
              <a:cs typeface="Calibri"/>
              <a:sym typeface="Calibri"/>
            </a:endParaRPr>
          </a:p>
        </p:txBody>
      </p:sp>
      <p:sp>
        <p:nvSpPr>
          <p:cNvPr id="606" name="Google Shape;606;p15"/>
          <p:cNvSpPr/>
          <p:nvPr/>
        </p:nvSpPr>
        <p:spPr>
          <a:xfrm>
            <a:off x="1316736" y="2103120"/>
            <a:ext cx="4480560" cy="7315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El proyecto se prioriza por módulos: primero el núcleo operativo, después los módulos de valor agregado. Si algo se ajusta, no compromete el sistema.</a:t>
            </a:r>
            <a:endParaRPr sz="1150">
              <a:solidFill>
                <a:schemeClr val="dk1"/>
              </a:solidFill>
              <a:latin typeface="Calibri"/>
              <a:ea typeface="Calibri"/>
              <a:cs typeface="Calibri"/>
              <a:sym typeface="Calibri"/>
            </a:endParaRPr>
          </a:p>
        </p:txBody>
      </p:sp>
      <p:sp>
        <p:nvSpPr>
          <p:cNvPr id="607" name="Google Shape;607;p15"/>
          <p:cNvSpPr/>
          <p:nvPr/>
        </p:nvSpPr>
        <p:spPr>
          <a:xfrm>
            <a:off x="6190488" y="1600200"/>
            <a:ext cx="5431536" cy="1325880"/>
          </a:xfrm>
          <a:prstGeom prst="roundRect">
            <a:avLst>
              <a:gd fmla="val 4138" name="adj"/>
            </a:avLst>
          </a:prstGeom>
          <a:solidFill>
            <a:srgbClr val="F4F6FA"/>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8" name="Google Shape;608;p15"/>
          <p:cNvSpPr/>
          <p:nvPr/>
        </p:nvSpPr>
        <p:spPr>
          <a:xfrm>
            <a:off x="6483096" y="1819656"/>
            <a:ext cx="365760" cy="36576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09" name="Google Shape;609;p15"/>
          <p:cNvSpPr/>
          <p:nvPr/>
        </p:nvSpPr>
        <p:spPr>
          <a:xfrm>
            <a:off x="6483096" y="181965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2</a:t>
            </a:r>
            <a:endParaRPr sz="1300">
              <a:solidFill>
                <a:schemeClr val="dk1"/>
              </a:solidFill>
              <a:latin typeface="Calibri"/>
              <a:ea typeface="Calibri"/>
              <a:cs typeface="Calibri"/>
              <a:sym typeface="Calibri"/>
            </a:endParaRPr>
          </a:p>
        </p:txBody>
      </p:sp>
      <p:sp>
        <p:nvSpPr>
          <p:cNvPr id="610" name="Google Shape;610;p15"/>
          <p:cNvSpPr/>
          <p:nvPr/>
        </p:nvSpPr>
        <p:spPr>
          <a:xfrm>
            <a:off x="6940296" y="1783080"/>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Tecnologías conocidas</a:t>
            </a:r>
            <a:endParaRPr sz="1400">
              <a:solidFill>
                <a:schemeClr val="dk1"/>
              </a:solidFill>
              <a:latin typeface="Calibri"/>
              <a:ea typeface="Calibri"/>
              <a:cs typeface="Calibri"/>
              <a:sym typeface="Calibri"/>
            </a:endParaRPr>
          </a:p>
        </p:txBody>
      </p:sp>
      <p:sp>
        <p:nvSpPr>
          <p:cNvPr id="611" name="Google Shape;611;p15"/>
          <p:cNvSpPr/>
          <p:nvPr/>
        </p:nvSpPr>
        <p:spPr>
          <a:xfrm>
            <a:off x="6940296" y="2103120"/>
            <a:ext cx="4480560" cy="7315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Todo el stack es conocido por el equipo, con documentación estable y sin costo de licencia.</a:t>
            </a:r>
            <a:endParaRPr sz="1150">
              <a:solidFill>
                <a:schemeClr val="dk1"/>
              </a:solidFill>
              <a:latin typeface="Calibri"/>
              <a:ea typeface="Calibri"/>
              <a:cs typeface="Calibri"/>
              <a:sym typeface="Calibri"/>
            </a:endParaRPr>
          </a:p>
        </p:txBody>
      </p:sp>
      <p:sp>
        <p:nvSpPr>
          <p:cNvPr id="612" name="Google Shape;612;p15"/>
          <p:cNvSpPr/>
          <p:nvPr/>
        </p:nvSpPr>
        <p:spPr>
          <a:xfrm>
            <a:off x="566928" y="3108960"/>
            <a:ext cx="5431536" cy="1325880"/>
          </a:xfrm>
          <a:prstGeom prst="roundRect">
            <a:avLst>
              <a:gd fmla="val 4138"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3" name="Google Shape;613;p15"/>
          <p:cNvSpPr/>
          <p:nvPr/>
        </p:nvSpPr>
        <p:spPr>
          <a:xfrm>
            <a:off x="859536" y="3328416"/>
            <a:ext cx="365760" cy="36576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4" name="Google Shape;614;p15"/>
          <p:cNvSpPr/>
          <p:nvPr/>
        </p:nvSpPr>
        <p:spPr>
          <a:xfrm>
            <a:off x="859536" y="332841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3</a:t>
            </a:r>
            <a:endParaRPr sz="1300">
              <a:solidFill>
                <a:schemeClr val="dk1"/>
              </a:solidFill>
              <a:latin typeface="Calibri"/>
              <a:ea typeface="Calibri"/>
              <a:cs typeface="Calibri"/>
              <a:sym typeface="Calibri"/>
            </a:endParaRPr>
          </a:p>
        </p:txBody>
      </p:sp>
      <p:sp>
        <p:nvSpPr>
          <p:cNvPr id="615" name="Google Shape;615;p15"/>
          <p:cNvSpPr/>
          <p:nvPr/>
        </p:nvSpPr>
        <p:spPr>
          <a:xfrm>
            <a:off x="1316736" y="3291840"/>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Plan con holgura</a:t>
            </a:r>
            <a:endParaRPr sz="1400">
              <a:solidFill>
                <a:schemeClr val="dk1"/>
              </a:solidFill>
              <a:latin typeface="Calibri"/>
              <a:ea typeface="Calibri"/>
              <a:cs typeface="Calibri"/>
              <a:sym typeface="Calibri"/>
            </a:endParaRPr>
          </a:p>
        </p:txBody>
      </p:sp>
      <p:sp>
        <p:nvSpPr>
          <p:cNvPr id="616" name="Google Shape;616;p15"/>
          <p:cNvSpPr/>
          <p:nvPr/>
        </p:nvSpPr>
        <p:spPr>
          <a:xfrm>
            <a:off x="1316736" y="3611880"/>
            <a:ext cx="4480560" cy="7315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El cronograma cierra en la semana 17 y deja la semana 18 del período académico como margen.</a:t>
            </a:r>
            <a:endParaRPr sz="1150">
              <a:solidFill>
                <a:schemeClr val="dk1"/>
              </a:solidFill>
              <a:latin typeface="Calibri"/>
              <a:ea typeface="Calibri"/>
              <a:cs typeface="Calibri"/>
              <a:sym typeface="Calibri"/>
            </a:endParaRPr>
          </a:p>
        </p:txBody>
      </p:sp>
      <p:sp>
        <p:nvSpPr>
          <p:cNvPr id="617" name="Google Shape;617;p15"/>
          <p:cNvSpPr/>
          <p:nvPr/>
        </p:nvSpPr>
        <p:spPr>
          <a:xfrm>
            <a:off x="6190488" y="3108960"/>
            <a:ext cx="5431536" cy="1325880"/>
          </a:xfrm>
          <a:prstGeom prst="roundRect">
            <a:avLst>
              <a:gd fmla="val 4138"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8" name="Google Shape;618;p15"/>
          <p:cNvSpPr/>
          <p:nvPr/>
        </p:nvSpPr>
        <p:spPr>
          <a:xfrm>
            <a:off x="6483096" y="3328416"/>
            <a:ext cx="365760" cy="365760"/>
          </a:xfrm>
          <a:prstGeom prst="ellipse">
            <a:avLst/>
          </a:prstGeom>
          <a:solidFill>
            <a:srgbClr val="1E2761"/>
          </a:solidFill>
          <a:ln cap="flat" cmpd="sng" w="12700">
            <a:solidFill>
              <a:srgbClr val="1E276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9" name="Google Shape;619;p15"/>
          <p:cNvSpPr/>
          <p:nvPr/>
        </p:nvSpPr>
        <p:spPr>
          <a:xfrm>
            <a:off x="6483096" y="3328416"/>
            <a:ext cx="36576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300"/>
              <a:buFont typeface="Calibri"/>
              <a:buNone/>
            </a:pPr>
            <a:r>
              <a:rPr b="1" lang="en-US" sz="1300">
                <a:solidFill>
                  <a:srgbClr val="FFFFFF"/>
                </a:solidFill>
                <a:latin typeface="Calibri"/>
                <a:ea typeface="Calibri"/>
                <a:cs typeface="Calibri"/>
                <a:sym typeface="Calibri"/>
              </a:rPr>
              <a:t>4</a:t>
            </a:r>
            <a:endParaRPr sz="1300">
              <a:solidFill>
                <a:schemeClr val="dk1"/>
              </a:solidFill>
              <a:latin typeface="Calibri"/>
              <a:ea typeface="Calibri"/>
              <a:cs typeface="Calibri"/>
              <a:sym typeface="Calibri"/>
            </a:endParaRPr>
          </a:p>
        </p:txBody>
      </p:sp>
      <p:sp>
        <p:nvSpPr>
          <p:cNvPr id="620" name="Google Shape;620;p15"/>
          <p:cNvSpPr/>
          <p:nvPr/>
        </p:nvSpPr>
        <p:spPr>
          <a:xfrm>
            <a:off x="6940296" y="3291840"/>
            <a:ext cx="438912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400"/>
              <a:buFont typeface="Calibri"/>
              <a:buNone/>
            </a:pPr>
            <a:r>
              <a:rPr b="1" lang="en-US" sz="1400">
                <a:solidFill>
                  <a:srgbClr val="1E2761"/>
                </a:solidFill>
                <a:latin typeface="Calibri"/>
                <a:ea typeface="Calibri"/>
                <a:cs typeface="Calibri"/>
                <a:sym typeface="Calibri"/>
              </a:rPr>
              <a:t>Precedente de ajuste</a:t>
            </a:r>
            <a:endParaRPr sz="1400">
              <a:solidFill>
                <a:schemeClr val="dk1"/>
              </a:solidFill>
              <a:latin typeface="Calibri"/>
              <a:ea typeface="Calibri"/>
              <a:cs typeface="Calibri"/>
              <a:sym typeface="Calibri"/>
            </a:endParaRPr>
          </a:p>
        </p:txBody>
      </p:sp>
      <p:sp>
        <p:nvSpPr>
          <p:cNvPr id="621" name="Google Shape;621;p15"/>
          <p:cNvSpPr/>
          <p:nvPr/>
        </p:nvSpPr>
        <p:spPr>
          <a:xfrm>
            <a:off x="6940296" y="3611880"/>
            <a:ext cx="4480560" cy="731520"/>
          </a:xfrm>
          <a:prstGeom prst="rect">
            <a:avLst/>
          </a:prstGeom>
          <a:noFill/>
          <a:ln>
            <a:noFill/>
          </a:ln>
        </p:spPr>
        <p:txBody>
          <a:bodyPr anchorCtr="0" anchor="t" bIns="0" lIns="0" spcFirstLastPara="1" rIns="0" wrap="square" tIns="0">
            <a:noAutofit/>
          </a:bodyPr>
          <a:lstStyle/>
          <a:p>
            <a:pPr indent="0" lvl="0" marL="0" marR="0" rtl="0" algn="l">
              <a:lnSpc>
                <a:spcPct val="130434"/>
              </a:lnSpc>
              <a:spcBef>
                <a:spcPts val="0"/>
              </a:spcBef>
              <a:spcAft>
                <a:spcPts val="0"/>
              </a:spcAft>
              <a:buClr>
                <a:srgbClr val="5A6478"/>
              </a:buClr>
              <a:buSzPts val="1150"/>
              <a:buFont typeface="Calibri"/>
              <a:buNone/>
            </a:pPr>
            <a:r>
              <a:rPr lang="en-US" sz="1150">
                <a:solidFill>
                  <a:srgbClr val="5A6478"/>
                </a:solidFill>
                <a:latin typeface="Calibri"/>
                <a:ea typeface="Calibri"/>
                <a:cs typeface="Calibri"/>
                <a:sym typeface="Calibri"/>
              </a:rPr>
              <a:t>Ya redujimos alcance una vez: retiramos la aplicación móvil y resolvimos el seguimiento desde la web, sin perder el objetivo.</a:t>
            </a:r>
            <a:endParaRPr sz="1150">
              <a:solidFill>
                <a:schemeClr val="dk1"/>
              </a:solidFill>
              <a:latin typeface="Calibri"/>
              <a:ea typeface="Calibri"/>
              <a:cs typeface="Calibri"/>
              <a:sym typeface="Calibri"/>
            </a:endParaRPr>
          </a:p>
        </p:txBody>
      </p:sp>
      <p:sp>
        <p:nvSpPr>
          <p:cNvPr id="622" name="Google Shape;622;p15"/>
          <p:cNvSpPr/>
          <p:nvPr/>
        </p:nvSpPr>
        <p:spPr>
          <a:xfrm>
            <a:off x="566928" y="4754880"/>
            <a:ext cx="11055096"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500"/>
              <a:buFont typeface="Calibri"/>
              <a:buNone/>
            </a:pPr>
            <a:r>
              <a:rPr b="1" lang="en-US" sz="1500">
                <a:solidFill>
                  <a:srgbClr val="1E2761"/>
                </a:solidFill>
                <a:latin typeface="Calibri"/>
                <a:ea typeface="Calibri"/>
                <a:cs typeface="Calibri"/>
                <a:sym typeface="Calibri"/>
              </a:rPr>
              <a:t>Riesgos declarados y su mitigación</a:t>
            </a:r>
            <a:endParaRPr sz="1500">
              <a:solidFill>
                <a:schemeClr val="dk1"/>
              </a:solidFill>
              <a:latin typeface="Calibri"/>
              <a:ea typeface="Calibri"/>
              <a:cs typeface="Calibri"/>
              <a:sym typeface="Calibri"/>
            </a:endParaRPr>
          </a:p>
        </p:txBody>
      </p:sp>
      <p:sp>
        <p:nvSpPr>
          <p:cNvPr id="623" name="Google Shape;623;p15"/>
          <p:cNvSpPr/>
          <p:nvPr/>
        </p:nvSpPr>
        <p:spPr>
          <a:xfrm>
            <a:off x="566928" y="5120640"/>
            <a:ext cx="3502152" cy="868680"/>
          </a:xfrm>
          <a:prstGeom prst="roundRect">
            <a:avLst>
              <a:gd fmla="val 6316"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4" name="Google Shape;624;p15"/>
          <p:cNvSpPr/>
          <p:nvPr/>
        </p:nvSpPr>
        <p:spPr>
          <a:xfrm>
            <a:off x="768096" y="5193792"/>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Información de la empresa</a:t>
            </a:r>
            <a:endParaRPr sz="1150">
              <a:solidFill>
                <a:schemeClr val="dk1"/>
              </a:solidFill>
              <a:latin typeface="Calibri"/>
              <a:ea typeface="Calibri"/>
              <a:cs typeface="Calibri"/>
              <a:sym typeface="Calibri"/>
            </a:endParaRPr>
          </a:p>
        </p:txBody>
      </p:sp>
      <p:sp>
        <p:nvSpPr>
          <p:cNvPr id="625" name="Google Shape;625;p15"/>
          <p:cNvSpPr/>
          <p:nvPr/>
        </p:nvSpPr>
        <p:spPr>
          <a:xfrm>
            <a:off x="768096" y="545896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alibri"/>
              <a:buNone/>
            </a:pPr>
            <a:r>
              <a:rPr lang="en-US" sz="1100">
                <a:solidFill>
                  <a:srgbClr val="5A6478"/>
                </a:solidFill>
                <a:latin typeface="Calibri"/>
                <a:ea typeface="Calibri"/>
                <a:cs typeface="Calibri"/>
                <a:sym typeface="Calibri"/>
              </a:rPr>
              <a:t>→ Validar el alcance en la semana 1</a:t>
            </a:r>
            <a:endParaRPr sz="1100">
              <a:solidFill>
                <a:schemeClr val="dk1"/>
              </a:solidFill>
              <a:latin typeface="Calibri"/>
              <a:ea typeface="Calibri"/>
              <a:cs typeface="Calibri"/>
              <a:sym typeface="Calibri"/>
            </a:endParaRPr>
          </a:p>
        </p:txBody>
      </p:sp>
      <p:sp>
        <p:nvSpPr>
          <p:cNvPr id="626" name="Google Shape;626;p15"/>
          <p:cNvSpPr/>
          <p:nvPr/>
        </p:nvSpPr>
        <p:spPr>
          <a:xfrm>
            <a:off x="4343400" y="5120640"/>
            <a:ext cx="3502152" cy="868680"/>
          </a:xfrm>
          <a:prstGeom prst="roundRect">
            <a:avLst>
              <a:gd fmla="val 6316"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27" name="Google Shape;627;p15"/>
          <p:cNvSpPr/>
          <p:nvPr/>
        </p:nvSpPr>
        <p:spPr>
          <a:xfrm>
            <a:off x="4544568" y="5193792"/>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Credenciales de Webpay</a:t>
            </a:r>
            <a:endParaRPr sz="1150">
              <a:solidFill>
                <a:schemeClr val="dk1"/>
              </a:solidFill>
              <a:latin typeface="Calibri"/>
              <a:ea typeface="Calibri"/>
              <a:cs typeface="Calibri"/>
              <a:sym typeface="Calibri"/>
            </a:endParaRPr>
          </a:p>
        </p:txBody>
      </p:sp>
      <p:sp>
        <p:nvSpPr>
          <p:cNvPr id="628" name="Google Shape;628;p15"/>
          <p:cNvSpPr/>
          <p:nvPr/>
        </p:nvSpPr>
        <p:spPr>
          <a:xfrm>
            <a:off x="4544568" y="545896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alibri"/>
              <a:buNone/>
            </a:pPr>
            <a:r>
              <a:rPr lang="en-US" sz="1100">
                <a:solidFill>
                  <a:srgbClr val="5A6478"/>
                </a:solidFill>
                <a:latin typeface="Calibri"/>
                <a:ea typeface="Calibri"/>
                <a:cs typeface="Calibri"/>
                <a:sym typeface="Calibri"/>
              </a:rPr>
              <a:t>→ Trabajar en ambiente de pruebas</a:t>
            </a:r>
            <a:endParaRPr sz="1100">
              <a:solidFill>
                <a:schemeClr val="dk1"/>
              </a:solidFill>
              <a:latin typeface="Calibri"/>
              <a:ea typeface="Calibri"/>
              <a:cs typeface="Calibri"/>
              <a:sym typeface="Calibri"/>
            </a:endParaRPr>
          </a:p>
        </p:txBody>
      </p:sp>
      <p:sp>
        <p:nvSpPr>
          <p:cNvPr id="629" name="Google Shape;629;p15"/>
          <p:cNvSpPr/>
          <p:nvPr/>
        </p:nvSpPr>
        <p:spPr>
          <a:xfrm>
            <a:off x="8119872" y="5120640"/>
            <a:ext cx="3502152" cy="868680"/>
          </a:xfrm>
          <a:prstGeom prst="roundRect">
            <a:avLst>
              <a:gd fmla="val 6316" name="adj"/>
            </a:avLst>
          </a:prstGeom>
          <a:solidFill>
            <a:srgbClr val="FFFFFF"/>
          </a:solidFill>
          <a:ln cap="flat" cmpd="sng" w="12700">
            <a:solidFill>
              <a:srgbClr val="DCE3EE"/>
            </a:solidFill>
            <a:prstDash val="solid"/>
            <a:round/>
            <a:headEnd len="sm" w="sm" type="none"/>
            <a:tailEnd len="sm" w="sm" type="none"/>
          </a:ln>
          <a:effectLst>
            <a:outerShdw blurRad="127000" rotWithShape="0" algn="bl" dir="5400000" dist="25400">
              <a:srgbClr val="1E2761">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0" name="Google Shape;630;p15"/>
          <p:cNvSpPr/>
          <p:nvPr/>
        </p:nvSpPr>
        <p:spPr>
          <a:xfrm>
            <a:off x="8321040" y="5193792"/>
            <a:ext cx="310896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E2761"/>
              </a:buClr>
              <a:buSzPts val="1150"/>
              <a:buFont typeface="Calibri"/>
              <a:buNone/>
            </a:pPr>
            <a:r>
              <a:rPr b="1" lang="en-US" sz="1150">
                <a:solidFill>
                  <a:srgbClr val="1E2761"/>
                </a:solidFill>
                <a:latin typeface="Calibri"/>
                <a:ea typeface="Calibri"/>
                <a:cs typeface="Calibri"/>
                <a:sym typeface="Calibri"/>
              </a:rPr>
              <a:t>Histórico para el modelo de ML</a:t>
            </a:r>
            <a:endParaRPr sz="1150">
              <a:solidFill>
                <a:schemeClr val="dk1"/>
              </a:solidFill>
              <a:latin typeface="Calibri"/>
              <a:ea typeface="Calibri"/>
              <a:cs typeface="Calibri"/>
              <a:sym typeface="Calibri"/>
            </a:endParaRPr>
          </a:p>
        </p:txBody>
      </p:sp>
      <p:sp>
        <p:nvSpPr>
          <p:cNvPr id="631" name="Google Shape;631;p15"/>
          <p:cNvSpPr/>
          <p:nvPr/>
        </p:nvSpPr>
        <p:spPr>
          <a:xfrm>
            <a:off x="8321040" y="5458968"/>
            <a:ext cx="310896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478"/>
              </a:buClr>
              <a:buSzPts val="1100"/>
              <a:buFont typeface="Calibri"/>
              <a:buNone/>
            </a:pPr>
            <a:r>
              <a:rPr lang="en-US" sz="1100">
                <a:solidFill>
                  <a:srgbClr val="5A6478"/>
                </a:solidFill>
                <a:latin typeface="Calibri"/>
                <a:ea typeface="Calibri"/>
                <a:cs typeface="Calibri"/>
                <a:sym typeface="Calibri"/>
              </a:rPr>
              <a:t>→ Modelo simple, medible y acotado</a:t>
            </a:r>
            <a:endParaRPr sz="11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2761"/>
        </a:solidFill>
      </p:bgPr>
    </p:bg>
    <p:spTree>
      <p:nvGrpSpPr>
        <p:cNvPr id="636" name="Shape 636"/>
        <p:cNvGrpSpPr/>
        <p:nvPr/>
      </p:nvGrpSpPr>
      <p:grpSpPr>
        <a:xfrm>
          <a:off x="0" y="0"/>
          <a:ext cx="0" cy="0"/>
          <a:chOff x="0" y="0"/>
          <a:chExt cx="0" cy="0"/>
        </a:xfrm>
      </p:grpSpPr>
      <p:sp>
        <p:nvSpPr>
          <p:cNvPr id="637" name="Google Shape;637;p16"/>
          <p:cNvSpPr/>
          <p:nvPr/>
        </p:nvSpPr>
        <p:spPr>
          <a:xfrm>
            <a:off x="9875520" y="4206240"/>
            <a:ext cx="3474720" cy="3474720"/>
          </a:xfrm>
          <a:prstGeom prst="ellipse">
            <a:avLst/>
          </a:prstGeom>
          <a:solidFill>
            <a:srgbClr val="3F6C9E">
              <a:alpha val="25098"/>
            </a:srgbClr>
          </a:solidFill>
          <a:ln cap="flat" cmpd="sng" w="12700">
            <a:solidFill>
              <a:srgbClr val="3F6C9E">
                <a:alpha val="0"/>
              </a:srgbClr>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38" name="Google Shape;638;p16"/>
          <p:cNvSpPr/>
          <p:nvPr/>
        </p:nvSpPr>
        <p:spPr>
          <a:xfrm>
            <a:off x="566928" y="777240"/>
            <a:ext cx="73152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b="1" lang="en-US" sz="1200">
                <a:solidFill>
                  <a:srgbClr val="CADCFC"/>
                </a:solidFill>
                <a:latin typeface="Calibri"/>
                <a:ea typeface="Calibri"/>
                <a:cs typeface="Calibri"/>
                <a:sym typeface="Calibri"/>
              </a:rPr>
              <a:t>PRÓXIMOS PASOS</a:t>
            </a:r>
            <a:endParaRPr sz="1200">
              <a:solidFill>
                <a:schemeClr val="dk1"/>
              </a:solidFill>
              <a:latin typeface="Calibri"/>
              <a:ea typeface="Calibri"/>
              <a:cs typeface="Calibri"/>
              <a:sym typeface="Calibri"/>
            </a:endParaRPr>
          </a:p>
        </p:txBody>
      </p:sp>
      <p:sp>
        <p:nvSpPr>
          <p:cNvPr id="639" name="Google Shape;639;p16"/>
          <p:cNvSpPr/>
          <p:nvPr/>
        </p:nvSpPr>
        <p:spPr>
          <a:xfrm>
            <a:off x="566928" y="1115568"/>
            <a:ext cx="9144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lang="en-US" sz="3200">
                <a:solidFill>
                  <a:srgbClr val="FFFFFF"/>
                </a:solidFill>
                <a:latin typeface="Cambria"/>
                <a:ea typeface="Cambria"/>
                <a:cs typeface="Cambria"/>
                <a:sym typeface="Cambria"/>
              </a:rPr>
              <a:t>Lo inmediato</a:t>
            </a:r>
            <a:endParaRPr sz="3200">
              <a:solidFill>
                <a:schemeClr val="dk1"/>
              </a:solidFill>
              <a:latin typeface="Calibri"/>
              <a:ea typeface="Calibri"/>
              <a:cs typeface="Calibri"/>
              <a:sym typeface="Calibri"/>
            </a:endParaRPr>
          </a:p>
        </p:txBody>
      </p:sp>
      <p:sp>
        <p:nvSpPr>
          <p:cNvPr id="640" name="Google Shape;640;p16"/>
          <p:cNvSpPr/>
          <p:nvPr/>
        </p:nvSpPr>
        <p:spPr>
          <a:xfrm>
            <a:off x="566928" y="2103120"/>
            <a:ext cx="402336" cy="402336"/>
          </a:xfrm>
          <a:prstGeom prst="ellipse">
            <a:avLst/>
          </a:prstGeom>
          <a:solidFill>
            <a:srgbClr val="CADCFC"/>
          </a:solidFill>
          <a:ln cap="flat" cmpd="sng" w="12700">
            <a:solidFill>
              <a:srgbClr val="CADC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1" name="Google Shape;641;p16"/>
          <p:cNvSpPr/>
          <p:nvPr/>
        </p:nvSpPr>
        <p:spPr>
          <a:xfrm>
            <a:off x="566928" y="210312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1</a:t>
            </a:r>
            <a:endParaRPr sz="1300">
              <a:solidFill>
                <a:schemeClr val="dk1"/>
              </a:solidFill>
              <a:latin typeface="Calibri"/>
              <a:ea typeface="Calibri"/>
              <a:cs typeface="Calibri"/>
              <a:sym typeface="Calibri"/>
            </a:endParaRPr>
          </a:p>
        </p:txBody>
      </p:sp>
      <p:sp>
        <p:nvSpPr>
          <p:cNvPr id="642" name="Google Shape;642;p16"/>
          <p:cNvSpPr/>
          <p:nvPr/>
        </p:nvSpPr>
        <p:spPr>
          <a:xfrm>
            <a:off x="1133856" y="2084832"/>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Validar requerimientos</a:t>
            </a:r>
            <a:endParaRPr sz="1500">
              <a:solidFill>
                <a:schemeClr val="dk1"/>
              </a:solidFill>
              <a:latin typeface="Calibri"/>
              <a:ea typeface="Calibri"/>
              <a:cs typeface="Calibri"/>
              <a:sym typeface="Calibri"/>
            </a:endParaRPr>
          </a:p>
        </p:txBody>
      </p:sp>
      <p:sp>
        <p:nvSpPr>
          <p:cNvPr id="643" name="Google Shape;643;p16"/>
          <p:cNvSpPr/>
          <p:nvPr/>
        </p:nvSpPr>
        <p:spPr>
          <a:xfrm>
            <a:off x="1133856" y="2395728"/>
            <a:ext cx="4846320" cy="50292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CFC"/>
              </a:buClr>
              <a:buSzPts val="1250"/>
              <a:buFont typeface="Calibri"/>
              <a:buNone/>
            </a:pPr>
            <a:r>
              <a:rPr lang="en-US" sz="1250">
                <a:solidFill>
                  <a:srgbClr val="CADCFC"/>
                </a:solidFill>
                <a:latin typeface="Calibri"/>
                <a:ea typeface="Calibri"/>
                <a:cs typeface="Calibri"/>
                <a:sym typeface="Calibri"/>
              </a:rPr>
              <a:t>Cierre del alcance con Transportes Marexpress</a:t>
            </a:r>
            <a:endParaRPr sz="1250">
              <a:solidFill>
                <a:schemeClr val="dk1"/>
              </a:solidFill>
              <a:latin typeface="Calibri"/>
              <a:ea typeface="Calibri"/>
              <a:cs typeface="Calibri"/>
              <a:sym typeface="Calibri"/>
            </a:endParaRPr>
          </a:p>
        </p:txBody>
      </p:sp>
      <p:sp>
        <p:nvSpPr>
          <p:cNvPr id="644" name="Google Shape;644;p16"/>
          <p:cNvSpPr/>
          <p:nvPr/>
        </p:nvSpPr>
        <p:spPr>
          <a:xfrm>
            <a:off x="6190488" y="2103120"/>
            <a:ext cx="402336" cy="402336"/>
          </a:xfrm>
          <a:prstGeom prst="ellipse">
            <a:avLst/>
          </a:prstGeom>
          <a:solidFill>
            <a:srgbClr val="CADCFC"/>
          </a:solidFill>
          <a:ln cap="flat" cmpd="sng" w="12700">
            <a:solidFill>
              <a:srgbClr val="CADC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5" name="Google Shape;645;p16"/>
          <p:cNvSpPr/>
          <p:nvPr/>
        </p:nvSpPr>
        <p:spPr>
          <a:xfrm>
            <a:off x="6190488" y="210312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2</a:t>
            </a:r>
            <a:endParaRPr sz="1300">
              <a:solidFill>
                <a:schemeClr val="dk1"/>
              </a:solidFill>
              <a:latin typeface="Calibri"/>
              <a:ea typeface="Calibri"/>
              <a:cs typeface="Calibri"/>
              <a:sym typeface="Calibri"/>
            </a:endParaRPr>
          </a:p>
        </p:txBody>
      </p:sp>
      <p:sp>
        <p:nvSpPr>
          <p:cNvPr id="646" name="Google Shape;646;p16"/>
          <p:cNvSpPr/>
          <p:nvPr/>
        </p:nvSpPr>
        <p:spPr>
          <a:xfrm>
            <a:off x="6757416" y="2084832"/>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Modelo de datos definitivo</a:t>
            </a:r>
            <a:endParaRPr sz="1500">
              <a:solidFill>
                <a:schemeClr val="dk1"/>
              </a:solidFill>
              <a:latin typeface="Calibri"/>
              <a:ea typeface="Calibri"/>
              <a:cs typeface="Calibri"/>
              <a:sym typeface="Calibri"/>
            </a:endParaRPr>
          </a:p>
        </p:txBody>
      </p:sp>
      <p:sp>
        <p:nvSpPr>
          <p:cNvPr id="647" name="Google Shape;647;p16"/>
          <p:cNvSpPr/>
          <p:nvPr/>
        </p:nvSpPr>
        <p:spPr>
          <a:xfrm>
            <a:off x="6757416" y="2395728"/>
            <a:ext cx="4846320" cy="50292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CFC"/>
              </a:buClr>
              <a:buSzPts val="1250"/>
              <a:buFont typeface="Calibri"/>
              <a:buNone/>
            </a:pPr>
            <a:r>
              <a:rPr lang="en-US" sz="1250">
                <a:solidFill>
                  <a:srgbClr val="CADCFC"/>
                </a:solidFill>
                <a:latin typeface="Calibri"/>
                <a:ea typeface="Calibri"/>
                <a:cs typeface="Calibri"/>
                <a:sym typeface="Calibri"/>
              </a:rPr>
              <a:t>Diagrama entidad-relación y scripts MySQL</a:t>
            </a:r>
            <a:endParaRPr sz="1250">
              <a:solidFill>
                <a:schemeClr val="dk1"/>
              </a:solidFill>
              <a:latin typeface="Calibri"/>
              <a:ea typeface="Calibri"/>
              <a:cs typeface="Calibri"/>
              <a:sym typeface="Calibri"/>
            </a:endParaRPr>
          </a:p>
        </p:txBody>
      </p:sp>
      <p:sp>
        <p:nvSpPr>
          <p:cNvPr id="648" name="Google Shape;648;p16"/>
          <p:cNvSpPr/>
          <p:nvPr/>
        </p:nvSpPr>
        <p:spPr>
          <a:xfrm>
            <a:off x="566928" y="3291840"/>
            <a:ext cx="402336" cy="402336"/>
          </a:xfrm>
          <a:prstGeom prst="ellipse">
            <a:avLst/>
          </a:prstGeom>
          <a:solidFill>
            <a:srgbClr val="CADCFC"/>
          </a:solidFill>
          <a:ln cap="flat" cmpd="sng" w="12700">
            <a:solidFill>
              <a:srgbClr val="CADC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49" name="Google Shape;649;p16"/>
          <p:cNvSpPr/>
          <p:nvPr/>
        </p:nvSpPr>
        <p:spPr>
          <a:xfrm>
            <a:off x="566928" y="32918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3</a:t>
            </a:r>
            <a:endParaRPr sz="1300">
              <a:solidFill>
                <a:schemeClr val="dk1"/>
              </a:solidFill>
              <a:latin typeface="Calibri"/>
              <a:ea typeface="Calibri"/>
              <a:cs typeface="Calibri"/>
              <a:sym typeface="Calibri"/>
            </a:endParaRPr>
          </a:p>
        </p:txBody>
      </p:sp>
      <p:sp>
        <p:nvSpPr>
          <p:cNvPr id="650" name="Google Shape;650;p16"/>
          <p:cNvSpPr/>
          <p:nvPr/>
        </p:nvSpPr>
        <p:spPr>
          <a:xfrm>
            <a:off x="1133856" y="3273552"/>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Sprint 1</a:t>
            </a:r>
            <a:endParaRPr sz="1500">
              <a:solidFill>
                <a:schemeClr val="dk1"/>
              </a:solidFill>
              <a:latin typeface="Calibri"/>
              <a:ea typeface="Calibri"/>
              <a:cs typeface="Calibri"/>
              <a:sym typeface="Calibri"/>
            </a:endParaRPr>
          </a:p>
        </p:txBody>
      </p:sp>
      <p:sp>
        <p:nvSpPr>
          <p:cNvPr id="651" name="Google Shape;651;p16"/>
          <p:cNvSpPr/>
          <p:nvPr/>
        </p:nvSpPr>
        <p:spPr>
          <a:xfrm>
            <a:off x="1133856" y="3584448"/>
            <a:ext cx="4846320" cy="50292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CFC"/>
              </a:buClr>
              <a:buSzPts val="1250"/>
              <a:buFont typeface="Calibri"/>
              <a:buNone/>
            </a:pPr>
            <a:r>
              <a:rPr lang="en-US" sz="1250">
                <a:solidFill>
                  <a:srgbClr val="CADCFC"/>
                </a:solidFill>
                <a:latin typeface="Calibri"/>
                <a:ea typeface="Calibri"/>
                <a:cs typeface="Calibri"/>
                <a:sym typeface="Calibri"/>
              </a:rPr>
              <a:t>Autenticación, maestros y base del módulo de OT</a:t>
            </a:r>
            <a:endParaRPr sz="1250">
              <a:solidFill>
                <a:schemeClr val="dk1"/>
              </a:solidFill>
              <a:latin typeface="Calibri"/>
              <a:ea typeface="Calibri"/>
              <a:cs typeface="Calibri"/>
              <a:sym typeface="Calibri"/>
            </a:endParaRPr>
          </a:p>
        </p:txBody>
      </p:sp>
      <p:sp>
        <p:nvSpPr>
          <p:cNvPr id="652" name="Google Shape;652;p16"/>
          <p:cNvSpPr/>
          <p:nvPr/>
        </p:nvSpPr>
        <p:spPr>
          <a:xfrm>
            <a:off x="6190488" y="3291840"/>
            <a:ext cx="402336" cy="402336"/>
          </a:xfrm>
          <a:prstGeom prst="ellipse">
            <a:avLst/>
          </a:prstGeom>
          <a:solidFill>
            <a:srgbClr val="CADCFC"/>
          </a:solidFill>
          <a:ln cap="flat" cmpd="sng" w="12700">
            <a:solidFill>
              <a:srgbClr val="CADCFC"/>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53" name="Google Shape;653;p16"/>
          <p:cNvSpPr/>
          <p:nvPr/>
        </p:nvSpPr>
        <p:spPr>
          <a:xfrm>
            <a:off x="6190488" y="3291840"/>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E2761"/>
              </a:buClr>
              <a:buSzPts val="1300"/>
              <a:buFont typeface="Calibri"/>
              <a:buNone/>
            </a:pPr>
            <a:r>
              <a:rPr b="1" lang="en-US" sz="1300">
                <a:solidFill>
                  <a:srgbClr val="1E2761"/>
                </a:solidFill>
                <a:latin typeface="Calibri"/>
                <a:ea typeface="Calibri"/>
                <a:cs typeface="Calibri"/>
                <a:sym typeface="Calibri"/>
              </a:rPr>
              <a:t>4</a:t>
            </a:r>
            <a:endParaRPr sz="1300">
              <a:solidFill>
                <a:schemeClr val="dk1"/>
              </a:solidFill>
              <a:latin typeface="Calibri"/>
              <a:ea typeface="Calibri"/>
              <a:cs typeface="Calibri"/>
              <a:sym typeface="Calibri"/>
            </a:endParaRPr>
          </a:p>
        </p:txBody>
      </p:sp>
      <p:sp>
        <p:nvSpPr>
          <p:cNvPr id="654" name="Google Shape;654;p16"/>
          <p:cNvSpPr/>
          <p:nvPr/>
        </p:nvSpPr>
        <p:spPr>
          <a:xfrm>
            <a:off x="6757416" y="3273552"/>
            <a:ext cx="484632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lang="en-US" sz="1500">
                <a:solidFill>
                  <a:srgbClr val="FFFFFF"/>
                </a:solidFill>
                <a:latin typeface="Calibri"/>
                <a:ea typeface="Calibri"/>
                <a:cs typeface="Calibri"/>
                <a:sym typeface="Calibri"/>
              </a:rPr>
              <a:t>Tablero de trabajo</a:t>
            </a:r>
            <a:endParaRPr sz="1500">
              <a:solidFill>
                <a:schemeClr val="dk1"/>
              </a:solidFill>
              <a:latin typeface="Calibri"/>
              <a:ea typeface="Calibri"/>
              <a:cs typeface="Calibri"/>
              <a:sym typeface="Calibri"/>
            </a:endParaRPr>
          </a:p>
        </p:txBody>
      </p:sp>
      <p:sp>
        <p:nvSpPr>
          <p:cNvPr id="655" name="Google Shape;655;p16"/>
          <p:cNvSpPr/>
          <p:nvPr/>
        </p:nvSpPr>
        <p:spPr>
          <a:xfrm>
            <a:off x="6757416" y="3584448"/>
            <a:ext cx="4846320" cy="502920"/>
          </a:xfrm>
          <a:prstGeom prst="rect">
            <a:avLst/>
          </a:prstGeom>
          <a:noFill/>
          <a:ln>
            <a:noFill/>
          </a:ln>
        </p:spPr>
        <p:txBody>
          <a:bodyPr anchorCtr="0" anchor="t" bIns="0" lIns="0" spcFirstLastPara="1" rIns="0" wrap="square" tIns="0">
            <a:noAutofit/>
          </a:bodyPr>
          <a:lstStyle/>
          <a:p>
            <a:pPr indent="0" lvl="0" marL="0" marR="0" rtl="0" algn="l">
              <a:lnSpc>
                <a:spcPct val="128000"/>
              </a:lnSpc>
              <a:spcBef>
                <a:spcPts val="0"/>
              </a:spcBef>
              <a:spcAft>
                <a:spcPts val="0"/>
              </a:spcAft>
              <a:buClr>
                <a:srgbClr val="CADCFC"/>
              </a:buClr>
              <a:buSzPts val="1250"/>
              <a:buFont typeface="Calibri"/>
              <a:buNone/>
            </a:pPr>
            <a:r>
              <a:rPr lang="en-US" sz="1250">
                <a:solidFill>
                  <a:srgbClr val="CADCFC"/>
                </a:solidFill>
                <a:latin typeface="Calibri"/>
                <a:ea typeface="Calibri"/>
                <a:cs typeface="Calibri"/>
                <a:sym typeface="Calibri"/>
              </a:rPr>
              <a:t>Backlog cargado en GitHub Projects</a:t>
            </a:r>
            <a:endParaRPr sz="1250">
              <a:solidFill>
                <a:schemeClr val="dk1"/>
              </a:solidFill>
              <a:latin typeface="Calibri"/>
              <a:ea typeface="Calibri"/>
              <a:cs typeface="Calibri"/>
              <a:sym typeface="Calibri"/>
            </a:endParaRPr>
          </a:p>
        </p:txBody>
      </p:sp>
      <p:cxnSp>
        <p:nvCxnSpPr>
          <p:cNvPr id="656" name="Google Shape;656;p16"/>
          <p:cNvCxnSpPr/>
          <p:nvPr/>
        </p:nvCxnSpPr>
        <p:spPr>
          <a:xfrm>
            <a:off x="566928" y="4846320"/>
            <a:ext cx="2926080" cy="0"/>
          </a:xfrm>
          <a:prstGeom prst="straightConnector1">
            <a:avLst/>
          </a:prstGeom>
          <a:noFill/>
          <a:ln cap="flat" cmpd="sng" w="25400">
            <a:solidFill>
              <a:srgbClr val="3F6C9E"/>
            </a:solidFill>
            <a:prstDash val="solid"/>
            <a:round/>
            <a:headEnd len="sm" w="sm" type="none"/>
            <a:tailEnd len="sm" w="sm" type="none"/>
          </a:ln>
        </p:spPr>
      </p:cxnSp>
      <p:sp>
        <p:nvSpPr>
          <p:cNvPr id="657" name="Google Shape;657;p16"/>
          <p:cNvSpPr/>
          <p:nvPr/>
        </p:nvSpPr>
        <p:spPr>
          <a:xfrm>
            <a:off x="566928" y="5074920"/>
            <a:ext cx="7315200"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600"/>
              <a:buFont typeface="Cambria"/>
              <a:buNone/>
            </a:pPr>
            <a:r>
              <a:rPr b="1" lang="en-US" sz="2600">
                <a:solidFill>
                  <a:srgbClr val="FFFFFF"/>
                </a:solidFill>
                <a:latin typeface="Cambria"/>
                <a:ea typeface="Cambria"/>
                <a:cs typeface="Cambria"/>
                <a:sym typeface="Cambria"/>
              </a:rPr>
              <a:t>Gracias por su atención</a:t>
            </a:r>
            <a:endParaRPr sz="2600">
              <a:solidFill>
                <a:schemeClr val="dk1"/>
              </a:solidFill>
              <a:latin typeface="Calibri"/>
              <a:ea typeface="Calibri"/>
              <a:cs typeface="Calibri"/>
              <a:sym typeface="Calibri"/>
            </a:endParaRPr>
          </a:p>
        </p:txBody>
      </p:sp>
      <p:sp>
        <p:nvSpPr>
          <p:cNvPr id="658" name="Google Shape;658;p16"/>
          <p:cNvSpPr/>
          <p:nvPr/>
        </p:nvSpPr>
        <p:spPr>
          <a:xfrm>
            <a:off x="566928" y="5669280"/>
            <a:ext cx="9601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ADCFC"/>
              </a:buClr>
              <a:buSzPts val="1200"/>
              <a:buFont typeface="Calibri"/>
              <a:buNone/>
            </a:pPr>
            <a:r>
              <a:rPr lang="en-US" sz="1200">
                <a:solidFill>
                  <a:srgbClr val="CADCFC"/>
                </a:solidFill>
                <a:latin typeface="Calibri"/>
                <a:ea typeface="Calibri"/>
                <a:cs typeface="Calibri"/>
                <a:sym typeface="Calibri"/>
              </a:rPr>
              <a:t>Raúl José Roa Astudillo · Benjamín Alonso Sandoval Vergara  |  Ingeniería en Informática, Sede Puerto Montt</a:t>
            </a:r>
            <a:endParaRPr sz="12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2026-08-31T02:03:47Z</dcterms:created>
  <dc:creator>Raúl Roa / Benjamín Sandoval Vergara</dc:creator>
</cp:coreProperties>
</file>